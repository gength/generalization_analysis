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5" r:id="rId10"/>
    <p:sldId id="271" r:id="rId11"/>
    <p:sldId id="264" r:id="rId13"/>
    <p:sldId id="265" r:id="rId14"/>
    <p:sldId id="266" r:id="rId15"/>
    <p:sldId id="268" r:id="rId16"/>
    <p:sldId id="272" r:id="rId17"/>
    <p:sldId id="274" r:id="rId18"/>
  </p:sldIdLst>
  <p:sldSz cx="9144000" cy="6858000" type="screen4x3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989012" y="766762"/>
            <a:ext cx="51196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5412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4022725" y="9723437"/>
            <a:ext cx="3074987" cy="50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31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7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744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nutzerdefiniertes Layout">
  <p:cSld name="Benutzerdefiniertes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2051050" y="207963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 rot="5400000">
            <a:off x="4699001" y="2138362"/>
            <a:ext cx="5916612" cy="20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 rot="5400000">
            <a:off x="508794" y="156369"/>
            <a:ext cx="59166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4375" cy="82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70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2"/>
          </p:nvPr>
        </p:nvSpPr>
        <p:spPr>
          <a:xfrm>
            <a:off x="4646613" y="1600200"/>
            <a:ext cx="40386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45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175" y="0"/>
            <a:ext cx="91376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152400" y="6550025"/>
            <a:ext cx="2919412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Krengel &amp; Geng</a:t>
            </a:r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6019800" y="6550025"/>
            <a:ext cx="2971800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fld id="{00000000-1234-1234-1234-123412341234}" type="slidenum">
              <a:rPr lang="en-US" sz="1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2051050" y="207962"/>
            <a:ext cx="3959225" cy="8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457200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12883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C31"/>
              </a:buClr>
              <a:buSzPts val="2000"/>
              <a:buFont typeface="Arial"/>
              <a:buNone/>
              <a:defRPr sz="2000" b="0" i="0" u="none">
                <a:solidFill>
                  <a:srgbClr val="006C3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/>
              <a:t>Quantifying Process Model Generalization: A Generative N-gram Metric and a Cross-Paradigm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15008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Practical Process Mining</a:t>
            </a:r>
          </a:p>
          <a:p>
            <a:r>
              <a:rPr lang="en-US" dirty="0"/>
              <a:t>Christian Daniel Krengel, </a:t>
            </a:r>
            <a:r>
              <a:rPr lang="en-US" dirty="0" err="1"/>
              <a:t>Tianhao</a:t>
            </a:r>
            <a:r>
              <a:rPr lang="en-US" dirty="0"/>
              <a:t> Geng</a:t>
            </a:r>
          </a:p>
          <a:p>
            <a:r>
              <a:rPr lang="en-US" sz="2600" dirty="0"/>
              <a:t>17.07.2026</a:t>
            </a:r>
          </a:p>
        </p:txBody>
      </p:sp>
    </p:spTree>
    <p:extLst>
      <p:ext uri="{BB962C8B-B14F-4D97-AF65-F5344CB8AC3E}">
        <p14:creationId xmlns:p14="http://schemas.microsoft.com/office/powerpoint/2010/main" val="258888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Generalization: the least validated dimension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 dirty="0">
                <a:solidFill>
                  <a:srgbClr val="404040"/>
                </a:solidFill>
                <a:latin typeface="Calibri"/>
              </a:rPr>
              <a:t>A process model is judged on </a:t>
            </a:r>
            <a:r>
              <a:rPr sz="1500" b="1" i="0" dirty="0">
                <a:solidFill>
                  <a:srgbClr val="404040"/>
                </a:solidFill>
                <a:latin typeface="Calibri"/>
              </a:rPr>
              <a:t>four quality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dirty="0">
                <a:solidFill>
                  <a:srgbClr val="3A3A3A"/>
                </a:solidFill>
                <a:latin typeface="Calibri"/>
              </a:rPr>
              <a:t>Fitness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allows observed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4328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dirty="0">
                <a:solidFill>
                  <a:srgbClr val="3A3A3A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forbids invalid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965960"/>
            <a:ext cx="1874519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7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A3A3A"/>
                </a:solidFill>
                <a:latin typeface="Calibri"/>
              </a:rPr>
              <a:t>Simplicity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structurally sparse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5704" y="1965960"/>
            <a:ext cx="1874519" cy="132588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0296" y="2148840"/>
            <a:ext cx="1545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578608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808080"/>
                </a:solidFill>
                <a:latin typeface="Calibri"/>
              </a:rPr>
              <a:t>allows future valid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8046720" cy="960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 dirty="0">
                <a:solidFill>
                  <a:srgbClr val="404040"/>
                </a:solidFill>
                <a:latin typeface="Calibri"/>
              </a:rPr>
              <a:t>Generalization asks: will the model accept </a:t>
            </a:r>
            <a:r>
              <a:rPr lang="de-DE" sz="1500" b="1" dirty="0">
                <a:solidFill>
                  <a:srgbClr val="1F497D"/>
                </a:solidFill>
                <a:latin typeface="Calibri"/>
              </a:rPr>
              <a:t>Future</a:t>
            </a:r>
            <a:r>
              <a:rPr sz="1500" b="1" i="0" dirty="0">
                <a:solidFill>
                  <a:srgbClr val="1F497D"/>
                </a:solidFill>
                <a:latin typeface="Calibri"/>
              </a:rPr>
              <a:t> </a:t>
            </a:r>
            <a:r>
              <a:rPr lang="de-DE" sz="1500" b="1" i="0" dirty="0">
                <a:solidFill>
                  <a:srgbClr val="1F497D"/>
                </a:solidFill>
                <a:latin typeface="Calibri"/>
              </a:rPr>
              <a:t>Valid</a:t>
            </a:r>
            <a:r>
              <a:rPr sz="1500" b="1" i="0" dirty="0">
                <a:solidFill>
                  <a:srgbClr val="1F497D"/>
                </a:solidFill>
                <a:latin typeface="Calibri"/>
              </a:rPr>
              <a:t> </a:t>
            </a:r>
            <a:r>
              <a:rPr lang="de-DE" sz="1500" b="1" i="0" dirty="0">
                <a:solidFill>
                  <a:srgbClr val="1F497D"/>
                </a:solidFill>
                <a:latin typeface="Calibri"/>
              </a:rPr>
              <a:t>Cases</a:t>
            </a:r>
            <a:r>
              <a:rPr sz="1500" b="0" i="0" dirty="0">
                <a:solidFill>
                  <a:srgbClr val="404040"/>
                </a:solidFill>
                <a:latin typeface="Calibri"/>
              </a:rPr>
              <a:t> that are not in the log?</a:t>
            </a:r>
            <a:endParaRPr lang="de-DE" sz="1500" b="0" i="0" dirty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en-GB" sz="1500" dirty="0">
              <a:solidFill>
                <a:srgbClr val="404040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en-GB" sz="1500" b="0" i="0" dirty="0">
                <a:solidFill>
                  <a:srgbClr val="404040"/>
                </a:solidFill>
                <a:latin typeface="Calibri"/>
              </a:rPr>
              <a:t>However, how can we measure it?…</a:t>
            </a:r>
            <a:endParaRPr sz="1500" b="0" i="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noProof="0" dirty="0">
                <a:solidFill>
                  <a:srgbClr val="3A3A3A"/>
                </a:solidFill>
              </a:rPr>
              <a:t>…no validated metric is in wide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4846320" cy="1768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The metric in wide use is from PM4Py, but it was </a:t>
            </a:r>
            <a:r>
              <a:rPr sz="1400" b="1" i="0" dirty="0">
                <a:solidFill>
                  <a:srgbClr val="3A3A3A"/>
                </a:solidFill>
              </a:rPr>
              <a:t>never validated against a ground truth</a:t>
            </a:r>
            <a:endParaRPr lang="en-US" sz="145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Published metrics </a:t>
            </a:r>
            <a:r>
              <a:rPr sz="1400" b="1" i="0" dirty="0">
                <a:solidFill>
                  <a:srgbClr val="3A3A3A"/>
                </a:solidFill>
              </a:rPr>
              <a:t>disagree with one another</a:t>
            </a:r>
            <a:r>
              <a:rPr lang="de-DE" b="1" dirty="0">
                <a:solidFill>
                  <a:srgbClr val="3A3A3A"/>
                </a:solidFill>
              </a:rPr>
              <a:t>. </a:t>
            </a:r>
            <a:r>
              <a:rPr lang="de-DE" sz="1400" b="0" i="0" dirty="0">
                <a:solidFill>
                  <a:srgbClr val="404040"/>
                </a:solidFill>
              </a:rPr>
              <a:t>Pr</a:t>
            </a:r>
            <a:r>
              <a:rPr sz="1400" b="0" i="0" dirty="0" err="1">
                <a:solidFill>
                  <a:srgbClr val="404040"/>
                </a:solidFill>
              </a:rPr>
              <a:t>ior</a:t>
            </a:r>
            <a:r>
              <a:rPr sz="1400" b="0" i="0" dirty="0">
                <a:solidFill>
                  <a:srgbClr val="404040"/>
                </a:solidFill>
              </a:rPr>
              <a:t> studies compared them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only to each other</a:t>
            </a:r>
            <a:endParaRPr lang="de-DE" sz="1400" b="0" i="0" dirty="0">
              <a:solidFill>
                <a:srgbClr val="404040"/>
              </a:solidFill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404040"/>
                </a:solidFill>
              </a:rPr>
              <a:t>A </a:t>
            </a:r>
            <a:r>
              <a:rPr lang="de-DE" sz="1400" b="0" i="0" dirty="0" err="1">
                <a:solidFill>
                  <a:srgbClr val="404040"/>
                </a:solidFill>
              </a:rPr>
              <a:t>user</a:t>
            </a:r>
            <a:r>
              <a:rPr sz="1400" b="0" i="0" dirty="0">
                <a:solidFill>
                  <a:srgbClr val="404040"/>
                </a:solidFill>
              </a:rPr>
              <a:t> who needs a generalization </a:t>
            </a:r>
            <a:r>
              <a:rPr lang="de-DE" sz="1400" b="0" i="0" dirty="0" err="1">
                <a:solidFill>
                  <a:srgbClr val="404040"/>
                </a:solidFill>
              </a:rPr>
              <a:t>metric</a:t>
            </a:r>
            <a:r>
              <a:rPr sz="1400" b="0" i="0" dirty="0">
                <a:solidFill>
                  <a:srgbClr val="404040"/>
                </a:solidFill>
              </a:rPr>
              <a:t> is left </a:t>
            </a:r>
            <a:r>
              <a:rPr sz="1400" b="1" i="0" dirty="0">
                <a:solidFill>
                  <a:srgbClr val="3A3A3A"/>
                </a:solidFill>
              </a:rPr>
              <a:t>without a</a:t>
            </a:r>
            <a:r>
              <a:rPr lang="de-DE" sz="1400" b="1" i="0" dirty="0">
                <a:solidFill>
                  <a:srgbClr val="3A3A3A"/>
                </a:solidFill>
              </a:rPr>
              <a:t> proper</a:t>
            </a:r>
            <a:r>
              <a:rPr sz="1400" b="1" i="0" dirty="0">
                <a:solidFill>
                  <a:srgbClr val="3A3A3A"/>
                </a:solidFill>
              </a:rPr>
              <a:t> validated </a:t>
            </a:r>
            <a:r>
              <a:rPr lang="de-DE" sz="1400" b="1" i="0" dirty="0" err="1">
                <a:solidFill>
                  <a:srgbClr val="3A3A3A"/>
                </a:solidFill>
              </a:rPr>
              <a:t>method</a:t>
            </a:r>
            <a:endParaRPr sz="1400" b="0" i="0" dirty="0">
              <a:solidFill>
                <a:srgbClr val="40404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23560" y="1371600"/>
            <a:ext cx="3017520" cy="2468880"/>
          </a:xfrm>
          <a:prstGeom prst="roundRect">
            <a:avLst/>
          </a:prstGeom>
          <a:solidFill>
            <a:srgbClr val="F2F6F3"/>
          </a:solidFill>
          <a:ln w="12700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200" b="0" i="1" dirty="0">
                <a:solidFill>
                  <a:srgbClr val="777777"/>
                </a:solidFill>
              </a:rPr>
              <a:t>The state of the art</a:t>
            </a:r>
          </a:p>
          <a:p>
            <a:pPr algn="ctr">
              <a:spcBef>
                <a:spcPts val="600"/>
              </a:spcBef>
            </a:pPr>
            <a:r>
              <a:rPr sz="3400" b="1" i="0" dirty="0">
                <a:solidFill>
                  <a:srgbClr val="3A3A3A"/>
                </a:solidFill>
              </a:rPr>
              <a:t>8</a:t>
            </a:r>
            <a:r>
              <a:rPr sz="1300" b="0" i="0" dirty="0">
                <a:solidFill>
                  <a:srgbClr val="404040"/>
                </a:solidFill>
              </a:rPr>
              <a:t>  published metrics</a:t>
            </a:r>
          </a:p>
          <a:p>
            <a:pPr algn="ctr">
              <a:spcBef>
                <a:spcPts val="200"/>
              </a:spcBef>
            </a:pPr>
            <a:r>
              <a:rPr sz="3400" b="1" i="0" dirty="0">
                <a:solidFill>
                  <a:srgbClr val="B02A2A"/>
                </a:solidFill>
              </a:rPr>
              <a:t>0</a:t>
            </a:r>
            <a:r>
              <a:rPr sz="1300" b="0" i="0" dirty="0">
                <a:solidFill>
                  <a:srgbClr val="404040"/>
                </a:solidFill>
              </a:rPr>
              <a:t>  validated against a ground truth on real logs</a:t>
            </a:r>
          </a:p>
          <a:p>
            <a:pPr algn="ctr">
              <a:spcBef>
                <a:spcPts val="800"/>
              </a:spcBef>
            </a:pPr>
            <a:r>
              <a:rPr sz="1100" b="0" i="1" dirty="0">
                <a:solidFill>
                  <a:srgbClr val="777777"/>
                </a:solidFill>
              </a:rPr>
              <a:t>one representative per published paradigm (M2–M9) in our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410417"/>
            <a:ext cx="81381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i="0" noProof="0" dirty="0">
                <a:solidFill>
                  <a:schemeClr val="tx1"/>
                </a:solidFill>
              </a:rPr>
              <a:t>The gap </a:t>
            </a:r>
            <a:r>
              <a:rPr lang="en-US" sz="1500" b="1" i="0" noProof="0" dirty="0" err="1">
                <a:solidFill>
                  <a:schemeClr val="tx1"/>
                </a:solidFill>
              </a:rPr>
              <a:t>ShadowGen</a:t>
            </a:r>
            <a:r>
              <a:rPr lang="en-US" sz="1500" b="1" i="0" noProof="0" dirty="0">
                <a:solidFill>
                  <a:schemeClr val="tx1"/>
                </a:solidFill>
              </a:rPr>
              <a:t> fills: </a:t>
            </a:r>
            <a:r>
              <a:rPr lang="en-US" sz="1500" b="0" i="0" noProof="0" dirty="0">
                <a:solidFill>
                  <a:srgbClr val="3A3A3A"/>
                </a:solidFill>
              </a:rPr>
              <a:t>validated against a ground truth, cheap enough to run on real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The models we test, and the litmus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73137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 dirty="0">
                <a:solidFill>
                  <a:srgbClr val="404040"/>
                </a:solidFill>
              </a:rPr>
              <a:t>The discovery algorithms </a:t>
            </a:r>
            <a:r>
              <a:rPr lang="de-DE" sz="1400" b="0" i="0" dirty="0" err="1">
                <a:solidFill>
                  <a:srgbClr val="404040"/>
                </a:solidFill>
              </a:rPr>
              <a:t>are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lang="de-DE" sz="1400" b="0" i="0" dirty="0" err="1">
                <a:solidFill>
                  <a:srgbClr val="404040"/>
                </a:solidFill>
              </a:rPr>
              <a:t>spread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lang="de-DE" sz="1400" b="0" i="0" dirty="0" err="1">
                <a:solidFill>
                  <a:srgbClr val="404040"/>
                </a:solidFill>
              </a:rPr>
              <a:t>between</a:t>
            </a:r>
            <a:r>
              <a:rPr lang="de-DE" sz="1400" b="0" i="0" dirty="0">
                <a:solidFill>
                  <a:srgbClr val="404040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memorizing the log </a:t>
            </a:r>
            <a:r>
              <a:rPr lang="de-DE" sz="1400" b="0" i="0" dirty="0" err="1">
                <a:solidFill>
                  <a:srgbClr val="404040"/>
                </a:solidFill>
              </a:rPr>
              <a:t>or</a:t>
            </a:r>
            <a:r>
              <a:rPr sz="1400" b="0" i="0" dirty="0">
                <a:solidFill>
                  <a:srgbClr val="404040"/>
                </a:solidFill>
              </a:rPr>
              <a:t> accepting everything</a:t>
            </a:r>
          </a:p>
        </p:txBody>
      </p:sp>
      <p:pic>
        <p:nvPicPr>
          <p:cNvPr id="4" name="Picture 3" descr="pole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2148840" cy="1281039"/>
          </a:xfrm>
          <a:prstGeom prst="rect">
            <a:avLst/>
          </a:prstGeom>
        </p:spPr>
      </p:pic>
      <p:pic>
        <p:nvPicPr>
          <p:cNvPr id="5" name="Picture 4" descr="pole_fl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1600200" cy="130542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880360" y="2395728"/>
            <a:ext cx="3566160" cy="310896"/>
          </a:xfrm>
          <a:prstGeom prst="rightArrow">
            <a:avLst/>
          </a:prstGeom>
          <a:solidFill>
            <a:srgbClr val="DDE8DF"/>
          </a:solidFill>
          <a:ln w="9525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 i="0">
                <a:solidFill>
                  <a:srgbClr val="556658"/>
                </a:solidFill>
              </a:rPr>
              <a:t>more permissive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852928"/>
            <a:ext cx="448056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 dirty="0">
                <a:solidFill>
                  <a:srgbClr val="777777"/>
                </a:solidFill>
              </a:rPr>
              <a:t>six real miners</a:t>
            </a:r>
          </a:p>
          <a:p>
            <a:pPr algn="ctr"/>
            <a:r>
              <a:rPr sz="1200" b="1" i="0" dirty="0">
                <a:solidFill>
                  <a:srgbClr val="1A7A3A"/>
                </a:solidFill>
              </a:rPr>
              <a:t>Alpha · Alpha+ · Heuristics · Heuristics-strict · Inductive-strict · Inductive-infrequent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3A3A3A"/>
                </a:solidFill>
              </a:rPr>
              <a:t>Trace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63931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3A3A3A"/>
                </a:solidFill>
              </a:rPr>
              <a:t>Flower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7863840" cy="1417320"/>
          </a:xfrm>
          <a:prstGeom prst="roundRect">
            <a:avLst/>
          </a:prstGeom>
          <a:solidFill>
            <a:srgbClr val="E9F3EC"/>
          </a:solidFill>
          <a:ln w="12700">
            <a:solidFill>
              <a:srgbClr val="1A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r>
              <a:rPr sz="1400" b="1" i="0" dirty="0">
                <a:solidFill>
                  <a:srgbClr val="1A7A3A"/>
                </a:solidFill>
              </a:rPr>
              <a:t>The flower litmus.</a:t>
            </a:r>
            <a:r>
              <a:rPr lang="de-DE" sz="1400" b="1" i="0" dirty="0">
                <a:solidFill>
                  <a:srgbClr val="1A7A3A"/>
                </a:solidFill>
              </a:rPr>
              <a:t> </a:t>
            </a:r>
            <a:r>
              <a:rPr sz="1400" b="0" i="0" dirty="0">
                <a:solidFill>
                  <a:srgbClr val="404040"/>
                </a:solidFill>
              </a:rPr>
              <a:t>A pure generalization metric must score the flower </a:t>
            </a:r>
            <a:r>
              <a:rPr sz="1400" b="1" i="0" dirty="0">
                <a:solidFill>
                  <a:srgbClr val="1A7A3A"/>
                </a:solidFill>
              </a:rPr>
              <a:t>1.00</a:t>
            </a:r>
            <a:r>
              <a:rPr sz="1400" b="0" i="0" dirty="0">
                <a:solidFill>
                  <a:srgbClr val="404040"/>
                </a:solidFill>
              </a:rPr>
              <a:t> </a:t>
            </a:r>
            <a:endParaRPr lang="de-DE" sz="1400" b="0" i="0" dirty="0">
              <a:solidFill>
                <a:srgbClr val="404040"/>
              </a:solidFill>
            </a:endParaRPr>
          </a:p>
          <a:p>
            <a:pPr algn="ctr"/>
            <a:endParaRPr lang="en-GB" dirty="0">
              <a:solidFill>
                <a:srgbClr val="404040"/>
              </a:solidFill>
            </a:endParaRPr>
          </a:p>
          <a:p>
            <a:pPr algn="ctr"/>
            <a:r>
              <a:rPr sz="1250" b="0" i="0" dirty="0">
                <a:solidFill>
                  <a:srgbClr val="404040"/>
                </a:solidFill>
              </a:rPr>
              <a:t>Anything less on the flower means the metric</a:t>
            </a:r>
            <a:r>
              <a:rPr lang="de-DE" sz="1250" b="0" i="0" dirty="0">
                <a:solidFill>
                  <a:srgbClr val="404040"/>
                </a:solidFill>
              </a:rPr>
              <a:t> </a:t>
            </a:r>
            <a:r>
              <a:rPr lang="de-DE" sz="1250" b="0" i="0" dirty="0" err="1">
                <a:solidFill>
                  <a:srgbClr val="404040"/>
                </a:solidFill>
              </a:rPr>
              <a:t>is</a:t>
            </a:r>
            <a:r>
              <a:rPr lang="de-DE" sz="1250" b="0" i="0" dirty="0">
                <a:solidFill>
                  <a:srgbClr val="404040"/>
                </a:solidFill>
              </a:rPr>
              <a:t> not pure Generalisation and </a:t>
            </a:r>
            <a:r>
              <a:rPr lang="de-DE" sz="1250" b="0" i="0" dirty="0" err="1">
                <a:solidFill>
                  <a:srgbClr val="404040"/>
                </a:solidFill>
              </a:rPr>
              <a:t>potentially</a:t>
            </a:r>
            <a:r>
              <a:rPr lang="de-DE" sz="1250" b="0" i="0" dirty="0">
                <a:solidFill>
                  <a:srgbClr val="404040"/>
                </a:solidFill>
              </a:rPr>
              <a:t> </a:t>
            </a:r>
            <a:r>
              <a:rPr lang="de-DE" sz="1250" b="0" i="0" dirty="0" err="1">
                <a:solidFill>
                  <a:srgbClr val="404040"/>
                </a:solidFill>
              </a:rPr>
              <a:t>folds</a:t>
            </a:r>
            <a:r>
              <a:rPr lang="de-DE" sz="1250" b="0" i="0" dirty="0">
                <a:solidFill>
                  <a:srgbClr val="404040"/>
                </a:solidFill>
              </a:rPr>
              <a:t> in </a:t>
            </a:r>
            <a:r>
              <a:rPr sz="1250" b="0" i="0" dirty="0">
                <a:solidFill>
                  <a:srgbClr val="404040"/>
                </a:solidFill>
              </a:rPr>
              <a:t>precision or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err="1">
                <a:solidFill>
                  <a:srgbClr val="3A3A3A"/>
                </a:solidFill>
              </a:rPr>
              <a:t>Our</a:t>
            </a:r>
            <a:r>
              <a:rPr lang="de-DE" sz="1800" dirty="0">
                <a:solidFill>
                  <a:srgbClr val="3A3A3A"/>
                </a:solidFill>
              </a:rPr>
              <a:t> </a:t>
            </a:r>
            <a:r>
              <a:rPr lang="de-DE" sz="1800" dirty="0" err="1">
                <a:solidFill>
                  <a:srgbClr val="3A3A3A"/>
                </a:solidFill>
              </a:rPr>
              <a:t>Metric</a:t>
            </a:r>
            <a:r>
              <a:rPr lang="de-DE" sz="1800" dirty="0">
                <a:solidFill>
                  <a:srgbClr val="3A3A3A"/>
                </a:solidFill>
              </a:rPr>
              <a:t>: </a:t>
            </a:r>
            <a:r>
              <a:rPr sz="1800" dirty="0" err="1">
                <a:solidFill>
                  <a:srgbClr val="3A3A3A"/>
                </a:solidFill>
              </a:rPr>
              <a:t>ShadowGen</a:t>
            </a:r>
            <a:endParaRPr sz="1800" dirty="0">
              <a:solidFill>
                <a:srgbClr val="3A3A3A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Event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the observed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2536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1136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4288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N-gram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Katz backoff + Good–Turing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2148840"/>
            <a:ext cx="1481328" cy="141732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784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Shadow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plausible-but-unseen 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2148840"/>
            <a:ext cx="1481328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A3A3A"/>
                </a:solidFill>
                <a:latin typeface="Calibri"/>
              </a:rPr>
              <a:t>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graded trace fitness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260604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80808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2148840"/>
            <a:ext cx="1481328" cy="1417320"/>
          </a:xfrm>
          <a:prstGeom prst="roundRect">
            <a:avLst/>
          </a:prstGeom>
          <a:solidFill>
            <a:srgbClr val="E7ECF3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51775" y="2404872"/>
            <a:ext cx="13350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497D"/>
                </a:solidFill>
                <a:latin typeface="Calibr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289864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808080"/>
                </a:solidFill>
                <a:latin typeface="Calibri"/>
              </a:rPr>
              <a:t>generalization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80467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 dirty="0">
                <a:solidFill>
                  <a:srgbClr val="404040"/>
                </a:solidFill>
                <a:latin typeface="Calibri"/>
              </a:rPr>
              <a:t>The model is scored on behavior it has </a:t>
            </a:r>
            <a:r>
              <a:rPr sz="1450" b="1" i="0" dirty="0">
                <a:solidFill>
                  <a:srgbClr val="1F497D"/>
                </a:solidFill>
                <a:latin typeface="Calibri"/>
              </a:rPr>
              <a:t>never seen but that is plausibly valid</a:t>
            </a:r>
            <a:endParaRPr sz="1450" b="0" i="0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deck_context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8229600" cy="16167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Two backoffs: resolve, then invent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</a:rPr>
              <a:t>Every step runs Katz backoff, and it does the work twice: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3291840"/>
            <a:ext cx="4023360" cy="2788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107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i="0">
                <a:solidFill>
                  <a:srgbClr val="1A7A3A"/>
                </a:solidFill>
              </a:rPr>
              <a:t>1 · Resolve the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581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</a:rPr>
              <a:t>back off to the deepest context with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291840"/>
            <a:ext cx="4023360" cy="2788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34107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i="0">
                <a:solidFill>
                  <a:srgbClr val="2E5B9E"/>
                </a:solidFill>
              </a:rPr>
              <a:t>2 · Invent a novel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37581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</a:rPr>
              <a:t>only when the roll fires: back off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87368"/>
            <a:ext cx="3657600" cy="5029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777777"/>
                </a:solidFill>
              </a:rPr>
              <a:t>order 6: seen 5×, all one-offs </a:t>
            </a:r>
            <a:r>
              <a:rPr lang="en-DE" sz="1150" b="0" i="0" dirty="0">
                <a:solidFill>
                  <a:srgbClr val="777777"/>
                </a:solidFill>
              </a:rPr>
              <a:t>→</a:t>
            </a:r>
            <a:r>
              <a:rPr sz="1150" b="0" i="0" dirty="0">
                <a:solidFill>
                  <a:srgbClr val="777777"/>
                </a:solidFill>
              </a:rPr>
              <a:t> too sparse, skip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↓  back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73752"/>
            <a:ext cx="3657600" cy="502920"/>
          </a:xfrm>
          <a:prstGeom prst="roundRect">
            <a:avLst/>
          </a:prstGeom>
          <a:solidFill>
            <a:srgbClr val="E7F2EA"/>
          </a:solidFill>
          <a:ln w="12700">
            <a:solidFill>
              <a:srgbClr val="1A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>
                <a:solidFill>
                  <a:srgbClr val="3A3A3A"/>
                </a:solidFill>
              </a:rPr>
              <a:t>order 5: seen 35× → </a:t>
            </a:r>
            <a:r>
              <a:rPr sz="1150" b="1" i="0">
                <a:solidFill>
                  <a:srgbClr val="1A7A3A"/>
                </a:solidFill>
              </a:rPr>
              <a:t>resolved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365760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404040"/>
                </a:solidFill>
              </a:rPr>
              <a:t>The normal next step comes from here. Its one rare successor (1 in 35) sets the </a:t>
            </a:r>
            <a:r>
              <a:rPr lang="de-DE" sz="1150" dirty="0" err="1">
                <a:solidFill>
                  <a:srgbClr val="404040"/>
                </a:solidFill>
              </a:rPr>
              <a:t>mutation</a:t>
            </a:r>
            <a:r>
              <a:rPr sz="1150" b="0" i="0" dirty="0">
                <a:solidFill>
                  <a:srgbClr val="404040"/>
                </a:solidFill>
              </a:rPr>
              <a:t>-rate </a:t>
            </a:r>
            <a:r>
              <a:rPr sz="1150" b="1" i="0" dirty="0">
                <a:solidFill>
                  <a:srgbClr val="1A7A3A"/>
                </a:solidFill>
              </a:rPr>
              <a:t>≈ 3%</a:t>
            </a:r>
            <a:endParaRPr sz="1150" b="0" i="0" dirty="0">
              <a:solidFill>
                <a:srgbClr val="40404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4087368"/>
            <a:ext cx="3657600" cy="5029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777777"/>
                </a:solidFill>
              </a:rPr>
              <a:t>order 5: its successors are all </a:t>
            </a:r>
            <a:r>
              <a:rPr lang="de-DE" sz="1150" b="0" i="0" dirty="0" err="1">
                <a:solidFill>
                  <a:srgbClr val="777777"/>
                </a:solidFill>
              </a:rPr>
              <a:t>accounted</a:t>
            </a:r>
            <a:r>
              <a:rPr lang="de-DE" sz="1150" b="0" i="0" dirty="0">
                <a:solidFill>
                  <a:srgbClr val="777777"/>
                </a:solidFill>
              </a:rPr>
              <a:t> </a:t>
            </a:r>
            <a:r>
              <a:rPr lang="de-DE" sz="1150" b="0" i="0" dirty="0" err="1">
                <a:solidFill>
                  <a:srgbClr val="777777"/>
                </a:solidFill>
              </a:rPr>
              <a:t>for</a:t>
            </a:r>
            <a:endParaRPr sz="1150" b="0" i="0" dirty="0">
              <a:solidFill>
                <a:srgbClr val="77777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83480" y="4617720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</a:rPr>
              <a:t>↓  back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873752"/>
            <a:ext cx="3657600" cy="502920"/>
          </a:xfrm>
          <a:prstGeom prst="roundRect">
            <a:avLst/>
          </a:prstGeom>
          <a:solidFill>
            <a:srgbClr val="E7EEF7"/>
          </a:solidFill>
          <a:ln w="12700">
            <a:solidFill>
              <a:srgbClr val="2E5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0" i="0" dirty="0">
                <a:solidFill>
                  <a:srgbClr val="3A3A3A"/>
                </a:solidFill>
              </a:rPr>
              <a:t>order 4: offers z, unseen here → </a:t>
            </a:r>
            <a:r>
              <a:rPr sz="1150" b="1" i="0" dirty="0">
                <a:solidFill>
                  <a:srgbClr val="2E5B9E"/>
                </a:solidFill>
              </a:rPr>
              <a:t>insert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5486400"/>
            <a:ext cx="365760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404040"/>
                </a:solidFill>
              </a:rPr>
              <a:t>z is novel </a:t>
            </a:r>
            <a:r>
              <a:rPr lang="de-DE" sz="1150" b="0" i="0" dirty="0" err="1">
                <a:solidFill>
                  <a:srgbClr val="404040"/>
                </a:solidFill>
              </a:rPr>
              <a:t>for</a:t>
            </a:r>
            <a:r>
              <a:rPr lang="de-DE" sz="1150" b="0" i="0" dirty="0">
                <a:solidFill>
                  <a:srgbClr val="404040"/>
                </a:solidFill>
              </a:rPr>
              <a:t> </a:t>
            </a:r>
            <a:r>
              <a:rPr lang="de-DE" sz="1150" b="0" i="0" dirty="0" err="1">
                <a:solidFill>
                  <a:srgbClr val="404040"/>
                </a:solidFill>
              </a:rPr>
              <a:t>order</a:t>
            </a:r>
            <a:r>
              <a:rPr lang="de-DE" sz="1150" b="0" i="0" dirty="0">
                <a:solidFill>
                  <a:srgbClr val="404040"/>
                </a:solidFill>
              </a:rPr>
              <a:t> 5</a:t>
            </a:r>
            <a:r>
              <a:rPr sz="1150" b="0" i="0" dirty="0">
                <a:solidFill>
                  <a:srgbClr val="404040"/>
                </a:solidFill>
              </a:rPr>
              <a:t>, </a:t>
            </a:r>
            <a:r>
              <a:rPr lang="de-DE" sz="1150" b="0" i="0" dirty="0" err="1">
                <a:solidFill>
                  <a:srgbClr val="404040"/>
                </a:solidFill>
              </a:rPr>
              <a:t>bu</a:t>
            </a:r>
            <a:r>
              <a:rPr sz="1150" b="0" i="0" dirty="0">
                <a:solidFill>
                  <a:srgbClr val="404040"/>
                </a:solidFill>
              </a:rPr>
              <a:t>t </a:t>
            </a:r>
            <a:r>
              <a:rPr lang="de-DE" sz="1150" dirty="0" err="1">
                <a:solidFill>
                  <a:srgbClr val="404040"/>
                </a:solidFill>
              </a:rPr>
              <a:t>is</a:t>
            </a:r>
            <a:r>
              <a:rPr lang="de-DE" sz="1150" dirty="0">
                <a:solidFill>
                  <a:srgbClr val="404040"/>
                </a:solidFill>
              </a:rPr>
              <a:t> valid</a:t>
            </a:r>
            <a:r>
              <a:rPr sz="1150" b="0" i="0" dirty="0">
                <a:solidFill>
                  <a:srgbClr val="404040"/>
                </a:solidFill>
              </a:rPr>
              <a:t> in a shorter </a:t>
            </a:r>
            <a:r>
              <a:rPr lang="de-DE" sz="1150" b="0" i="0" dirty="0" err="1">
                <a:solidFill>
                  <a:srgbClr val="404040"/>
                </a:solidFill>
              </a:rPr>
              <a:t>order</a:t>
            </a:r>
            <a:r>
              <a:rPr sz="1150" b="0" i="0" dirty="0">
                <a:solidFill>
                  <a:srgbClr val="404040"/>
                </a:solidFill>
              </a:rPr>
              <a:t>: </a:t>
            </a:r>
            <a:r>
              <a:rPr sz="1150" b="1" i="0" dirty="0">
                <a:solidFill>
                  <a:srgbClr val="2E5B9E"/>
                </a:solidFill>
              </a:rPr>
              <a:t>novel</a:t>
            </a:r>
            <a:r>
              <a:rPr lang="de-DE" sz="1150" b="1" dirty="0">
                <a:solidFill>
                  <a:srgbClr val="2E5B9E"/>
                </a:solidFill>
              </a:rPr>
              <a:t> and </a:t>
            </a:r>
            <a:r>
              <a:rPr lang="de-DE" sz="1150" b="1" dirty="0" err="1">
                <a:solidFill>
                  <a:srgbClr val="2E5B9E"/>
                </a:solidFill>
              </a:rPr>
              <a:t>grounded</a:t>
            </a:r>
            <a:r>
              <a:rPr lang="de-DE" sz="1150" b="1" dirty="0">
                <a:solidFill>
                  <a:srgbClr val="2E5B9E"/>
                </a:solidFill>
              </a:rPr>
              <a:t> in </a:t>
            </a:r>
            <a:r>
              <a:rPr lang="de-DE" sz="1150" b="1" dirty="0" err="1">
                <a:solidFill>
                  <a:srgbClr val="2E5B9E"/>
                </a:solidFill>
              </a:rPr>
              <a:t>reality</a:t>
            </a:r>
            <a:endParaRPr sz="1150" b="0" i="0" dirty="0">
              <a:solidFill>
                <a:srgbClr val="404040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370832" y="4727448"/>
            <a:ext cx="457200" cy="365760"/>
          </a:xfrm>
          <a:prstGeom prst="rightArrow">
            <a:avLst/>
          </a:prstGeom>
          <a:solidFill>
            <a:srgbClr val="D8E2DB"/>
          </a:solidFill>
          <a:ln w="9525">
            <a:solidFill>
              <a:srgbClr val="BB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How we validate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184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5 real-life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L1–L5: Sepsis (15k events) to BPI 2018 (2.5M) — scale, depth, representativeness.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41732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6184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Ground truth: 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7568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Variant-based k-fold cross-validation: does a re-discovered model accept held-out variants?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6301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Four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8736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Pearson (calibration), Spearman / Kendall (ordering), MAE, discriminative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429000"/>
            <a:ext cx="3886200" cy="1737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F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6301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One-hour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08736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404040"/>
                </a:solidFill>
                <a:latin typeface="Calibri"/>
              </a:rPr>
              <a:t>Uniform per cell; both poles included. Runtime is a first-class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dirty="0" err="1">
                <a:solidFill>
                  <a:srgbClr val="3A3A3A"/>
                </a:solidFill>
              </a:rPr>
              <a:t>ShadowGen</a:t>
            </a:r>
            <a:r>
              <a:rPr sz="1800" dirty="0">
                <a:solidFill>
                  <a:srgbClr val="3A3A3A"/>
                </a:solidFill>
              </a:rPr>
              <a:t> tracks the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5544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404040"/>
                </a:solidFill>
                <a:latin typeface="Calibri"/>
              </a:rPr>
              <a:t>On every one of the five logs: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214884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4400" b="1" i="0" dirty="0">
                <a:solidFill>
                  <a:srgbClr val="1F497D"/>
                </a:solidFill>
                <a:latin typeface="Calibri"/>
              </a:rPr>
              <a:t>0.99+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9900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808080"/>
                </a:solidFill>
                <a:latin typeface="Calibri"/>
              </a:rPr>
              <a:t>Pearson
(0.986 – 0.999)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4884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4400" b="1" i="0">
                <a:solidFill>
                  <a:srgbClr val="1F497D"/>
                </a:solidFill>
                <a:latin typeface="Calibri"/>
              </a:rPr>
              <a:t>3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99008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808080"/>
                </a:solidFill>
                <a:latin typeface="Calibri"/>
              </a:rPr>
              <a:t>median per model
(single draw, K=1)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794760"/>
            <a:ext cx="3474720" cy="1837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chemeClr val="tx1"/>
                </a:solidFill>
              </a:rPr>
              <a:t>Mean absolute error</a:t>
            </a:r>
            <a:r>
              <a:rPr lang="de-DE" sz="1300" b="0" i="0" dirty="0">
                <a:solidFill>
                  <a:schemeClr val="tx1"/>
                </a:solidFill>
              </a:rPr>
              <a:t>:</a:t>
            </a:r>
            <a:r>
              <a:rPr sz="1300" b="0" i="0" dirty="0">
                <a:solidFill>
                  <a:schemeClr val="tx1"/>
                </a:solidFill>
              </a:rPr>
              <a:t> </a:t>
            </a:r>
            <a:r>
              <a:rPr sz="1300" b="1" i="0" dirty="0">
                <a:solidFill>
                  <a:schemeClr val="tx1"/>
                </a:solidFill>
              </a:rPr>
              <a:t>0.006 </a:t>
            </a:r>
            <a:r>
              <a:rPr lang="de-DE" sz="1300" b="1" dirty="0">
                <a:solidFill>
                  <a:schemeClr val="tx1"/>
                </a:solidFill>
              </a:rPr>
              <a:t>-</a:t>
            </a:r>
            <a:r>
              <a:rPr sz="1300" b="1" i="0" dirty="0">
                <a:solidFill>
                  <a:schemeClr val="tx1"/>
                </a:solidFill>
              </a:rPr>
              <a:t> 0.043</a:t>
            </a:r>
            <a:endParaRPr lang="de-DE" sz="1300" b="1" i="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chemeClr val="tx1"/>
                </a:solidFill>
              </a:rPr>
              <a:t>Ranking </a:t>
            </a:r>
            <a:r>
              <a:rPr sz="1300" i="0" dirty="0">
                <a:solidFill>
                  <a:schemeClr val="tx1"/>
                </a:solidFill>
              </a:rPr>
              <a:t>matches the ground truth</a:t>
            </a:r>
            <a:r>
              <a:rPr sz="1300" dirty="0">
                <a:solidFill>
                  <a:schemeClr val="tx1"/>
                </a:solidFill>
              </a:rPr>
              <a:t> </a:t>
            </a:r>
            <a:r>
              <a:rPr sz="1300" b="0" dirty="0">
                <a:solidFill>
                  <a:schemeClr val="tx1"/>
                </a:solidFill>
              </a:rPr>
              <a:t>(up to one near-tie swap, L3/L5)</a:t>
            </a:r>
            <a:endParaRPr lang="de-DE" sz="1300" b="1" i="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1300" b="1" i="0" dirty="0">
                <a:solidFill>
                  <a:schemeClr val="tx1"/>
                </a:solidFill>
              </a:rPr>
              <a:t>S</a:t>
            </a:r>
            <a:r>
              <a:rPr sz="1300" b="1" i="0" dirty="0">
                <a:solidFill>
                  <a:schemeClr val="tx1"/>
                </a:solidFill>
              </a:rPr>
              <a:t>table</a:t>
            </a:r>
            <a:r>
              <a:rPr sz="1300" b="0" i="0" dirty="0">
                <a:solidFill>
                  <a:schemeClr val="tx1"/>
                </a:solidFill>
              </a:rPr>
              <a:t>: one draw alone holds Pearson 0.98+ and the same ranking.</a:t>
            </a:r>
            <a:r>
              <a:rPr lang="de-DE" sz="1300" b="0" i="0" dirty="0">
                <a:solidFill>
                  <a:schemeClr val="tx1"/>
                </a:solidFill>
              </a:rPr>
              <a:t> Std ca. 0.001, at </a:t>
            </a:r>
            <a:r>
              <a:rPr lang="de-DE" sz="1300" b="0" i="0" dirty="0" err="1">
                <a:solidFill>
                  <a:schemeClr val="tx1"/>
                </a:solidFill>
              </a:rPr>
              <a:t>most</a:t>
            </a:r>
            <a:r>
              <a:rPr lang="de-DE" sz="1300" b="0" i="0" dirty="0">
                <a:solidFill>
                  <a:schemeClr val="tx1"/>
                </a:solidFill>
              </a:rPr>
              <a:t> 0.008. More </a:t>
            </a:r>
            <a:r>
              <a:rPr lang="de-DE" sz="1300" b="0" i="0" dirty="0" err="1">
                <a:solidFill>
                  <a:schemeClr val="tx1"/>
                </a:solidFill>
              </a:rPr>
              <a:t>iterations</a:t>
            </a:r>
            <a:r>
              <a:rPr lang="de-DE" sz="1300" b="0" i="0" dirty="0">
                <a:solidFill>
                  <a:schemeClr val="tx1"/>
                </a:solidFill>
              </a:rPr>
              <a:t> (i.e. k</a:t>
            </a:r>
            <a:r>
              <a:rPr sz="1300" b="0" i="0" dirty="0">
                <a:solidFill>
                  <a:schemeClr val="tx1"/>
                </a:solidFill>
              </a:rPr>
              <a:t>=5</a:t>
            </a:r>
            <a:r>
              <a:rPr lang="de-DE" sz="1300" b="0" i="0" dirty="0">
                <a:solidFill>
                  <a:schemeClr val="tx1"/>
                </a:solidFill>
              </a:rPr>
              <a:t>)</a:t>
            </a:r>
            <a:r>
              <a:rPr sz="1300" b="0" i="0" dirty="0">
                <a:solidFill>
                  <a:schemeClr val="tx1"/>
                </a:solidFill>
              </a:rPr>
              <a:t> only add </a:t>
            </a:r>
            <a:r>
              <a:rPr lang="de-DE" sz="1300" b="0" i="0" dirty="0" err="1">
                <a:solidFill>
                  <a:schemeClr val="tx1"/>
                </a:solidFill>
              </a:rPr>
              <a:t>reliability</a:t>
            </a:r>
            <a:r>
              <a:rPr lang="de-DE" sz="1300" b="0" i="0" dirty="0">
                <a:solidFill>
                  <a:schemeClr val="tx1"/>
                </a:solidFill>
              </a:rPr>
              <a:t>, </a:t>
            </a:r>
            <a:r>
              <a:rPr lang="de-DE" sz="1300" b="0" i="0" dirty="0" err="1">
                <a:solidFill>
                  <a:schemeClr val="tx1"/>
                </a:solidFill>
              </a:rPr>
              <a:t>technically</a:t>
            </a:r>
            <a:endParaRPr sz="1300" b="0" i="0" dirty="0">
              <a:solidFill>
                <a:schemeClr val="tx1"/>
              </a:solidFill>
            </a:endParaRPr>
          </a:p>
        </p:txBody>
      </p:sp>
      <p:pic>
        <p:nvPicPr>
          <p:cNvPr id="10" name="Picture 9" descr="deck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11" y="1417320"/>
            <a:ext cx="4126576" cy="4049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What not tracking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9750"/>
            <a:ext cx="7589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1A7A3A"/>
                </a:solidFill>
              </a:rPr>
              <a:t>ShadowGen: </a:t>
            </a:r>
            <a:r>
              <a:rPr sz="1250" b="0">
                <a:solidFill>
                  <a:srgbClr val="404040"/>
                </a:solidFill>
              </a:rPr>
              <a:t>tracks R1 on all 5 logs · flower 1.00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3A3A3A"/>
                </a:solidFill>
              </a:rPr>
              <a:t>Bootstrap (adapted): </a:t>
            </a:r>
            <a:r>
              <a:rPr sz="1250" b="0">
                <a:solidFill>
                  <a:srgbClr val="404040"/>
                </a:solidFill>
              </a:rPr>
              <a:t>tracks R1 on all 5 logs · flower 1.00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A7A3A"/>
                </a:solidFill>
              </a:rPr>
              <a:t>–  </a:t>
            </a:r>
            <a:r>
              <a:rPr sz="1250" b="1">
                <a:solidFill>
                  <a:srgbClr val="B02A2A"/>
                </a:solidFill>
              </a:rPr>
              <a:t>PM4Py: </a:t>
            </a:r>
            <a:r>
              <a:rPr sz="1250" b="0">
                <a:solidFill>
                  <a:srgbClr val="404040"/>
                </a:solidFill>
              </a:rPr>
              <a:t>anti-correlated on 4 of 5 logs · flower 0.88–0.98 (litmus failed)</a:t>
            </a:r>
          </a:p>
        </p:txBody>
      </p:sp>
      <p:pic>
        <p:nvPicPr>
          <p:cNvPr id="5" name="Picture 4" descr="deck_bad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07008"/>
            <a:ext cx="7680960" cy="3623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The shadow log is real future behavior</a:t>
            </a:r>
          </a:p>
        </p:txBody>
      </p:sp>
      <p:pic>
        <p:nvPicPr>
          <p:cNvPr id="3" name="Picture 2" descr="gen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19"/>
            <a:ext cx="5920958" cy="40218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294" y="5594063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777777"/>
                </a:solidFill>
              </a:rPr>
              <a:t>one point per log · 21 real-life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2310" y="1463040"/>
            <a:ext cx="2511650" cy="175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250" b="0" i="0" dirty="0">
                <a:solidFill>
                  <a:schemeClr val="tx1"/>
                </a:solidFill>
              </a:rPr>
              <a:t>Train on </a:t>
            </a:r>
            <a:r>
              <a:rPr lang="de-DE" sz="1250" b="0" i="0" dirty="0">
                <a:solidFill>
                  <a:schemeClr val="tx1"/>
                </a:solidFill>
              </a:rPr>
              <a:t>a </a:t>
            </a:r>
            <a:r>
              <a:rPr lang="en-GB" sz="1250" b="0" i="0" dirty="0">
                <a:solidFill>
                  <a:schemeClr val="tx1"/>
                </a:solidFill>
              </a:rPr>
              <a:t>part</a:t>
            </a:r>
            <a:r>
              <a:rPr sz="1250" b="0" i="0" dirty="0">
                <a:solidFill>
                  <a:schemeClr val="tx1"/>
                </a:solidFill>
              </a:rPr>
              <a:t> of a log's variants, generate, then count exact matches </a:t>
            </a:r>
            <a:r>
              <a:rPr lang="de-DE" sz="1250" dirty="0" err="1">
                <a:solidFill>
                  <a:schemeClr val="tx1"/>
                </a:solidFill>
              </a:rPr>
              <a:t>with</a:t>
            </a:r>
            <a:r>
              <a:rPr lang="de-DE" sz="1250" dirty="0">
                <a:solidFill>
                  <a:schemeClr val="tx1"/>
                </a:solidFill>
              </a:rPr>
              <a:t> </a:t>
            </a:r>
            <a:r>
              <a:rPr lang="de-DE" sz="1250" dirty="0" err="1">
                <a:solidFill>
                  <a:schemeClr val="tx1"/>
                </a:solidFill>
              </a:rPr>
              <a:t>the</a:t>
            </a:r>
            <a:r>
              <a:rPr lang="de-DE" sz="1250" dirty="0">
                <a:solidFill>
                  <a:schemeClr val="tx1"/>
                </a:solidFill>
              </a:rPr>
              <a:t> </a:t>
            </a:r>
            <a:r>
              <a:rPr lang="de-DE" sz="1250" dirty="0" err="1">
                <a:solidFill>
                  <a:schemeClr val="tx1"/>
                </a:solidFill>
              </a:rPr>
              <a:t>other</a:t>
            </a:r>
            <a:r>
              <a:rPr lang="de-DE" sz="1250" dirty="0">
                <a:solidFill>
                  <a:schemeClr val="tx1"/>
                </a:solidFill>
              </a:rPr>
              <a:t>, </a:t>
            </a:r>
            <a:r>
              <a:rPr lang="de-DE" sz="1250" dirty="0" err="1">
                <a:solidFill>
                  <a:schemeClr val="tx1"/>
                </a:solidFill>
              </a:rPr>
              <a:t>unseen</a:t>
            </a:r>
            <a:r>
              <a:rPr lang="de-DE" sz="1250" dirty="0">
                <a:solidFill>
                  <a:schemeClr val="tx1"/>
                </a:solidFill>
              </a:rPr>
              <a:t> </a:t>
            </a:r>
            <a:r>
              <a:rPr lang="de-DE" sz="1250" dirty="0" err="1">
                <a:solidFill>
                  <a:schemeClr val="tx1"/>
                </a:solidFill>
              </a:rPr>
              <a:t>part</a:t>
            </a:r>
            <a:endParaRPr sz="1250" b="0" i="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250" b="0" i="0" dirty="0">
                <a:solidFill>
                  <a:schemeClr val="tx1"/>
                </a:solidFill>
              </a:rPr>
              <a:t>Exact-</a:t>
            </a:r>
            <a:r>
              <a:rPr sz="1250" b="0" i="0" dirty="0" err="1">
                <a:solidFill>
                  <a:schemeClr val="tx1"/>
                </a:solidFill>
              </a:rPr>
              <a:t>matchability</a:t>
            </a:r>
            <a:r>
              <a:rPr sz="1250" b="0" i="0" dirty="0">
                <a:solidFill>
                  <a:schemeClr val="tx1"/>
                </a:solidFill>
              </a:rPr>
              <a:t> is a </a:t>
            </a:r>
            <a:r>
              <a:rPr lang="de-DE" sz="1250" b="0" i="0" dirty="0" err="1">
                <a:solidFill>
                  <a:schemeClr val="tx1"/>
                </a:solidFill>
              </a:rPr>
              <a:t>based</a:t>
            </a:r>
            <a:r>
              <a:rPr lang="de-DE" sz="1250" dirty="0">
                <a:solidFill>
                  <a:schemeClr val="tx1"/>
                </a:solidFill>
              </a:rPr>
              <a:t> on </a:t>
            </a:r>
            <a:r>
              <a:rPr lang="de-DE" sz="1250" dirty="0" err="1">
                <a:solidFill>
                  <a:schemeClr val="tx1"/>
                </a:solidFill>
              </a:rPr>
              <a:t>the</a:t>
            </a:r>
            <a:r>
              <a:rPr lang="de-DE" sz="1250" dirty="0">
                <a:solidFill>
                  <a:schemeClr val="tx1"/>
                </a:solidFill>
              </a:rPr>
              <a:t> </a:t>
            </a:r>
            <a:r>
              <a:rPr lang="de-DE" sz="1250" dirty="0" err="1">
                <a:solidFill>
                  <a:schemeClr val="tx1"/>
                </a:solidFill>
              </a:rPr>
              <a:t>representativeness</a:t>
            </a:r>
            <a:r>
              <a:rPr lang="de-DE" sz="1250" dirty="0">
                <a:solidFill>
                  <a:schemeClr val="tx1"/>
                </a:solidFill>
              </a:rPr>
              <a:t> and </a:t>
            </a:r>
            <a:r>
              <a:rPr lang="de-DE" sz="1250" dirty="0" err="1">
                <a:solidFill>
                  <a:schemeClr val="tx1"/>
                </a:solidFill>
              </a:rPr>
              <a:t>alphabet</a:t>
            </a:r>
            <a:r>
              <a:rPr lang="de-DE" sz="1250" dirty="0">
                <a:solidFill>
                  <a:schemeClr val="tx1"/>
                </a:solidFill>
              </a:rPr>
              <a:t> </a:t>
            </a:r>
            <a:r>
              <a:rPr lang="de-DE" sz="1250" dirty="0" err="1">
                <a:solidFill>
                  <a:schemeClr val="tx1"/>
                </a:solidFill>
              </a:rPr>
              <a:t>size</a:t>
            </a:r>
            <a:r>
              <a:rPr sz="1250" b="0" i="0" dirty="0">
                <a:solidFill>
                  <a:schemeClr val="tx1"/>
                </a:solidFill>
              </a:rPr>
              <a:t> of the log </a:t>
            </a:r>
            <a:endParaRPr lang="de-DE" sz="1250" b="0" i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Accurate and 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737360"/>
            <a:ext cx="2743200" cy="367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1300">
                <a:solidFill>
                  <a:srgbClr val="404040"/>
                </a:solidFill>
              </a:rPr>
              <a:t>ShadowGen and bootstrap (adapted) are the only ones decently accurate</a:t>
            </a:r>
            <a:endParaRPr lang="de-DE" sz="1300" dirty="0">
              <a:solidFill>
                <a:schemeClr val="tx1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de-DE" sz="1300" b="0" dirty="0">
                <a:solidFill>
                  <a:schemeClr val="tx1"/>
                </a:solidFill>
                <a:latin typeface="Calibri"/>
              </a:rPr>
              <a:t>T</a:t>
            </a:r>
            <a:r>
              <a:rPr sz="1300" b="0" dirty="0">
                <a:solidFill>
                  <a:schemeClr val="tx1"/>
                </a:solidFill>
                <a:latin typeface="Calibri"/>
              </a:rPr>
              <a:t>he single-draw default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ShadowGen</a:t>
            </a:r>
            <a:r>
              <a:rPr sz="1300" b="0" dirty="0">
                <a:solidFill>
                  <a:schemeClr val="tx1"/>
                </a:solidFill>
                <a:latin typeface="Calibri"/>
              </a:rPr>
              <a:t> runs at 3 s per model, 6× faster than PM4Py</a:t>
            </a:r>
            <a:endParaRPr lang="de-DE" sz="1300" dirty="0">
              <a:solidFill>
                <a:schemeClr val="tx1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chemeClr val="tx1"/>
                </a:solidFill>
                <a:latin typeface="Calibri"/>
              </a:rPr>
              <a:t>PM4Py is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decently</a:t>
            </a:r>
            <a:r>
              <a:rPr sz="1300" b="0" dirty="0">
                <a:solidFill>
                  <a:schemeClr val="tx1"/>
                </a:solidFill>
                <a:latin typeface="Calibri"/>
              </a:rPr>
              <a:t> fast but never accurate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.</a:t>
            </a:r>
            <a:r>
              <a:rPr sz="1300" b="0" dirty="0">
                <a:solidFill>
                  <a:schemeClr val="tx1"/>
                </a:solidFill>
                <a:latin typeface="Calibri"/>
              </a:rPr>
              <a:t> M9 negative events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tracks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nothing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useful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.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SpeciAL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is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inconsistent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and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crashes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on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the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1.6M-event log. M6 original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is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the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worst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calibrated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out </a:t>
            </a:r>
            <a:r>
              <a:rPr lang="de-DE" sz="1300" b="0" dirty="0" err="1">
                <a:solidFill>
                  <a:schemeClr val="tx1"/>
                </a:solidFill>
                <a:latin typeface="Calibri"/>
              </a:rPr>
              <a:t>of</a:t>
            </a:r>
            <a:r>
              <a:rPr lang="de-DE" sz="1300" b="0" dirty="0">
                <a:solidFill>
                  <a:schemeClr val="tx1"/>
                </a:solidFill>
                <a:latin typeface="Calibri"/>
              </a:rPr>
              <a:t> all</a:t>
            </a:r>
          </a:p>
          <a:p>
            <a:pPr marL="285750" indent="-285750">
              <a:lnSpc>
                <a:spcPct val="103000"/>
              </a:lnSpc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AVATAR needs 9–12 h of GPU training per log, M4, M8 never score properly</a:t>
            </a:r>
          </a:p>
        </p:txBody>
      </p:sp>
      <p:pic>
        <p:nvPicPr>
          <p:cNvPr id="5" name="Picture 4" descr="deck_pare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1494"/>
            <a:ext cx="5303520" cy="3341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8138160" cy="285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500" b="0" dirty="0" err="1">
                <a:solidFill>
                  <a:srgbClr val="404040"/>
                </a:solidFill>
                <a:latin typeface="Calibri"/>
              </a:rPr>
              <a:t>ShadowGen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 tracks empirical generalization on </a:t>
            </a:r>
            <a:r>
              <a:rPr sz="1500" b="1" dirty="0">
                <a:solidFill>
                  <a:schemeClr val="tx1"/>
                </a:solidFill>
                <a:latin typeface="Calibri"/>
              </a:rPr>
              <a:t>all five real-life logs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, at 3 s per model (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1-iteration</a:t>
            </a:r>
            <a:r>
              <a:rPr sz="1500" b="0" dirty="0">
                <a:solidFill>
                  <a:srgbClr val="404040"/>
                </a:solidFill>
                <a:latin typeface="Calibri"/>
              </a:rPr>
              <a:t>)</a:t>
            </a:r>
            <a:endParaRPr lang="de-DE" sz="150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404040"/>
                </a:solidFill>
                <a:latin typeface="Calibri"/>
              </a:rPr>
              <a:t>It scores a model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similarly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to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cross</a:t>
            </a:r>
            <a:r>
              <a:rPr lang="de-DE" sz="15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b="0" dirty="0" err="1">
                <a:solidFill>
                  <a:srgbClr val="404040"/>
                </a:solidFill>
                <a:latin typeface="Calibri"/>
              </a:rPr>
              <a:t>validation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without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the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need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to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rediscover</a:t>
            </a:r>
            <a:r>
              <a:rPr lang="de-DE" sz="1500" dirty="0">
                <a:solidFill>
                  <a:srgbClr val="404040"/>
                </a:solidFill>
                <a:latin typeface="Calibri"/>
              </a:rPr>
              <a:t> </a:t>
            </a:r>
            <a:r>
              <a:rPr lang="de-DE" sz="1500" dirty="0" err="1">
                <a:solidFill>
                  <a:srgbClr val="404040"/>
                </a:solidFill>
                <a:latin typeface="Calibri"/>
              </a:rPr>
              <a:t>it</a:t>
            </a:r>
            <a:endParaRPr sz="150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404040"/>
                </a:solidFill>
              </a:rPr>
              <a:t>The flower litmus exposes what impure metrics fold in: </a:t>
            </a:r>
            <a:r>
              <a:rPr b="1" dirty="0">
                <a:solidFill>
                  <a:schemeClr val="tx1"/>
                </a:solidFill>
              </a:rPr>
              <a:t>structure</a:t>
            </a:r>
            <a:r>
              <a:rPr b="0" dirty="0">
                <a:solidFill>
                  <a:srgbClr val="404040"/>
                </a:solidFill>
              </a:rPr>
              <a:t> in PM4Py, </a:t>
            </a:r>
            <a:r>
              <a:rPr b="1" dirty="0">
                <a:solidFill>
                  <a:schemeClr val="tx1"/>
                </a:solidFill>
              </a:rPr>
              <a:t>precision</a:t>
            </a:r>
            <a:r>
              <a:rPr b="0" dirty="0">
                <a:solidFill>
                  <a:srgbClr val="404040"/>
                </a:solidFill>
              </a:rPr>
              <a:t> in the neural GAN</a:t>
            </a:r>
            <a:endParaRPr lang="de-DE" dirty="0"/>
          </a:p>
          <a:p>
            <a:pPr>
              <a:lnSpc>
                <a:spcPct val="103000"/>
              </a:lnSpc>
              <a:spcAft>
                <a:spcPts val="1700"/>
              </a:spcAft>
            </a:pPr>
            <a:endParaRPr lang="de-DE" sz="1500" b="1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1700"/>
              </a:spcAft>
            </a:pPr>
            <a:endParaRPr lang="en-GB" sz="1500" b="1" dirty="0">
              <a:solidFill>
                <a:srgbClr val="404040"/>
              </a:solidFill>
              <a:latin typeface="Calibri"/>
            </a:endParaRPr>
          </a:p>
          <a:p>
            <a:pPr algn="ctr">
              <a:lnSpc>
                <a:spcPct val="103000"/>
              </a:lnSpc>
              <a:spcAft>
                <a:spcPts val="1700"/>
              </a:spcAft>
            </a:pPr>
            <a:r>
              <a:rPr sz="1800" b="1" u="sng" dirty="0">
                <a:solidFill>
                  <a:srgbClr val="404040"/>
                </a:solidFill>
                <a:latin typeface="Calibri"/>
              </a:rPr>
              <a:t>A validated, affordable, interpretable </a:t>
            </a:r>
            <a:r>
              <a:rPr lang="de-DE" sz="1800" b="1" u="sng" dirty="0" err="1">
                <a:solidFill>
                  <a:srgbClr val="404040"/>
                </a:solidFill>
                <a:latin typeface="Calibri"/>
              </a:rPr>
              <a:t>method</a:t>
            </a:r>
            <a:r>
              <a:rPr sz="1800" b="1" u="sng" dirty="0">
                <a:solidFill>
                  <a:srgbClr val="404040"/>
                </a:solidFill>
                <a:latin typeface="Calibri"/>
              </a:rPr>
              <a:t> for </a:t>
            </a:r>
            <a:r>
              <a:rPr lang="de-DE" sz="1800" b="1" u="sng" dirty="0" err="1">
                <a:solidFill>
                  <a:srgbClr val="404040"/>
                </a:solidFill>
                <a:latin typeface="Calibri"/>
              </a:rPr>
              <a:t>generalization</a:t>
            </a:r>
            <a:endParaRPr sz="1800" b="1" u="sng" dirty="0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dirty="0">
                <a:solidFill>
                  <a:srgbClr val="3A3A3A"/>
                </a:solidFill>
              </a:rPr>
              <a:t>Backup: choosing the context order N</a:t>
            </a:r>
          </a:p>
        </p:txBody>
      </p:sp>
      <p:pic>
        <p:nvPicPr>
          <p:cNvPr id="3" name="Picture 2" descr="img_nsweep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863840" cy="31212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92040"/>
            <a:ext cx="786384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50" b="1" dirty="0">
                <a:solidFill>
                  <a:srgbClr val="3A3A3A"/>
                </a:solidFill>
              </a:rPr>
              <a:t>Picking </a:t>
            </a:r>
            <a:r>
              <a:rPr sz="1250" b="1" dirty="0">
                <a:solidFill>
                  <a:srgbClr val="3A3A3A"/>
                </a:solidFill>
              </a:rPr>
              <a:t>N: </a:t>
            </a:r>
            <a:r>
              <a:rPr sz="1250" b="0" dirty="0">
                <a:solidFill>
                  <a:srgbClr val="404040"/>
                </a:solidFill>
              </a:rPr>
              <a:t>MAE to R1 is a plateau</a:t>
            </a:r>
            <a:r>
              <a:rPr lang="de-DE" sz="1250" b="0" dirty="0">
                <a:solidFill>
                  <a:srgbClr val="404040"/>
                </a:solidFill>
              </a:rPr>
              <a:t>.</a:t>
            </a:r>
            <a:r>
              <a:rPr sz="1250" b="0" dirty="0">
                <a:solidFill>
                  <a:srgbClr val="404040"/>
                </a:solidFill>
              </a:rPr>
              <a:t> N=6 is optimal on L1 and within 0.004 of the optimum on L2–L4 (inside the metric's own noise).</a:t>
            </a:r>
            <a:r>
              <a:rPr lang="de-DE" sz="1250" b="0" dirty="0">
                <a:solidFill>
                  <a:srgbClr val="404040"/>
                </a:solidFill>
              </a:rPr>
              <a:t> T</a:t>
            </a:r>
            <a:r>
              <a:rPr sz="1250" b="0" dirty="0">
                <a:solidFill>
                  <a:srgbClr val="404040"/>
                </a:solidFill>
              </a:rPr>
              <a:t>he mutation rate rises </a:t>
            </a:r>
            <a:r>
              <a:rPr lang="de-DE" sz="1250" b="0" dirty="0" err="1">
                <a:solidFill>
                  <a:srgbClr val="404040"/>
                </a:solidFill>
              </a:rPr>
              <a:t>continuously</a:t>
            </a:r>
            <a:r>
              <a:rPr sz="1250" b="0" dirty="0">
                <a:solidFill>
                  <a:srgbClr val="404040"/>
                </a:solidFill>
              </a:rPr>
              <a:t> with N on every log</a:t>
            </a:r>
            <a:r>
              <a:rPr lang="de-DE" sz="1250" b="0" dirty="0">
                <a:solidFill>
                  <a:srgbClr val="404040"/>
                </a:solidFill>
              </a:rPr>
              <a:t>, </a:t>
            </a:r>
            <a:r>
              <a:rPr lang="de-DE" sz="1250" b="0" dirty="0" err="1">
                <a:solidFill>
                  <a:srgbClr val="404040"/>
                </a:solidFill>
              </a:rPr>
              <a:t>higher</a:t>
            </a:r>
            <a:r>
              <a:rPr lang="de-DE" sz="1250" b="0" dirty="0">
                <a:solidFill>
                  <a:srgbClr val="404040"/>
                </a:solidFill>
              </a:rPr>
              <a:t> N </a:t>
            </a:r>
            <a:r>
              <a:rPr lang="de-DE" sz="1250" b="0" dirty="0" err="1">
                <a:solidFill>
                  <a:srgbClr val="404040"/>
                </a:solidFill>
              </a:rPr>
              <a:t>orde</a:t>
            </a:r>
            <a:r>
              <a:rPr sz="1250" b="0" dirty="0">
                <a:solidFill>
                  <a:srgbClr val="404040"/>
                </a:solidFill>
              </a:rPr>
              <a:t>r only costs more</a:t>
            </a:r>
            <a:r>
              <a:rPr lang="de-DE" sz="1250" b="0" dirty="0">
                <a:solidFill>
                  <a:srgbClr val="404040"/>
                </a:solidFill>
              </a:rPr>
              <a:t> </a:t>
            </a:r>
            <a:r>
              <a:rPr lang="de-DE" sz="1250" b="0" dirty="0" err="1">
                <a:solidFill>
                  <a:srgbClr val="404040"/>
                </a:solidFill>
              </a:rPr>
              <a:t>with</a:t>
            </a:r>
            <a:r>
              <a:rPr lang="de-DE" sz="1250" b="0" dirty="0">
                <a:solidFill>
                  <a:srgbClr val="404040"/>
                </a:solidFill>
              </a:rPr>
              <a:t> minimal </a:t>
            </a:r>
            <a:r>
              <a:rPr lang="de-DE" sz="1250" b="0" dirty="0" err="1">
                <a:solidFill>
                  <a:srgbClr val="404040"/>
                </a:solidFill>
              </a:rPr>
              <a:t>improvement</a:t>
            </a:r>
            <a:r>
              <a:rPr lang="de-DE" sz="1250" b="0" dirty="0">
                <a:solidFill>
                  <a:srgbClr val="404040"/>
                </a:solidFill>
              </a:rPr>
              <a:t> on </a:t>
            </a:r>
            <a:r>
              <a:rPr lang="de-DE" sz="1250" b="0" dirty="0" err="1">
                <a:solidFill>
                  <a:srgbClr val="404040"/>
                </a:solidFill>
              </a:rPr>
              <a:t>some</a:t>
            </a:r>
            <a:r>
              <a:rPr lang="de-DE" sz="1250" b="0" dirty="0">
                <a:solidFill>
                  <a:srgbClr val="404040"/>
                </a:solidFill>
              </a:rPr>
              <a:t> logs</a:t>
            </a:r>
            <a:endParaRPr sz="1250" b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3A3A3A"/>
                </a:solidFill>
              </a:rPr>
              <a:t>Backup: acceptance validation</a:t>
            </a:r>
          </a:p>
        </p:txBody>
      </p:sp>
      <p:pic>
        <p:nvPicPr>
          <p:cNvPr id="3" name="Picture 2" descr="slide0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39" y="1463040"/>
            <a:ext cx="402128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920240"/>
            <a:ext cx="3474720" cy="1556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404040"/>
                </a:solidFill>
                <a:latin typeface="Calibri"/>
              </a:rPr>
              <a:t>Strict reading validated against </a:t>
            </a:r>
            <a:r>
              <a:rPr sz="1250" b="1" dirty="0">
                <a:solidFill>
                  <a:srgbClr val="404040"/>
                </a:solidFill>
                <a:latin typeface="Calibri"/>
              </a:rPr>
              <a:t>R1-accept</a:t>
            </a:r>
            <a:r>
              <a:rPr sz="1250" b="0" dirty="0">
                <a:solidFill>
                  <a:srgbClr val="404040"/>
                </a:solidFill>
                <a:latin typeface="Calibri"/>
              </a:rPr>
              <a:t>: the fraction of held-out real traces replayed exactly.</a:t>
            </a:r>
            <a:endParaRPr lang="de-DE" sz="125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404040"/>
                </a:solidFill>
                <a:latin typeface="Calibri"/>
              </a:rPr>
              <a:t>Poles anchor cleanly: flower 1.00, trace ≈ 0.</a:t>
            </a:r>
            <a:endParaRPr lang="de-DE" sz="1250" b="0" dirty="0">
              <a:solidFill>
                <a:srgbClr val="404040"/>
              </a:solidFill>
              <a:latin typeface="Calibri"/>
            </a:endParaRPr>
          </a:p>
          <a:p>
            <a:pPr marL="285750" indent="-285750">
              <a:lnSpc>
                <a:spcPct val="103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de-DE" sz="1250" b="0" dirty="0">
                <a:solidFill>
                  <a:schemeClr val="tx1"/>
                </a:solidFill>
                <a:latin typeface="Calibri"/>
              </a:rPr>
              <a:t>In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some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instances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(i.e. </a:t>
            </a:r>
            <a:r>
              <a:rPr sz="1250" b="0" dirty="0">
                <a:solidFill>
                  <a:schemeClr val="tx1"/>
                </a:solidFill>
                <a:latin typeface="Calibri"/>
              </a:rPr>
              <a:t>57 events/trace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)</a:t>
            </a:r>
            <a:r>
              <a:rPr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the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generator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of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ShadowGen</a:t>
            </a:r>
            <a:r>
              <a:rPr lang="de-DE" sz="1250" b="0" dirty="0">
                <a:solidFill>
                  <a:schemeClr val="tx1"/>
                </a:solidFill>
                <a:latin typeface="Calibri"/>
              </a:rPr>
              <a:t> </a:t>
            </a:r>
            <a:r>
              <a:rPr lang="de-DE" sz="1250" b="0" dirty="0" err="1">
                <a:solidFill>
                  <a:schemeClr val="tx1"/>
                </a:solidFill>
                <a:latin typeface="Calibri"/>
              </a:rPr>
              <a:t>struggles</a:t>
            </a:r>
            <a:endParaRPr sz="1250" b="0" dirty="0">
              <a:solidFill>
                <a:schemeClr val="tx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solidFill>
                  <a:srgbClr val="3A3A3A"/>
                </a:solidFill>
              </a:rPr>
              <a:t>Backup: one bootstrap sample, four scorings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404040"/>
                </a:solidFill>
              </a:rPr>
              <a:t>Hold the bred bsgen sample fixed (L1), vary only the scoring, compare to R1: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589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-bgen F1 (precision + recall):  </a:t>
            </a:r>
            <a:r>
              <a:rPr sz="1300">
                <a:solidFill>
                  <a:srgbClr val="404040"/>
                </a:solidFill>
              </a:rPr>
              <a:t>Pearson 0.87   MAE 0.59   flower 0.18   </a:t>
            </a:r>
            <a:r>
              <a:rPr sz="1300" b="1">
                <a:solidFill>
                  <a:srgbClr val="B02A2A"/>
                </a:solidFill>
              </a:rPr>
              <a:t>fail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its precision component:  </a:t>
            </a:r>
            <a:r>
              <a:rPr sz="1300">
                <a:solidFill>
                  <a:srgbClr val="404040"/>
                </a:solidFill>
              </a:rPr>
              <a:t>Pearson 0.82   MAE 0.68   flower 0.10   </a:t>
            </a:r>
            <a:r>
              <a:rPr sz="1300" b="1">
                <a:solidFill>
                  <a:srgbClr val="B02A2A"/>
                </a:solidFill>
              </a:rPr>
              <a:t>fail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its recall component:  </a:t>
            </a:r>
            <a:r>
              <a:rPr sz="1300">
                <a:solidFill>
                  <a:srgbClr val="404040"/>
                </a:solidFill>
              </a:rPr>
              <a:t>Pearson 0.98   MAE 0.11   flower 1.00   </a:t>
            </a:r>
            <a:r>
              <a:rPr sz="1300" b="1">
                <a:solidFill>
                  <a:srgbClr val="1A7A3A"/>
                </a:solidFill>
              </a:rPr>
              <a:t>pass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A3A3A"/>
                </a:solidFill>
              </a:rPr>
              <a:t>token-replay recall (M6adapted):  </a:t>
            </a:r>
            <a:r>
              <a:rPr sz="1300">
                <a:solidFill>
                  <a:srgbClr val="404040"/>
                </a:solidFill>
              </a:rPr>
              <a:t>Pearson 1.00   MAE 0.018   flower 1.00   </a:t>
            </a:r>
            <a:r>
              <a:rPr sz="1300" b="1">
                <a:solidFill>
                  <a:srgbClr val="1A7A3A"/>
                </a:solidFill>
              </a:rPr>
              <a:t>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404040"/>
                </a:solidFill>
              </a:rPr>
              <a:t>The precision component alone destroys calibration and the litmus: </a:t>
            </a:r>
            <a:r>
              <a:rPr sz="1350" b="1">
                <a:solidFill>
                  <a:srgbClr val="3A3A3A"/>
                </a:solidFill>
              </a:rPr>
              <a:t>construct contamination, shown causally.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 dirty="0">
                <a:solidFill>
                  <a:srgbClr val="3A3A3A"/>
                </a:solidFill>
              </a:rPr>
              <a:t>Backup: threats,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8638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chemeClr val="tx1"/>
                </a:solidFill>
              </a:rPr>
              <a:t>Shared “ruler”?: Recomputing R1 with cost-zero alignments instead of token replay keeps the ranking: Spearman 1.0, Pearson 0.96 over the five sound nets. (MAE </a:t>
            </a:r>
            <a:r>
              <a:rPr lang="en-DE" dirty="0"/>
              <a:t>0.095</a:t>
            </a:r>
            <a:r>
              <a:rPr lang="en-GB" sz="135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chemeClr val="tx1"/>
                </a:solidFill>
              </a:rPr>
              <a:t>Stochastic stability: per-cell std ≤ 0.008 (median 0.001), every single draw keeps Pearson ≥ 0.982 and the identical ranking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chemeClr val="tx1"/>
                </a:solidFill>
              </a:rPr>
              <a:t>Replay nondeterminism: token replay tie-breaks unseeded on silent and duplicate transitions. Measured drift ≤ 0.024 (trace model), verdicts unaffected (L4 MAE 0.015 → 0.016)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chemeClr val="tx1"/>
                </a:solidFill>
              </a:rPr>
              <a:t>Disclosures: five L4 cells kept despite overrunning the hour (e.g. PM4Py Ind-strict at 3.5 h), </a:t>
            </a:r>
            <a:r>
              <a:rPr lang="en-GB" sz="1350" dirty="0" err="1">
                <a:solidFill>
                  <a:schemeClr val="tx1"/>
                </a:solidFill>
              </a:rPr>
              <a:t>SpeciAL</a:t>
            </a:r>
            <a:r>
              <a:rPr lang="en-GB" sz="1350" dirty="0">
                <a:solidFill>
                  <a:schemeClr val="tx1"/>
                </a:solidFill>
              </a:rPr>
              <a:t> version skew on L5, R2 sampled 50 variants</a:t>
            </a:r>
            <a:endParaRPr sz="135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Office PowerPoint</Application>
  <PresentationFormat>Bildschirmpräsentation (4:3)</PresentationFormat>
  <Paragraphs>137</Paragraphs>
  <Slides>17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</vt:lpstr>
      <vt:lpstr>Quantifying Process Model Generalization: A Generative N-gram Metric and a Cross-Paradigm Benchmark</vt:lpstr>
      <vt:lpstr>Generalization: the least validated dimension</vt:lpstr>
      <vt:lpstr>…no validated metric is in wide use</vt:lpstr>
      <vt:lpstr>The models we test, and the litmus</vt:lpstr>
      <vt:lpstr>Our Metric: ShadowGen</vt:lpstr>
      <vt:lpstr>Two backoffs: resolve, then invent</vt:lpstr>
      <vt:lpstr>How we validate</vt:lpstr>
      <vt:lpstr>ShadowGen tracks the ground truth</vt:lpstr>
      <vt:lpstr>What not tracking looks like</vt:lpstr>
      <vt:lpstr>The shadow log is real future behavior</vt:lpstr>
      <vt:lpstr>PM4Py’s metric does not measure generalization</vt:lpstr>
      <vt:lpstr>Accurate and affordable</vt:lpstr>
      <vt:lpstr>Conclusion</vt:lpstr>
      <vt:lpstr>Backup: choosing the context order N</vt:lpstr>
      <vt:lpstr>Backup: acceptance validation</vt:lpstr>
      <vt:lpstr>Backup: one bootstrap sample, four scorings</vt:lpstr>
      <vt:lpstr>Backup: threats, measured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Krengel</cp:lastModifiedBy>
  <cp:revision>60</cp:revision>
  <dcterms:modified xsi:type="dcterms:W3CDTF">2026-07-12T17:10:17Z</dcterms:modified>
</cp:coreProperties>
</file>