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9144000"/>
  <p:notesSz cx="7099300" cy="10234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27" roundtripDataSignature="AMtx7mgvFYpj3UQDqqXrRtE5NtDhak9e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559C6A9-02BC-40DD-852D-CA3B3830EC4A}">
  <a:tblStyle styleId="{5559C6A9-02BC-40DD-852D-CA3B3830EC4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nvSpPr>
        <p:spPr>
          <a:xfrm>
            <a:off x="0" y="0"/>
            <a:ext cx="7099300" cy="102346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4" name="Google Shape;4;n"/>
          <p:cNvSpPr txBox="1"/>
          <p:nvPr/>
        </p:nvSpPr>
        <p:spPr>
          <a:xfrm>
            <a:off x="0" y="0"/>
            <a:ext cx="3076575" cy="5111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5" name="Google Shape;5;n"/>
          <p:cNvSpPr txBox="1"/>
          <p:nvPr/>
        </p:nvSpPr>
        <p:spPr>
          <a:xfrm>
            <a:off x="4022725" y="0"/>
            <a:ext cx="3076575" cy="5111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6" name="Google Shape;6;n"/>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a:noFill/>
          <a:ln cap="sq" cmpd="sng" w="9525">
            <a:solidFill>
              <a:srgbClr val="000000"/>
            </a:solidFill>
            <a:prstDash val="solid"/>
            <a:miter lim="8000"/>
            <a:headEnd len="sm" w="sm" type="none"/>
            <a:tailEnd len="sm" w="sm" type="none"/>
          </a:ln>
        </p:spPr>
      </p:sp>
      <p:sp>
        <p:nvSpPr>
          <p:cNvPr id="7" name="Google Shape;7;n"/>
          <p:cNvSpPr txBox="1"/>
          <p:nvPr>
            <p:ph idx="1" type="body"/>
          </p:nvPr>
        </p:nvSpPr>
        <p:spPr>
          <a:xfrm>
            <a:off x="946150" y="4862512"/>
            <a:ext cx="5205412" cy="4603750"/>
          </a:xfrm>
          <a:prstGeom prst="rect">
            <a:avLst/>
          </a:prstGeom>
          <a:noFill/>
          <a:ln>
            <a:noFill/>
          </a:ln>
        </p:spPr>
        <p:txBody>
          <a:bodyPr anchorCtr="0" anchor="t" bIns="47500" lIns="95025" spcFirstLastPara="1" rIns="95025" wrap="square" tIns="475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nvSpPr>
        <p:spPr>
          <a:xfrm>
            <a:off x="0" y="9723437"/>
            <a:ext cx="3076575" cy="5111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9" name="Google Shape;9;n"/>
          <p:cNvSpPr txBox="1"/>
          <p:nvPr>
            <p:ph idx="12" type="sldNum"/>
          </p:nvPr>
        </p:nvSpPr>
        <p:spPr>
          <a:xfrm>
            <a:off x="4022725" y="9723437"/>
            <a:ext cx="3074987" cy="509587"/>
          </a:xfrm>
          <a:prstGeom prst="rect">
            <a:avLst/>
          </a:prstGeom>
          <a:noFill/>
          <a:ln>
            <a:noFill/>
          </a:ln>
        </p:spPr>
        <p:txBody>
          <a:bodyPr anchorCtr="0" anchor="b" bIns="47500" lIns="95025" spcFirstLastPara="1" rIns="95025" wrap="square" tIns="475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a:noFill/>
          <a:ln cap="sq" cmpd="sng" w="9525">
            <a:solidFill>
              <a:srgbClr val="000000"/>
            </a:solidFill>
            <a:prstDash val="solid"/>
            <a:miter lim="8000"/>
            <a:headEnd len="sm" w="sm" type="none"/>
            <a:tailEnd len="sm" w="sm" type="none"/>
          </a:ln>
        </p:spPr>
      </p:sp>
      <p:sp>
        <p:nvSpPr>
          <p:cNvPr id="95" name="Google Shape;95;p1:notes"/>
          <p:cNvSpPr txBox="1"/>
          <p:nvPr>
            <p:ph idx="1" type="body"/>
          </p:nvPr>
        </p:nvSpPr>
        <p:spPr>
          <a:xfrm>
            <a:off x="946150" y="4862512"/>
            <a:ext cx="5205412" cy="4603750"/>
          </a:xfrm>
          <a:prstGeom prst="rect">
            <a:avLst/>
          </a:prstGeom>
          <a:noFill/>
          <a:ln>
            <a:noFill/>
          </a:ln>
        </p:spPr>
        <p:txBody>
          <a:bodyPr anchorCtr="0" anchor="t" bIns="47500" lIns="95025" spcFirstLastPara="1" rIns="95025" wrap="square" tIns="47500">
            <a:noAutofit/>
          </a:bodyPr>
          <a:lstStyle/>
          <a:p>
            <a:pPr indent="-228600" lvl="0" marL="457200" marR="0" rtl="0" algn="l">
              <a:lnSpc>
                <a:spcPct val="100000"/>
              </a:lnSpc>
              <a:spcBef>
                <a:spcPts val="0"/>
              </a:spcBef>
              <a:spcAft>
                <a:spcPts val="0"/>
              </a:spcAft>
              <a:buSzPts val="1400"/>
              <a:buNone/>
            </a:pPr>
            <a:r>
              <a:t/>
            </a:r>
            <a:endParaRPr/>
          </a:p>
        </p:txBody>
      </p:sp>
      <p:sp>
        <p:nvSpPr>
          <p:cNvPr id="96" name="Google Shape;96;p1:notes"/>
          <p:cNvSpPr txBox="1"/>
          <p:nvPr>
            <p:ph idx="12" type="sldNum"/>
          </p:nvPr>
        </p:nvSpPr>
        <p:spPr>
          <a:xfrm>
            <a:off x="4022725" y="9723437"/>
            <a:ext cx="3074987" cy="509587"/>
          </a:xfrm>
          <a:prstGeom prst="rect">
            <a:avLst/>
          </a:prstGeom>
          <a:noFill/>
          <a:ln>
            <a:noFill/>
          </a:ln>
        </p:spPr>
        <p:txBody>
          <a:bodyPr anchorCtr="0" anchor="b" bIns="47500" lIns="95025" spcFirstLastPara="1" rIns="95025" wrap="square" tIns="475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a:noFill/>
          <a:ln cap="sq" cmpd="sng" w="9525">
            <a:solidFill>
              <a:srgbClr val="000000"/>
            </a:solidFill>
            <a:prstDash val="solid"/>
            <a:miter lim="8000"/>
            <a:headEnd len="sm" w="sm" type="none"/>
            <a:tailEnd len="sm" w="sm" type="none"/>
          </a:ln>
        </p:spPr>
      </p:sp>
      <p:sp>
        <p:nvSpPr>
          <p:cNvPr id="102" name="Google Shape;102;p2:notes"/>
          <p:cNvSpPr txBox="1"/>
          <p:nvPr>
            <p:ph idx="1" type="body"/>
          </p:nvPr>
        </p:nvSpPr>
        <p:spPr>
          <a:xfrm>
            <a:off x="946150" y="4862512"/>
            <a:ext cx="5205412" cy="4603750"/>
          </a:xfrm>
          <a:prstGeom prst="rect">
            <a:avLst/>
          </a:prstGeom>
          <a:noFill/>
          <a:ln>
            <a:noFill/>
          </a:ln>
        </p:spPr>
        <p:txBody>
          <a:bodyPr anchorCtr="0" anchor="t" bIns="47500" lIns="95025" spcFirstLastPara="1" rIns="95025" wrap="square" tIns="47500">
            <a:noAutofit/>
          </a:bodyPr>
          <a:lstStyle/>
          <a:p>
            <a:pPr indent="0" lvl="0" marL="228600" marR="0" rtl="0" algn="l">
              <a:lnSpc>
                <a:spcPct val="100000"/>
              </a:lnSpc>
              <a:spcBef>
                <a:spcPts val="0"/>
              </a:spcBef>
              <a:spcAft>
                <a:spcPts val="0"/>
              </a:spcAft>
              <a:buSzPts val="1400"/>
              <a:buNone/>
            </a:pPr>
            <a:r>
              <a:rPr lang="en-US"/>
              <a:t>As shown in the slide, a p</a:t>
            </a:r>
            <a:r>
              <a:rPr lang="en-US"/>
              <a:t>rocess models is evaluated across four foundational dimensions. Fitness ensures observed behavior is allowed; Precision restricts invalid behavior; and Simplicity demands structural sparsity.</a:t>
            </a:r>
            <a:endParaRPr/>
          </a:p>
          <a:p>
            <a:pPr indent="0" lvl="0" marL="228600" marR="0" rtl="0" algn="l">
              <a:lnSpc>
                <a:spcPct val="100000"/>
              </a:lnSpc>
              <a:spcBef>
                <a:spcPts val="0"/>
              </a:spcBef>
              <a:spcAft>
                <a:spcPts val="0"/>
              </a:spcAft>
              <a:buSzPts val="1400"/>
              <a:buNone/>
            </a:pPr>
            <a:r>
              <a:t/>
            </a:r>
            <a:endParaRPr/>
          </a:p>
          <a:p>
            <a:pPr indent="0" lvl="0" marL="228600" marR="0" rtl="0" algn="l">
              <a:lnSpc>
                <a:spcPct val="100000"/>
              </a:lnSpc>
              <a:spcBef>
                <a:spcPts val="0"/>
              </a:spcBef>
              <a:spcAft>
                <a:spcPts val="0"/>
              </a:spcAft>
              <a:buSzPts val="1400"/>
              <a:buNone/>
            </a:pPr>
            <a:r>
              <a:rPr lang="en-US"/>
              <a:t>Our focus is the fourth, yet least validated dimension: Generalization. It measures whether a model can accept future, valid behaviors that are entirely absent from the original event log.</a:t>
            </a:r>
            <a:endParaRPr/>
          </a:p>
          <a:p>
            <a:pPr indent="0" lvl="0" marL="228600" marR="0" rtl="0" algn="l">
              <a:lnSpc>
                <a:spcPct val="100000"/>
              </a:lnSpc>
              <a:spcBef>
                <a:spcPts val="0"/>
              </a:spcBef>
              <a:spcAft>
                <a:spcPts val="0"/>
              </a:spcAft>
              <a:buSzPts val="1400"/>
              <a:buNone/>
            </a:pPr>
            <a:r>
              <a:t/>
            </a:r>
            <a:endParaRPr/>
          </a:p>
          <a:p>
            <a:pPr indent="0" lvl="0" marL="228600" marR="0" rtl="0" algn="l">
              <a:lnSpc>
                <a:spcPct val="100000"/>
              </a:lnSpc>
              <a:spcBef>
                <a:spcPts val="0"/>
              </a:spcBef>
              <a:spcAft>
                <a:spcPts val="0"/>
              </a:spcAft>
              <a:buSzPts val="1400"/>
              <a:buNone/>
            </a:pPr>
            <a:r>
              <a:rPr lang="en-US"/>
              <a:t>The fundamental problem is measurement. Because these valid future behaviors do not exist in empirical data. How can we objectively quantify a model's capacity to accommodate unseen behavior? This exact measurement gap is the problem our methodology resolves.</a:t>
            </a:r>
            <a:endParaRPr/>
          </a:p>
        </p:txBody>
      </p:sp>
      <p:sp>
        <p:nvSpPr>
          <p:cNvPr id="103" name="Google Shape;103;p2:notes"/>
          <p:cNvSpPr txBox="1"/>
          <p:nvPr>
            <p:ph idx="12" type="sldNum"/>
          </p:nvPr>
        </p:nvSpPr>
        <p:spPr>
          <a:xfrm>
            <a:off x="4022725" y="9723437"/>
            <a:ext cx="3074987" cy="509587"/>
          </a:xfrm>
          <a:prstGeom prst="rect">
            <a:avLst/>
          </a:prstGeom>
          <a:noFill/>
          <a:ln>
            <a:noFill/>
          </a:ln>
        </p:spPr>
        <p:txBody>
          <a:bodyPr anchorCtr="0" anchor="b" bIns="47500" lIns="95025" spcFirstLastPara="1" rIns="95025" wrap="square" tIns="475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rPr lang="en-US"/>
              <a:t>The default generalization metric in PM4Py is widely adopted, yet it has never been validated against an objective ground truth.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a:t>
            </a:r>
            <a:r>
              <a:rPr lang="en-US"/>
              <a:t>hile the literature offers eight distinct metrics representing different paradigms, they frequently contradict one another. Prior benchmark studies merely cross-compared these metrics, creating a circular validation loop rather than anchoring them to reality. The result is striking: none of them is validated against a ground truth on real logs. A user who needs a generalization metric is left without a proper validated method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the exact gap our metric, ShadowGen, fills. We provide a method that is strictly validated against a ground truth, while remaining computationally cheap enough to run on real-world event logs.</a:t>
            </a:r>
            <a:endParaRPr/>
          </a:p>
        </p:txBody>
      </p:sp>
      <p:sp>
        <p:nvSpPr>
          <p:cNvPr id="122" name="Google Shape;122;p3: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a:noFill/>
          <a:ln cap="sq" cmpd="sng" w="9525">
            <a:solidFill>
              <a:srgbClr val="000000"/>
            </a:solidFill>
            <a:prstDash val="solid"/>
            <a:miter lim="8000"/>
            <a:headEnd len="sm" w="sm" type="none"/>
            <a:tailEnd len="sm" w="sm" type="none"/>
          </a:ln>
        </p:spPr>
      </p:sp>
      <p:sp>
        <p:nvSpPr>
          <p:cNvPr id="130" name="Google Shape;130;p4:notes"/>
          <p:cNvSpPr txBox="1"/>
          <p:nvPr>
            <p:ph idx="1" type="body"/>
          </p:nvPr>
        </p:nvSpPr>
        <p:spPr>
          <a:xfrm>
            <a:off x="946150" y="4862512"/>
            <a:ext cx="5205412" cy="4603750"/>
          </a:xfrm>
          <a:prstGeom prst="rect">
            <a:avLst/>
          </a:prstGeom>
          <a:noFill/>
          <a:ln>
            <a:noFill/>
          </a:ln>
        </p:spPr>
        <p:txBody>
          <a:bodyPr anchorCtr="0" anchor="t" bIns="47500" lIns="95025" spcFirstLastPara="1" rIns="95025" wrap="square" tIns="47500">
            <a:noAutofit/>
          </a:bodyPr>
          <a:lstStyle/>
          <a:p>
            <a:pPr indent="-228600" lvl="0" marL="457200" marR="0" rtl="0" algn="l">
              <a:lnSpc>
                <a:spcPct val="100000"/>
              </a:lnSpc>
              <a:spcBef>
                <a:spcPts val="0"/>
              </a:spcBef>
              <a:spcAft>
                <a:spcPts val="0"/>
              </a:spcAft>
              <a:buSzPts val="1400"/>
              <a:buNone/>
            </a:pPr>
            <a:r>
              <a:rPr lang="en-US"/>
              <a:t>To strictly evaluate our metric, we established a testing spectrum bounded by the theoretical extreme of process discovery. On the far left is the Trace Model, which only memorizes the event log, exhibiting zero generalization. On the far right is the Flower Model, a hyper-permissive structure designed to accept any sequence of activities. Between these theoretical boundaries, we analyze six real miners, including variants of the Alpha, Heuristics, and Inductive miners.</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This spectrum introduces a fundamental baseline: the Flower Litmus test. Because a Flower Model inherently accepts all possible future behavior, a pure generalization metric must assign it a perfect score of 1.00.</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If a metric scores the flower model below 1.00, it indicates the metric is improperly penalizing the model for poor precision or structural complexity, rather than strictly isolating generalization.</a:t>
            </a:r>
            <a:endParaRPr/>
          </a:p>
        </p:txBody>
      </p:sp>
      <p:sp>
        <p:nvSpPr>
          <p:cNvPr id="131" name="Google Shape;131;p4:notes"/>
          <p:cNvSpPr txBox="1"/>
          <p:nvPr>
            <p:ph idx="12" type="sldNum"/>
          </p:nvPr>
        </p:nvSpPr>
        <p:spPr>
          <a:xfrm>
            <a:off x="4022725" y="9723437"/>
            <a:ext cx="3074987" cy="509587"/>
          </a:xfrm>
          <a:prstGeom prst="rect">
            <a:avLst/>
          </a:prstGeom>
          <a:noFill/>
          <a:ln>
            <a:noFill/>
          </a:ln>
        </p:spPr>
        <p:txBody>
          <a:bodyPr anchorCtr="0" anchor="b" bIns="47500" lIns="95025" spcFirstLastPara="1" rIns="95025" wrap="square" tIns="475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169" name="Google Shape;169;p6: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191" name="Google Shape;191;p7: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208" name="Google Shape;208;p8: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220" name="Google Shape;220;p9: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0: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227" name="Google Shape;227;p10: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rPr lang="en-US"/>
              <a:t>This scatter plot maps the critical trade-off between computational cost on the x-axis and metric error to cross validation on the y-axis. The theoretical optimum is located in the bottom-left corner.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metric, denoted by the green star, successfully isolates this optimum. It minimizes the mean absolute error while executing in a median time of just 3 seconds per model—operating 6 times faster than the PM4Py baseline.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While PM4Py is relatively fast, its error rate is unacceptable. The adapted bootstrap method approaches our accuracy but scales poorly. Other metrics fail fundamentally: SpeciAL crashes on large-scale logs, Negative event generalization is fast but inaccurate, and neural models like AVATAR require up to 12 hours of GPU training per log. So far, bootstrap original is the worst calibrated out of all.</a:t>
            </a:r>
            <a:endParaRPr/>
          </a:p>
        </p:txBody>
      </p:sp>
      <p:sp>
        <p:nvSpPr>
          <p:cNvPr id="234" name="Google Shape;234;p12: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3: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rPr lang="en-US"/>
              <a:t>In conclusion, ShadowGen successfully tracks empirical generalization across all five real-life event logs. Crucially, it achieves this at a computational cost of merely three seconds per model. </a:t>
            </a:r>
            <a:endParaRPr/>
          </a:p>
          <a:p>
            <a:pPr indent="0" lvl="0" marL="0" rtl="0" algn="l">
              <a:spcBef>
                <a:spcPts val="0"/>
              </a:spcBef>
              <a:spcAft>
                <a:spcPts val="0"/>
              </a:spcAft>
              <a:buNone/>
            </a:pPr>
            <a:r>
              <a:rPr lang="en-US"/>
              <a:t>It delivers scoring consistency comparable to cross-validation, but entirely bypasses the computationally prohibitive requirement of rediscovering the process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Furthermore, the flower litmus proves helpful in diagnosing the systemic flaws of existing metrics. It exposes that PM4Py improperly conflates generalization with structural complexity, while AVATAR, bootstrap conflate it with precision.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a word</a:t>
            </a:r>
            <a:r>
              <a:rPr lang="en-US"/>
              <a:t>, we deliver a metric for quantifying generalization that is strictly validated against cross validation, computationally affordable, and theoretically interpretable.</a:t>
            </a:r>
            <a:endParaRPr/>
          </a:p>
        </p:txBody>
      </p:sp>
      <p:sp>
        <p:nvSpPr>
          <p:cNvPr id="241" name="Google Shape;241;p13: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54b45566f_1_0:notes"/>
          <p:cNvSpPr/>
          <p:nvPr>
            <p:ph idx="2" type="sldImg"/>
          </p:nvPr>
        </p:nvSpPr>
        <p:spPr>
          <a:xfrm>
            <a:off x="989012" y="766762"/>
            <a:ext cx="5119800" cy="38385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54b45566f_1_0:notes"/>
          <p:cNvSpPr txBox="1"/>
          <p:nvPr>
            <p:ph idx="1" type="body"/>
          </p:nvPr>
        </p:nvSpPr>
        <p:spPr>
          <a:xfrm>
            <a:off x="946150" y="4862512"/>
            <a:ext cx="5205300" cy="460380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248" name="Google Shape;248;g3f54b45566f_1_0:notes"/>
          <p:cNvSpPr txBox="1"/>
          <p:nvPr>
            <p:ph idx="12" type="sldNum"/>
          </p:nvPr>
        </p:nvSpPr>
        <p:spPr>
          <a:xfrm>
            <a:off x="4022725" y="9723437"/>
            <a:ext cx="3075000" cy="509700"/>
          </a:xfrm>
          <a:prstGeom prst="rect">
            <a:avLst/>
          </a:prstGeom>
        </p:spPr>
        <p:txBody>
          <a:bodyPr anchorCtr="0" anchor="b" bIns="47500" lIns="95025" spcFirstLastPara="1" rIns="95025" wrap="square" tIns="475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4: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255" name="Google Shape;255;p14: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5: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262" name="Google Shape;262;p15: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6: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269" name="Google Shape;269;p16: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7:notes"/>
          <p:cNvSpPr txBox="1"/>
          <p:nvPr>
            <p:ph idx="1" type="body"/>
          </p:nvPr>
        </p:nvSpPr>
        <p:spPr>
          <a:xfrm>
            <a:off x="946150" y="4862512"/>
            <a:ext cx="5205412" cy="460375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277" name="Google Shape;277;p17:notes"/>
          <p:cNvSpPr/>
          <p:nvPr>
            <p:ph idx="2" type="sldImg"/>
          </p:nvPr>
        </p:nvSpPr>
        <p:spPr>
          <a:xfrm>
            <a:off x="989012" y="766762"/>
            <a:ext cx="5119687"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51d9b582f_0_0:notes"/>
          <p:cNvSpPr/>
          <p:nvPr>
            <p:ph idx="2" type="sldImg"/>
          </p:nvPr>
        </p:nvSpPr>
        <p:spPr>
          <a:xfrm>
            <a:off x="989012" y="766762"/>
            <a:ext cx="5119800" cy="38385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f51d9b582f_0_0:notes"/>
          <p:cNvSpPr txBox="1"/>
          <p:nvPr>
            <p:ph idx="1" type="body"/>
          </p:nvPr>
        </p:nvSpPr>
        <p:spPr>
          <a:xfrm>
            <a:off x="946150" y="4862512"/>
            <a:ext cx="5205300" cy="460380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284" name="Google Shape;284;g3f51d9b582f_0_0:notes"/>
          <p:cNvSpPr txBox="1"/>
          <p:nvPr>
            <p:ph idx="12" type="sldNum"/>
          </p:nvPr>
        </p:nvSpPr>
        <p:spPr>
          <a:xfrm>
            <a:off x="4022725" y="9723437"/>
            <a:ext cx="3075000" cy="509700"/>
          </a:xfrm>
          <a:prstGeom prst="rect">
            <a:avLst/>
          </a:prstGeom>
        </p:spPr>
        <p:txBody>
          <a:bodyPr anchorCtr="0" anchor="b" bIns="47500" lIns="95025" spcFirstLastPara="1" rIns="95025" wrap="square" tIns="475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f51d9b582f_0_12:notes"/>
          <p:cNvSpPr/>
          <p:nvPr>
            <p:ph idx="2" type="sldImg"/>
          </p:nvPr>
        </p:nvSpPr>
        <p:spPr>
          <a:xfrm>
            <a:off x="989012" y="766762"/>
            <a:ext cx="5119800" cy="38385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f51d9b582f_0_12:notes"/>
          <p:cNvSpPr txBox="1"/>
          <p:nvPr>
            <p:ph idx="1" type="body"/>
          </p:nvPr>
        </p:nvSpPr>
        <p:spPr>
          <a:xfrm>
            <a:off x="946150" y="4862512"/>
            <a:ext cx="5205300" cy="460380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291" name="Google Shape;291;g3f51d9b582f_0_12:notes"/>
          <p:cNvSpPr txBox="1"/>
          <p:nvPr>
            <p:ph idx="12" type="sldNum"/>
          </p:nvPr>
        </p:nvSpPr>
        <p:spPr>
          <a:xfrm>
            <a:off x="4022725" y="9723437"/>
            <a:ext cx="3075000" cy="509700"/>
          </a:xfrm>
          <a:prstGeom prst="rect">
            <a:avLst/>
          </a:prstGeom>
        </p:spPr>
        <p:txBody>
          <a:bodyPr anchorCtr="0" anchor="b" bIns="47500" lIns="95025" spcFirstLastPara="1" rIns="95025" wrap="square" tIns="475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51d9b582f_0_6:notes"/>
          <p:cNvSpPr/>
          <p:nvPr>
            <p:ph idx="2" type="sldImg"/>
          </p:nvPr>
        </p:nvSpPr>
        <p:spPr>
          <a:xfrm>
            <a:off x="989012" y="766762"/>
            <a:ext cx="5119800" cy="38385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f51d9b582f_0_6:notes"/>
          <p:cNvSpPr txBox="1"/>
          <p:nvPr>
            <p:ph idx="1" type="body"/>
          </p:nvPr>
        </p:nvSpPr>
        <p:spPr>
          <a:xfrm>
            <a:off x="946150" y="4862512"/>
            <a:ext cx="5205300" cy="4603800"/>
          </a:xfrm>
          <a:prstGeom prst="rect">
            <a:avLst/>
          </a:prstGeom>
        </p:spPr>
        <p:txBody>
          <a:bodyPr anchorCtr="0" anchor="t" bIns="47500" lIns="95025" spcFirstLastPara="1" rIns="95025" wrap="square" tIns="47500">
            <a:noAutofit/>
          </a:bodyPr>
          <a:lstStyle/>
          <a:p>
            <a:pPr indent="0" lvl="0" marL="0" rtl="0" algn="l">
              <a:spcBef>
                <a:spcPts val="0"/>
              </a:spcBef>
              <a:spcAft>
                <a:spcPts val="0"/>
              </a:spcAft>
              <a:buNone/>
            </a:pPr>
            <a:r>
              <a:t/>
            </a:r>
            <a:endParaRPr/>
          </a:p>
        </p:txBody>
      </p:sp>
      <p:sp>
        <p:nvSpPr>
          <p:cNvPr id="298" name="Google Shape;298;g3f51d9b582f_0_6:notes"/>
          <p:cNvSpPr txBox="1"/>
          <p:nvPr>
            <p:ph idx="12" type="sldNum"/>
          </p:nvPr>
        </p:nvSpPr>
        <p:spPr>
          <a:xfrm>
            <a:off x="4022725" y="9723437"/>
            <a:ext cx="3075000" cy="509700"/>
          </a:xfrm>
          <a:prstGeom prst="rect">
            <a:avLst/>
          </a:prstGeom>
        </p:spPr>
        <p:txBody>
          <a:bodyPr anchorCtr="0" anchor="b" bIns="47500" lIns="95025" spcFirstLastPara="1" rIns="95025" wrap="square" tIns="475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type="title">
  <p:cSld name="TITLE">
    <p:spTree>
      <p:nvGrpSpPr>
        <p:cNvPr id="19" name="Shape 19"/>
        <p:cNvGrpSpPr/>
        <p:nvPr/>
      </p:nvGrpSpPr>
      <p:grpSpPr>
        <a:xfrm>
          <a:off x="0" y="0"/>
          <a:ext cx="0" cy="0"/>
          <a:chOff x="0" y="0"/>
          <a:chExt cx="0" cy="0"/>
        </a:xfrm>
      </p:grpSpPr>
      <p:sp>
        <p:nvSpPr>
          <p:cNvPr id="20" name="Google Shape;20;p19"/>
          <p:cNvSpPr txBox="1"/>
          <p:nvPr>
            <p:ph type="ctrTitle"/>
          </p:nvPr>
        </p:nvSpPr>
        <p:spPr>
          <a:xfrm>
            <a:off x="1143000" y="1122363"/>
            <a:ext cx="6858000" cy="2387600"/>
          </a:xfrm>
          <a:prstGeom prst="rect">
            <a:avLst/>
          </a:prstGeom>
          <a:noFill/>
          <a:ln>
            <a:noFill/>
          </a:ln>
        </p:spPr>
        <p:txBody>
          <a:bodyPr anchorCtr="0" anchor="b" bIns="46800" lIns="90000" spcFirstLastPara="1" rIns="90000" wrap="square" tIns="46800">
            <a:noAutofit/>
          </a:bodyPr>
          <a:lstStyle>
            <a:lvl1pPr lvl="0" algn="ctr">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9"/>
          <p:cNvSpPr txBox="1"/>
          <p:nvPr>
            <p:ph idx="1" type="subTitle"/>
          </p:nvPr>
        </p:nvSpPr>
        <p:spPr>
          <a:xfrm>
            <a:off x="1143000" y="3602038"/>
            <a:ext cx="6858000" cy="1655762"/>
          </a:xfrm>
          <a:prstGeom prst="rect">
            <a:avLst/>
          </a:prstGeom>
          <a:noFill/>
          <a:ln>
            <a:noFill/>
          </a:ln>
        </p:spPr>
        <p:txBody>
          <a:bodyPr anchorCtr="0" anchor="t" bIns="46800" lIns="90000" spcFirstLastPara="1" rIns="90000" wrap="square" tIns="46800">
            <a:noAutofit/>
          </a:bodyPr>
          <a:lstStyle>
            <a:lvl1pPr lvl="0" algn="ctr">
              <a:lnSpc>
                <a:spcPct val="100000"/>
              </a:lnSpc>
              <a:spcBef>
                <a:spcPts val="500"/>
              </a:spcBef>
              <a:spcAft>
                <a:spcPts val="0"/>
              </a:spcAft>
              <a:buSzPts val="2400"/>
              <a:buNone/>
              <a:defRPr sz="2400"/>
            </a:lvl1pPr>
            <a:lvl2pPr lvl="1" algn="ctr">
              <a:lnSpc>
                <a:spcPct val="100000"/>
              </a:lnSpc>
              <a:spcBef>
                <a:spcPts val="450"/>
              </a:spcBef>
              <a:spcAft>
                <a:spcPts val="0"/>
              </a:spcAft>
              <a:buSzPts val="2000"/>
              <a:buNone/>
              <a:defRPr sz="2000"/>
            </a:lvl2pPr>
            <a:lvl3pPr lvl="2" algn="ctr">
              <a:lnSpc>
                <a:spcPct val="100000"/>
              </a:lnSpc>
              <a:spcBef>
                <a:spcPts val="400"/>
              </a:spcBef>
              <a:spcAft>
                <a:spcPts val="0"/>
              </a:spcAft>
              <a:buSzPts val="1800"/>
              <a:buNone/>
              <a:defRPr sz="1800"/>
            </a:lvl3pPr>
            <a:lvl4pPr lvl="3" algn="ctr">
              <a:lnSpc>
                <a:spcPct val="100000"/>
              </a:lnSpc>
              <a:spcBef>
                <a:spcPts val="400"/>
              </a:spcBef>
              <a:spcAft>
                <a:spcPts val="0"/>
              </a:spcAft>
              <a:buSzPts val="1600"/>
              <a:buNone/>
              <a:defRPr sz="1600"/>
            </a:lvl4pPr>
            <a:lvl5pPr lvl="4" algn="ctr">
              <a:lnSpc>
                <a:spcPct val="100000"/>
              </a:lnSpc>
              <a:spcBef>
                <a:spcPts val="4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19"/>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9"/>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25" name="Shape 25"/>
        <p:cNvGrpSpPr/>
        <p:nvPr/>
      </p:nvGrpSpPr>
      <p:grpSpPr>
        <a:xfrm>
          <a:off x="0" y="0"/>
          <a:ext cx="0" cy="0"/>
          <a:chOff x="0" y="0"/>
          <a:chExt cx="0" cy="0"/>
        </a:xfrm>
      </p:grpSpPr>
      <p:sp>
        <p:nvSpPr>
          <p:cNvPr id="26" name="Google Shape;26;p20"/>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0"/>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0"/>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30" name="Shape 30"/>
        <p:cNvGrpSpPr/>
        <p:nvPr/>
      </p:nvGrpSpPr>
      <p:grpSpPr>
        <a:xfrm>
          <a:off x="0" y="0"/>
          <a:ext cx="0" cy="0"/>
          <a:chOff x="0" y="0"/>
          <a:chExt cx="0" cy="0"/>
        </a:xfrm>
      </p:grpSpPr>
      <p:sp>
        <p:nvSpPr>
          <p:cNvPr id="31" name="Google Shape;31;p21"/>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 type="body"/>
          </p:nvPr>
        </p:nvSpPr>
        <p:spPr>
          <a:xfrm>
            <a:off x="457200" y="1600200"/>
            <a:ext cx="8228012" cy="4524375"/>
          </a:xfrm>
          <a:prstGeom prst="rect">
            <a:avLst/>
          </a:prstGeom>
          <a:noFill/>
          <a:ln>
            <a:noFill/>
          </a:ln>
        </p:spPr>
        <p:txBody>
          <a:bodyPr anchorCtr="0" anchor="t" bIns="46800" lIns="90000" spcFirstLastPara="1" rIns="90000" wrap="square" tIns="46800">
            <a:noAutofit/>
          </a:bodyPr>
          <a:lstStyle>
            <a:lvl1pPr indent="-228600" lvl="0" marL="457200" algn="l">
              <a:lnSpc>
                <a:spcPct val="100000"/>
              </a:lnSpc>
              <a:spcBef>
                <a:spcPts val="500"/>
              </a:spcBef>
              <a:spcAft>
                <a:spcPts val="0"/>
              </a:spcAft>
              <a:buSzPts val="1400"/>
              <a:buNone/>
              <a:defRPr/>
            </a:lvl1pPr>
            <a:lvl2pPr indent="-228600" lvl="1" marL="914400" algn="l">
              <a:lnSpc>
                <a:spcPct val="100000"/>
              </a:lnSpc>
              <a:spcBef>
                <a:spcPts val="450"/>
              </a:spcBef>
              <a:spcAft>
                <a:spcPts val="0"/>
              </a:spcAft>
              <a:buSzPts val="1400"/>
              <a:buNone/>
              <a:defRPr/>
            </a:lvl2pPr>
            <a:lvl3pPr indent="-228600" lvl="2" marL="1371600" algn="l">
              <a:lnSpc>
                <a:spcPct val="100000"/>
              </a:lnSpc>
              <a:spcBef>
                <a:spcPts val="400"/>
              </a:spcBef>
              <a:spcAft>
                <a:spcPts val="0"/>
              </a:spcAft>
              <a:buSzPts val="1400"/>
              <a:buNone/>
              <a:defRPr/>
            </a:lvl3pPr>
            <a:lvl4pPr indent="-228600" lvl="3" marL="1828800" algn="l">
              <a:lnSpc>
                <a:spcPct val="100000"/>
              </a:lnSpc>
              <a:spcBef>
                <a:spcPts val="400"/>
              </a:spcBef>
              <a:spcAft>
                <a:spcPts val="0"/>
              </a:spcAft>
              <a:buSzPts val="1400"/>
              <a:buNone/>
              <a:defRPr/>
            </a:lvl4pPr>
            <a:lvl5pPr indent="-228600" lvl="4" marL="2286000" algn="l">
              <a:lnSpc>
                <a:spcPct val="100000"/>
              </a:lnSpc>
              <a:spcBef>
                <a:spcPts val="4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1"/>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1"/>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nutzerdefiniertes Layout">
  <p:cSld name="Benutzerdefiniertes Layout">
    <p:spTree>
      <p:nvGrpSpPr>
        <p:cNvPr id="36" name="Shape 36"/>
        <p:cNvGrpSpPr/>
        <p:nvPr/>
      </p:nvGrpSpPr>
      <p:grpSpPr>
        <a:xfrm>
          <a:off x="0" y="0"/>
          <a:ext cx="0" cy="0"/>
          <a:chOff x="0" y="0"/>
          <a:chExt cx="0" cy="0"/>
        </a:xfrm>
      </p:grpSpPr>
      <p:sp>
        <p:nvSpPr>
          <p:cNvPr id="37" name="Google Shape;37;p22"/>
          <p:cNvSpPr txBox="1"/>
          <p:nvPr>
            <p:ph type="title"/>
          </p:nvPr>
        </p:nvSpPr>
        <p:spPr>
          <a:xfrm>
            <a:off x="2051050" y="207963"/>
            <a:ext cx="3959225" cy="852487"/>
          </a:xfrm>
          <a:prstGeom prst="rect">
            <a:avLst/>
          </a:prstGeom>
          <a:noFill/>
          <a:ln>
            <a:noFill/>
          </a:ln>
        </p:spPr>
        <p:txBody>
          <a:bodyPr anchorCtr="0" anchor="b"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2"/>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kaler Titel und Text" type="vertTitleAndTx">
  <p:cSld name="VERTICAL_TITLE_AND_VERTICAL_TEXT">
    <p:spTree>
      <p:nvGrpSpPr>
        <p:cNvPr id="41" name="Shape 41"/>
        <p:cNvGrpSpPr/>
        <p:nvPr/>
      </p:nvGrpSpPr>
      <p:grpSpPr>
        <a:xfrm>
          <a:off x="0" y="0"/>
          <a:ext cx="0" cy="0"/>
          <a:chOff x="0" y="0"/>
          <a:chExt cx="0" cy="0"/>
        </a:xfrm>
      </p:grpSpPr>
      <p:sp>
        <p:nvSpPr>
          <p:cNvPr id="42" name="Google Shape;42;p23"/>
          <p:cNvSpPr txBox="1"/>
          <p:nvPr>
            <p:ph type="title"/>
          </p:nvPr>
        </p:nvSpPr>
        <p:spPr>
          <a:xfrm rot="5400000">
            <a:off x="4699001" y="2138362"/>
            <a:ext cx="5916612" cy="2055813"/>
          </a:xfrm>
          <a:prstGeom prst="rect">
            <a:avLst/>
          </a:prstGeom>
          <a:noFill/>
          <a:ln>
            <a:noFill/>
          </a:ln>
        </p:spPr>
        <p:txBody>
          <a:bodyPr anchorCtr="0" anchor="b"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3"/>
          <p:cNvSpPr txBox="1"/>
          <p:nvPr>
            <p:ph idx="1" type="body"/>
          </p:nvPr>
        </p:nvSpPr>
        <p:spPr>
          <a:xfrm rot="5400000">
            <a:off x="508794" y="156369"/>
            <a:ext cx="5916612" cy="6019800"/>
          </a:xfrm>
          <a:prstGeom prst="rect">
            <a:avLst/>
          </a:prstGeom>
          <a:noFill/>
          <a:ln>
            <a:noFill/>
          </a:ln>
        </p:spPr>
        <p:txBody>
          <a:bodyPr anchorCtr="0" anchor="t" bIns="46800" lIns="90000" spcFirstLastPara="1" rIns="90000" wrap="square" tIns="46800">
            <a:noAutofit/>
          </a:bodyPr>
          <a:lstStyle>
            <a:lvl1pPr indent="-228600" lvl="0" marL="457200" algn="l">
              <a:lnSpc>
                <a:spcPct val="100000"/>
              </a:lnSpc>
              <a:spcBef>
                <a:spcPts val="500"/>
              </a:spcBef>
              <a:spcAft>
                <a:spcPts val="0"/>
              </a:spcAft>
              <a:buSzPts val="1400"/>
              <a:buNone/>
              <a:defRPr/>
            </a:lvl1pPr>
            <a:lvl2pPr indent="-228600" lvl="1" marL="914400" algn="l">
              <a:lnSpc>
                <a:spcPct val="100000"/>
              </a:lnSpc>
              <a:spcBef>
                <a:spcPts val="450"/>
              </a:spcBef>
              <a:spcAft>
                <a:spcPts val="0"/>
              </a:spcAft>
              <a:buSzPts val="1400"/>
              <a:buNone/>
              <a:defRPr/>
            </a:lvl2pPr>
            <a:lvl3pPr indent="-228600" lvl="2" marL="1371600" algn="l">
              <a:lnSpc>
                <a:spcPct val="100000"/>
              </a:lnSpc>
              <a:spcBef>
                <a:spcPts val="400"/>
              </a:spcBef>
              <a:spcAft>
                <a:spcPts val="0"/>
              </a:spcAft>
              <a:buSzPts val="1400"/>
              <a:buNone/>
              <a:defRPr/>
            </a:lvl3pPr>
            <a:lvl4pPr indent="-228600" lvl="3" marL="1828800" algn="l">
              <a:lnSpc>
                <a:spcPct val="100000"/>
              </a:lnSpc>
              <a:spcBef>
                <a:spcPts val="400"/>
              </a:spcBef>
              <a:spcAft>
                <a:spcPts val="0"/>
              </a:spcAft>
              <a:buSzPts val="1400"/>
              <a:buNone/>
              <a:defRPr/>
            </a:lvl4pPr>
            <a:lvl5pPr indent="-228600" lvl="4" marL="2286000" algn="l">
              <a:lnSpc>
                <a:spcPct val="100000"/>
              </a:lnSpc>
              <a:spcBef>
                <a:spcPts val="4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3"/>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3"/>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3"/>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vertikaler Text" type="vertTx">
  <p:cSld name="VERTICAL_TEXT">
    <p:spTree>
      <p:nvGrpSpPr>
        <p:cNvPr id="47" name="Shape 47"/>
        <p:cNvGrpSpPr/>
        <p:nvPr/>
      </p:nvGrpSpPr>
      <p:grpSpPr>
        <a:xfrm>
          <a:off x="0" y="0"/>
          <a:ext cx="0" cy="0"/>
          <a:chOff x="0" y="0"/>
          <a:chExt cx="0" cy="0"/>
        </a:xfrm>
      </p:grpSpPr>
      <p:sp>
        <p:nvSpPr>
          <p:cNvPr id="48" name="Google Shape;48;p24"/>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4"/>
          <p:cNvSpPr txBox="1"/>
          <p:nvPr>
            <p:ph idx="1" type="body"/>
          </p:nvPr>
        </p:nvSpPr>
        <p:spPr>
          <a:xfrm rot="5400000">
            <a:off x="2309018" y="-251619"/>
            <a:ext cx="4524375" cy="8228012"/>
          </a:xfrm>
          <a:prstGeom prst="rect">
            <a:avLst/>
          </a:prstGeom>
          <a:noFill/>
          <a:ln>
            <a:noFill/>
          </a:ln>
        </p:spPr>
        <p:txBody>
          <a:bodyPr anchorCtr="0" anchor="t" bIns="46800" lIns="90000" spcFirstLastPara="1" rIns="90000" wrap="square" tIns="46800">
            <a:noAutofit/>
          </a:bodyPr>
          <a:lstStyle>
            <a:lvl1pPr indent="-228600" lvl="0" marL="457200" algn="l">
              <a:lnSpc>
                <a:spcPct val="100000"/>
              </a:lnSpc>
              <a:spcBef>
                <a:spcPts val="500"/>
              </a:spcBef>
              <a:spcAft>
                <a:spcPts val="0"/>
              </a:spcAft>
              <a:buSzPts val="1400"/>
              <a:buNone/>
              <a:defRPr/>
            </a:lvl1pPr>
            <a:lvl2pPr indent="-228600" lvl="1" marL="914400" algn="l">
              <a:lnSpc>
                <a:spcPct val="100000"/>
              </a:lnSpc>
              <a:spcBef>
                <a:spcPts val="450"/>
              </a:spcBef>
              <a:spcAft>
                <a:spcPts val="0"/>
              </a:spcAft>
              <a:buSzPts val="1400"/>
              <a:buNone/>
              <a:defRPr/>
            </a:lvl2pPr>
            <a:lvl3pPr indent="-228600" lvl="2" marL="1371600" algn="l">
              <a:lnSpc>
                <a:spcPct val="100000"/>
              </a:lnSpc>
              <a:spcBef>
                <a:spcPts val="400"/>
              </a:spcBef>
              <a:spcAft>
                <a:spcPts val="0"/>
              </a:spcAft>
              <a:buSzPts val="1400"/>
              <a:buNone/>
              <a:defRPr/>
            </a:lvl3pPr>
            <a:lvl4pPr indent="-228600" lvl="3" marL="1828800" algn="l">
              <a:lnSpc>
                <a:spcPct val="100000"/>
              </a:lnSpc>
              <a:spcBef>
                <a:spcPts val="400"/>
              </a:spcBef>
              <a:spcAft>
                <a:spcPts val="0"/>
              </a:spcAft>
              <a:buSzPts val="1400"/>
              <a:buNone/>
              <a:defRPr/>
            </a:lvl4pPr>
            <a:lvl5pPr indent="-228600" lvl="4" marL="2286000" algn="l">
              <a:lnSpc>
                <a:spcPct val="100000"/>
              </a:lnSpc>
              <a:spcBef>
                <a:spcPts val="4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4"/>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Überschrift" type="picTx">
  <p:cSld name="PICTURE_WITH_CAPTION_TEXT">
    <p:spTree>
      <p:nvGrpSpPr>
        <p:cNvPr id="53" name="Shape 53"/>
        <p:cNvGrpSpPr/>
        <p:nvPr/>
      </p:nvGrpSpPr>
      <p:grpSpPr>
        <a:xfrm>
          <a:off x="0" y="0"/>
          <a:ext cx="0" cy="0"/>
          <a:chOff x="0" y="0"/>
          <a:chExt cx="0" cy="0"/>
        </a:xfrm>
      </p:grpSpPr>
      <p:sp>
        <p:nvSpPr>
          <p:cNvPr id="54" name="Google Shape;54;p25"/>
          <p:cNvSpPr txBox="1"/>
          <p:nvPr>
            <p:ph type="title"/>
          </p:nvPr>
        </p:nvSpPr>
        <p:spPr>
          <a:xfrm>
            <a:off x="630238" y="457200"/>
            <a:ext cx="2949575" cy="1600200"/>
          </a:xfrm>
          <a:prstGeom prst="rect">
            <a:avLst/>
          </a:prstGeom>
          <a:noFill/>
          <a:ln>
            <a:noFill/>
          </a:ln>
        </p:spPr>
        <p:txBody>
          <a:bodyPr anchorCtr="0" anchor="b" bIns="46800" lIns="90000" spcFirstLastPara="1" rIns="90000" wrap="square" tIns="4680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p:nvPr>
            <p:ph idx="2" type="pic"/>
          </p:nvPr>
        </p:nvSpPr>
        <p:spPr>
          <a:xfrm>
            <a:off x="3887788" y="987425"/>
            <a:ext cx="4629150" cy="4873625"/>
          </a:xfrm>
          <a:prstGeom prst="rect">
            <a:avLst/>
          </a:prstGeom>
          <a:noFill/>
          <a:ln>
            <a:noFill/>
          </a:ln>
        </p:spPr>
      </p:sp>
      <p:sp>
        <p:nvSpPr>
          <p:cNvPr id="56" name="Google Shape;56;p25"/>
          <p:cNvSpPr txBox="1"/>
          <p:nvPr>
            <p:ph idx="1" type="body"/>
          </p:nvPr>
        </p:nvSpPr>
        <p:spPr>
          <a:xfrm>
            <a:off x="630238" y="2057400"/>
            <a:ext cx="2949575" cy="3811588"/>
          </a:xfrm>
          <a:prstGeom prst="rect">
            <a:avLst/>
          </a:prstGeom>
          <a:noFill/>
          <a:ln>
            <a:noFill/>
          </a:ln>
        </p:spPr>
        <p:txBody>
          <a:bodyPr anchorCtr="0" anchor="t" bIns="46800" lIns="90000" spcFirstLastPara="1" rIns="90000" wrap="square" tIns="46800">
            <a:noAutofit/>
          </a:bodyPr>
          <a:lstStyle>
            <a:lvl1pPr indent="-228600" lvl="0" marL="457200" algn="l">
              <a:lnSpc>
                <a:spcPct val="100000"/>
              </a:lnSpc>
              <a:spcBef>
                <a:spcPts val="500"/>
              </a:spcBef>
              <a:spcAft>
                <a:spcPts val="0"/>
              </a:spcAft>
              <a:buSzPts val="1600"/>
              <a:buNone/>
              <a:defRPr sz="1600"/>
            </a:lvl1pPr>
            <a:lvl2pPr indent="-228600" lvl="1" marL="914400" algn="l">
              <a:lnSpc>
                <a:spcPct val="100000"/>
              </a:lnSpc>
              <a:spcBef>
                <a:spcPts val="450"/>
              </a:spcBef>
              <a:spcAft>
                <a:spcPts val="0"/>
              </a:spcAft>
              <a:buSzPts val="1400"/>
              <a:buNone/>
              <a:defRPr sz="1400"/>
            </a:lvl2pPr>
            <a:lvl3pPr indent="-228600" lvl="2" marL="1371600" algn="l">
              <a:lnSpc>
                <a:spcPct val="100000"/>
              </a:lnSpc>
              <a:spcBef>
                <a:spcPts val="400"/>
              </a:spcBef>
              <a:spcAft>
                <a:spcPts val="0"/>
              </a:spcAft>
              <a:buSzPts val="1200"/>
              <a:buNone/>
              <a:defRPr sz="1200"/>
            </a:lvl3pPr>
            <a:lvl4pPr indent="-228600" lvl="3" marL="1828800" algn="l">
              <a:lnSpc>
                <a:spcPct val="100000"/>
              </a:lnSpc>
              <a:spcBef>
                <a:spcPts val="400"/>
              </a:spcBef>
              <a:spcAft>
                <a:spcPts val="0"/>
              </a:spcAft>
              <a:buSzPts val="1000"/>
              <a:buNone/>
              <a:defRPr sz="1000"/>
            </a:lvl4pPr>
            <a:lvl5pPr indent="-228600" lvl="4" marL="2286000" algn="l">
              <a:lnSpc>
                <a:spcPct val="100000"/>
              </a:lnSpc>
              <a:spcBef>
                <a:spcPts val="4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5"/>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5"/>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5"/>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Überschrift" type="objTx">
  <p:cSld name="OBJECT_WITH_CAPTION_TEXT">
    <p:spTree>
      <p:nvGrpSpPr>
        <p:cNvPr id="60" name="Shape 60"/>
        <p:cNvGrpSpPr/>
        <p:nvPr/>
      </p:nvGrpSpPr>
      <p:grpSpPr>
        <a:xfrm>
          <a:off x="0" y="0"/>
          <a:ext cx="0" cy="0"/>
          <a:chOff x="0" y="0"/>
          <a:chExt cx="0" cy="0"/>
        </a:xfrm>
      </p:grpSpPr>
      <p:sp>
        <p:nvSpPr>
          <p:cNvPr id="61" name="Google Shape;61;p26"/>
          <p:cNvSpPr txBox="1"/>
          <p:nvPr>
            <p:ph type="title"/>
          </p:nvPr>
        </p:nvSpPr>
        <p:spPr>
          <a:xfrm>
            <a:off x="630238" y="457200"/>
            <a:ext cx="2949575" cy="1600200"/>
          </a:xfrm>
          <a:prstGeom prst="rect">
            <a:avLst/>
          </a:prstGeom>
          <a:noFill/>
          <a:ln>
            <a:noFill/>
          </a:ln>
        </p:spPr>
        <p:txBody>
          <a:bodyPr anchorCtr="0" anchor="b" bIns="46800" lIns="90000" spcFirstLastPara="1" rIns="90000" wrap="square" tIns="4680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6"/>
          <p:cNvSpPr txBox="1"/>
          <p:nvPr>
            <p:ph idx="1" type="body"/>
          </p:nvPr>
        </p:nvSpPr>
        <p:spPr>
          <a:xfrm>
            <a:off x="3887788" y="987425"/>
            <a:ext cx="4629150" cy="4873625"/>
          </a:xfrm>
          <a:prstGeom prst="rect">
            <a:avLst/>
          </a:prstGeom>
          <a:noFill/>
          <a:ln>
            <a:noFill/>
          </a:ln>
        </p:spPr>
        <p:txBody>
          <a:bodyPr anchorCtr="0" anchor="t" bIns="46800" lIns="90000" spcFirstLastPara="1" rIns="90000" wrap="square" tIns="46800">
            <a:noAutofit/>
          </a:bodyPr>
          <a:lstStyle>
            <a:lvl1pPr indent="-228600" lvl="0" marL="457200" algn="l">
              <a:lnSpc>
                <a:spcPct val="100000"/>
              </a:lnSpc>
              <a:spcBef>
                <a:spcPts val="500"/>
              </a:spcBef>
              <a:spcAft>
                <a:spcPts val="0"/>
              </a:spcAft>
              <a:buSzPts val="1400"/>
              <a:buNone/>
              <a:defRPr sz="3200"/>
            </a:lvl1pPr>
            <a:lvl2pPr indent="-228600" lvl="1" marL="914400" algn="l">
              <a:lnSpc>
                <a:spcPct val="100000"/>
              </a:lnSpc>
              <a:spcBef>
                <a:spcPts val="450"/>
              </a:spcBef>
              <a:spcAft>
                <a:spcPts val="0"/>
              </a:spcAft>
              <a:buSzPts val="1400"/>
              <a:buNone/>
              <a:defRPr sz="2800"/>
            </a:lvl2pPr>
            <a:lvl3pPr indent="-228600" lvl="2" marL="1371600" algn="l">
              <a:lnSpc>
                <a:spcPct val="100000"/>
              </a:lnSpc>
              <a:spcBef>
                <a:spcPts val="400"/>
              </a:spcBef>
              <a:spcAft>
                <a:spcPts val="0"/>
              </a:spcAft>
              <a:buSzPts val="1400"/>
              <a:buNone/>
              <a:defRPr sz="2400"/>
            </a:lvl3pPr>
            <a:lvl4pPr indent="-228600" lvl="3" marL="1828800" algn="l">
              <a:lnSpc>
                <a:spcPct val="100000"/>
              </a:lnSpc>
              <a:spcBef>
                <a:spcPts val="400"/>
              </a:spcBef>
              <a:spcAft>
                <a:spcPts val="0"/>
              </a:spcAft>
              <a:buSzPts val="1400"/>
              <a:buNone/>
              <a:defRPr sz="2000"/>
            </a:lvl4pPr>
            <a:lvl5pPr indent="-228600" lvl="4" marL="2286000" algn="l">
              <a:lnSpc>
                <a:spcPct val="100000"/>
              </a:lnSpc>
              <a:spcBef>
                <a:spcPts val="400"/>
              </a:spcBef>
              <a:spcAft>
                <a:spcPts val="0"/>
              </a:spcAft>
              <a:buSzPts val="14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26"/>
          <p:cNvSpPr txBox="1"/>
          <p:nvPr>
            <p:ph idx="2" type="body"/>
          </p:nvPr>
        </p:nvSpPr>
        <p:spPr>
          <a:xfrm>
            <a:off x="630238" y="2057400"/>
            <a:ext cx="2949575" cy="3811588"/>
          </a:xfrm>
          <a:prstGeom prst="rect">
            <a:avLst/>
          </a:prstGeom>
          <a:noFill/>
          <a:ln>
            <a:noFill/>
          </a:ln>
        </p:spPr>
        <p:txBody>
          <a:bodyPr anchorCtr="0" anchor="t" bIns="46800" lIns="90000" spcFirstLastPara="1" rIns="90000" wrap="square" tIns="46800">
            <a:noAutofit/>
          </a:bodyPr>
          <a:lstStyle>
            <a:lvl1pPr indent="-228600" lvl="0" marL="457200" algn="l">
              <a:lnSpc>
                <a:spcPct val="100000"/>
              </a:lnSpc>
              <a:spcBef>
                <a:spcPts val="500"/>
              </a:spcBef>
              <a:spcAft>
                <a:spcPts val="0"/>
              </a:spcAft>
              <a:buSzPts val="1600"/>
              <a:buNone/>
              <a:defRPr sz="1600"/>
            </a:lvl1pPr>
            <a:lvl2pPr indent="-228600" lvl="1" marL="914400" algn="l">
              <a:lnSpc>
                <a:spcPct val="100000"/>
              </a:lnSpc>
              <a:spcBef>
                <a:spcPts val="450"/>
              </a:spcBef>
              <a:spcAft>
                <a:spcPts val="0"/>
              </a:spcAft>
              <a:buSzPts val="1400"/>
              <a:buNone/>
              <a:defRPr sz="1400"/>
            </a:lvl2pPr>
            <a:lvl3pPr indent="-228600" lvl="2" marL="1371600" algn="l">
              <a:lnSpc>
                <a:spcPct val="100000"/>
              </a:lnSpc>
              <a:spcBef>
                <a:spcPts val="400"/>
              </a:spcBef>
              <a:spcAft>
                <a:spcPts val="0"/>
              </a:spcAft>
              <a:buSzPts val="1200"/>
              <a:buNone/>
              <a:defRPr sz="1200"/>
            </a:lvl3pPr>
            <a:lvl4pPr indent="-228600" lvl="3" marL="1828800" algn="l">
              <a:lnSpc>
                <a:spcPct val="100000"/>
              </a:lnSpc>
              <a:spcBef>
                <a:spcPts val="400"/>
              </a:spcBef>
              <a:spcAft>
                <a:spcPts val="0"/>
              </a:spcAft>
              <a:buSzPts val="1000"/>
              <a:buNone/>
              <a:defRPr sz="1000"/>
            </a:lvl4pPr>
            <a:lvl5pPr indent="-228600" lvl="4" marL="2286000" algn="l">
              <a:lnSpc>
                <a:spcPct val="100000"/>
              </a:lnSpc>
              <a:spcBef>
                <a:spcPts val="4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26"/>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6"/>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6"/>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67" name="Shape 67"/>
        <p:cNvGrpSpPr/>
        <p:nvPr/>
      </p:nvGrpSpPr>
      <p:grpSpPr>
        <a:xfrm>
          <a:off x="0" y="0"/>
          <a:ext cx="0" cy="0"/>
          <a:chOff x="0" y="0"/>
          <a:chExt cx="0" cy="0"/>
        </a:xfrm>
      </p:grpSpPr>
      <p:sp>
        <p:nvSpPr>
          <p:cNvPr id="68" name="Google Shape;68;p27"/>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7"/>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71" name="Shape 71"/>
        <p:cNvGrpSpPr/>
        <p:nvPr/>
      </p:nvGrpSpPr>
      <p:grpSpPr>
        <a:xfrm>
          <a:off x="0" y="0"/>
          <a:ext cx="0" cy="0"/>
          <a:chOff x="0" y="0"/>
          <a:chExt cx="0" cy="0"/>
        </a:xfrm>
      </p:grpSpPr>
      <p:sp>
        <p:nvSpPr>
          <p:cNvPr id="72" name="Google Shape;72;p28"/>
          <p:cNvSpPr txBox="1"/>
          <p:nvPr>
            <p:ph type="title"/>
          </p:nvPr>
        </p:nvSpPr>
        <p:spPr>
          <a:xfrm>
            <a:off x="630238" y="365125"/>
            <a:ext cx="7886700" cy="1325563"/>
          </a:xfrm>
          <a:prstGeom prst="rect">
            <a:avLst/>
          </a:prstGeom>
          <a:noFill/>
          <a:ln>
            <a:noFill/>
          </a:ln>
        </p:spPr>
        <p:txBody>
          <a:bodyPr anchorCtr="0" anchor="b"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 type="body"/>
          </p:nvPr>
        </p:nvSpPr>
        <p:spPr>
          <a:xfrm>
            <a:off x="630238" y="1681163"/>
            <a:ext cx="3868737" cy="823912"/>
          </a:xfrm>
          <a:prstGeom prst="rect">
            <a:avLst/>
          </a:prstGeom>
          <a:noFill/>
          <a:ln>
            <a:noFill/>
          </a:ln>
        </p:spPr>
        <p:txBody>
          <a:bodyPr anchorCtr="0" anchor="b" bIns="46800" lIns="90000" spcFirstLastPara="1" rIns="90000" wrap="square" tIns="46800">
            <a:noAutofit/>
          </a:bodyPr>
          <a:lstStyle>
            <a:lvl1pPr indent="-228600" lvl="0" marL="457200" algn="l">
              <a:lnSpc>
                <a:spcPct val="100000"/>
              </a:lnSpc>
              <a:spcBef>
                <a:spcPts val="500"/>
              </a:spcBef>
              <a:spcAft>
                <a:spcPts val="0"/>
              </a:spcAft>
              <a:buSzPts val="2400"/>
              <a:buNone/>
              <a:defRPr b="1" sz="2400"/>
            </a:lvl1pPr>
            <a:lvl2pPr indent="-228600" lvl="1" marL="914400" algn="l">
              <a:lnSpc>
                <a:spcPct val="100000"/>
              </a:lnSpc>
              <a:spcBef>
                <a:spcPts val="45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4" name="Google Shape;74;p28"/>
          <p:cNvSpPr txBox="1"/>
          <p:nvPr>
            <p:ph idx="2" type="body"/>
          </p:nvPr>
        </p:nvSpPr>
        <p:spPr>
          <a:xfrm>
            <a:off x="630238" y="2505075"/>
            <a:ext cx="3868737" cy="3684588"/>
          </a:xfrm>
          <a:prstGeom prst="rect">
            <a:avLst/>
          </a:prstGeom>
          <a:noFill/>
          <a:ln>
            <a:noFill/>
          </a:ln>
        </p:spPr>
        <p:txBody>
          <a:bodyPr anchorCtr="0" anchor="t" bIns="46800" lIns="90000" spcFirstLastPara="1" rIns="90000" wrap="square" tIns="46800">
            <a:noAutofit/>
          </a:bodyPr>
          <a:lstStyle>
            <a:lvl1pPr indent="-228600" lvl="0" marL="457200" algn="l">
              <a:lnSpc>
                <a:spcPct val="100000"/>
              </a:lnSpc>
              <a:spcBef>
                <a:spcPts val="500"/>
              </a:spcBef>
              <a:spcAft>
                <a:spcPts val="0"/>
              </a:spcAft>
              <a:buSzPts val="1400"/>
              <a:buNone/>
              <a:defRPr/>
            </a:lvl1pPr>
            <a:lvl2pPr indent="-228600" lvl="1" marL="914400" algn="l">
              <a:lnSpc>
                <a:spcPct val="100000"/>
              </a:lnSpc>
              <a:spcBef>
                <a:spcPts val="450"/>
              </a:spcBef>
              <a:spcAft>
                <a:spcPts val="0"/>
              </a:spcAft>
              <a:buSzPts val="1400"/>
              <a:buNone/>
              <a:defRPr/>
            </a:lvl2pPr>
            <a:lvl3pPr indent="-228600" lvl="2" marL="1371600" algn="l">
              <a:lnSpc>
                <a:spcPct val="100000"/>
              </a:lnSpc>
              <a:spcBef>
                <a:spcPts val="400"/>
              </a:spcBef>
              <a:spcAft>
                <a:spcPts val="0"/>
              </a:spcAft>
              <a:buSzPts val="1400"/>
              <a:buNone/>
              <a:defRPr/>
            </a:lvl3pPr>
            <a:lvl4pPr indent="-228600" lvl="3" marL="1828800" algn="l">
              <a:lnSpc>
                <a:spcPct val="100000"/>
              </a:lnSpc>
              <a:spcBef>
                <a:spcPts val="400"/>
              </a:spcBef>
              <a:spcAft>
                <a:spcPts val="0"/>
              </a:spcAft>
              <a:buSzPts val="1400"/>
              <a:buNone/>
              <a:defRPr/>
            </a:lvl4pPr>
            <a:lvl5pPr indent="-228600" lvl="4" marL="2286000" algn="l">
              <a:lnSpc>
                <a:spcPct val="100000"/>
              </a:lnSpc>
              <a:spcBef>
                <a:spcPts val="4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8"/>
          <p:cNvSpPr txBox="1"/>
          <p:nvPr>
            <p:ph idx="3" type="body"/>
          </p:nvPr>
        </p:nvSpPr>
        <p:spPr>
          <a:xfrm>
            <a:off x="4629150" y="1681163"/>
            <a:ext cx="3887788" cy="823912"/>
          </a:xfrm>
          <a:prstGeom prst="rect">
            <a:avLst/>
          </a:prstGeom>
          <a:noFill/>
          <a:ln>
            <a:noFill/>
          </a:ln>
        </p:spPr>
        <p:txBody>
          <a:bodyPr anchorCtr="0" anchor="b" bIns="46800" lIns="90000" spcFirstLastPara="1" rIns="90000" wrap="square" tIns="46800">
            <a:noAutofit/>
          </a:bodyPr>
          <a:lstStyle>
            <a:lvl1pPr indent="-228600" lvl="0" marL="457200" algn="l">
              <a:lnSpc>
                <a:spcPct val="100000"/>
              </a:lnSpc>
              <a:spcBef>
                <a:spcPts val="500"/>
              </a:spcBef>
              <a:spcAft>
                <a:spcPts val="0"/>
              </a:spcAft>
              <a:buSzPts val="2400"/>
              <a:buNone/>
              <a:defRPr b="1" sz="2400"/>
            </a:lvl1pPr>
            <a:lvl2pPr indent="-228600" lvl="1" marL="914400" algn="l">
              <a:lnSpc>
                <a:spcPct val="100000"/>
              </a:lnSpc>
              <a:spcBef>
                <a:spcPts val="45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6" name="Google Shape;76;p28"/>
          <p:cNvSpPr txBox="1"/>
          <p:nvPr>
            <p:ph idx="4" type="body"/>
          </p:nvPr>
        </p:nvSpPr>
        <p:spPr>
          <a:xfrm>
            <a:off x="4629150" y="2505075"/>
            <a:ext cx="3887788" cy="3684588"/>
          </a:xfrm>
          <a:prstGeom prst="rect">
            <a:avLst/>
          </a:prstGeom>
          <a:noFill/>
          <a:ln>
            <a:noFill/>
          </a:ln>
        </p:spPr>
        <p:txBody>
          <a:bodyPr anchorCtr="0" anchor="t" bIns="46800" lIns="90000" spcFirstLastPara="1" rIns="90000" wrap="square" tIns="46800">
            <a:noAutofit/>
          </a:bodyPr>
          <a:lstStyle>
            <a:lvl1pPr indent="-228600" lvl="0" marL="457200" algn="l">
              <a:lnSpc>
                <a:spcPct val="100000"/>
              </a:lnSpc>
              <a:spcBef>
                <a:spcPts val="500"/>
              </a:spcBef>
              <a:spcAft>
                <a:spcPts val="0"/>
              </a:spcAft>
              <a:buSzPts val="1400"/>
              <a:buNone/>
              <a:defRPr/>
            </a:lvl1pPr>
            <a:lvl2pPr indent="-228600" lvl="1" marL="914400" algn="l">
              <a:lnSpc>
                <a:spcPct val="100000"/>
              </a:lnSpc>
              <a:spcBef>
                <a:spcPts val="450"/>
              </a:spcBef>
              <a:spcAft>
                <a:spcPts val="0"/>
              </a:spcAft>
              <a:buSzPts val="1400"/>
              <a:buNone/>
              <a:defRPr/>
            </a:lvl2pPr>
            <a:lvl3pPr indent="-228600" lvl="2" marL="1371600" algn="l">
              <a:lnSpc>
                <a:spcPct val="100000"/>
              </a:lnSpc>
              <a:spcBef>
                <a:spcPts val="400"/>
              </a:spcBef>
              <a:spcAft>
                <a:spcPts val="0"/>
              </a:spcAft>
              <a:buSzPts val="1400"/>
              <a:buNone/>
              <a:defRPr/>
            </a:lvl3pPr>
            <a:lvl4pPr indent="-228600" lvl="3" marL="1828800" algn="l">
              <a:lnSpc>
                <a:spcPct val="100000"/>
              </a:lnSpc>
              <a:spcBef>
                <a:spcPts val="400"/>
              </a:spcBef>
              <a:spcAft>
                <a:spcPts val="0"/>
              </a:spcAft>
              <a:buSzPts val="1400"/>
              <a:buNone/>
              <a:defRPr/>
            </a:lvl4pPr>
            <a:lvl5pPr indent="-228600" lvl="4" marL="2286000" algn="l">
              <a:lnSpc>
                <a:spcPct val="100000"/>
              </a:lnSpc>
              <a:spcBef>
                <a:spcPts val="4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8"/>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8"/>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8"/>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80" name="Shape 80"/>
        <p:cNvGrpSpPr/>
        <p:nvPr/>
      </p:nvGrpSpPr>
      <p:grpSpPr>
        <a:xfrm>
          <a:off x="0" y="0"/>
          <a:ext cx="0" cy="0"/>
          <a:chOff x="0" y="0"/>
          <a:chExt cx="0" cy="0"/>
        </a:xfrm>
      </p:grpSpPr>
      <p:sp>
        <p:nvSpPr>
          <p:cNvPr id="81" name="Google Shape;81;p29"/>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 type="body"/>
          </p:nvPr>
        </p:nvSpPr>
        <p:spPr>
          <a:xfrm>
            <a:off x="457200" y="1600200"/>
            <a:ext cx="4037013" cy="4524375"/>
          </a:xfrm>
          <a:prstGeom prst="rect">
            <a:avLst/>
          </a:prstGeom>
          <a:noFill/>
          <a:ln>
            <a:noFill/>
          </a:ln>
        </p:spPr>
        <p:txBody>
          <a:bodyPr anchorCtr="0" anchor="t" bIns="46800" lIns="90000" spcFirstLastPara="1" rIns="90000" wrap="square" tIns="46800">
            <a:noAutofit/>
          </a:bodyPr>
          <a:lstStyle>
            <a:lvl1pPr indent="-228600" lvl="0" marL="457200" algn="l">
              <a:lnSpc>
                <a:spcPct val="100000"/>
              </a:lnSpc>
              <a:spcBef>
                <a:spcPts val="500"/>
              </a:spcBef>
              <a:spcAft>
                <a:spcPts val="0"/>
              </a:spcAft>
              <a:buSzPts val="1400"/>
              <a:buNone/>
              <a:defRPr/>
            </a:lvl1pPr>
            <a:lvl2pPr indent="-228600" lvl="1" marL="914400" algn="l">
              <a:lnSpc>
                <a:spcPct val="100000"/>
              </a:lnSpc>
              <a:spcBef>
                <a:spcPts val="450"/>
              </a:spcBef>
              <a:spcAft>
                <a:spcPts val="0"/>
              </a:spcAft>
              <a:buSzPts val="1400"/>
              <a:buNone/>
              <a:defRPr/>
            </a:lvl2pPr>
            <a:lvl3pPr indent="-228600" lvl="2" marL="1371600" algn="l">
              <a:lnSpc>
                <a:spcPct val="100000"/>
              </a:lnSpc>
              <a:spcBef>
                <a:spcPts val="400"/>
              </a:spcBef>
              <a:spcAft>
                <a:spcPts val="0"/>
              </a:spcAft>
              <a:buSzPts val="1400"/>
              <a:buNone/>
              <a:defRPr/>
            </a:lvl3pPr>
            <a:lvl4pPr indent="-228600" lvl="3" marL="1828800" algn="l">
              <a:lnSpc>
                <a:spcPct val="100000"/>
              </a:lnSpc>
              <a:spcBef>
                <a:spcPts val="400"/>
              </a:spcBef>
              <a:spcAft>
                <a:spcPts val="0"/>
              </a:spcAft>
              <a:buSzPts val="1400"/>
              <a:buNone/>
              <a:defRPr/>
            </a:lvl4pPr>
            <a:lvl5pPr indent="-228600" lvl="4" marL="2286000" algn="l">
              <a:lnSpc>
                <a:spcPct val="100000"/>
              </a:lnSpc>
              <a:spcBef>
                <a:spcPts val="4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29"/>
          <p:cNvSpPr txBox="1"/>
          <p:nvPr>
            <p:ph idx="2" type="body"/>
          </p:nvPr>
        </p:nvSpPr>
        <p:spPr>
          <a:xfrm>
            <a:off x="4646613" y="1600200"/>
            <a:ext cx="4038600" cy="4524375"/>
          </a:xfrm>
          <a:prstGeom prst="rect">
            <a:avLst/>
          </a:prstGeom>
          <a:noFill/>
          <a:ln>
            <a:noFill/>
          </a:ln>
        </p:spPr>
        <p:txBody>
          <a:bodyPr anchorCtr="0" anchor="t" bIns="46800" lIns="90000" spcFirstLastPara="1" rIns="90000" wrap="square" tIns="46800">
            <a:noAutofit/>
          </a:bodyPr>
          <a:lstStyle>
            <a:lvl1pPr indent="-228600" lvl="0" marL="457200" algn="l">
              <a:lnSpc>
                <a:spcPct val="100000"/>
              </a:lnSpc>
              <a:spcBef>
                <a:spcPts val="500"/>
              </a:spcBef>
              <a:spcAft>
                <a:spcPts val="0"/>
              </a:spcAft>
              <a:buSzPts val="1400"/>
              <a:buNone/>
              <a:defRPr/>
            </a:lvl1pPr>
            <a:lvl2pPr indent="-228600" lvl="1" marL="914400" algn="l">
              <a:lnSpc>
                <a:spcPct val="100000"/>
              </a:lnSpc>
              <a:spcBef>
                <a:spcPts val="450"/>
              </a:spcBef>
              <a:spcAft>
                <a:spcPts val="0"/>
              </a:spcAft>
              <a:buSzPts val="1400"/>
              <a:buNone/>
              <a:defRPr/>
            </a:lvl2pPr>
            <a:lvl3pPr indent="-228600" lvl="2" marL="1371600" algn="l">
              <a:lnSpc>
                <a:spcPct val="100000"/>
              </a:lnSpc>
              <a:spcBef>
                <a:spcPts val="400"/>
              </a:spcBef>
              <a:spcAft>
                <a:spcPts val="0"/>
              </a:spcAft>
              <a:buSzPts val="1400"/>
              <a:buNone/>
              <a:defRPr/>
            </a:lvl3pPr>
            <a:lvl4pPr indent="-228600" lvl="3" marL="1828800" algn="l">
              <a:lnSpc>
                <a:spcPct val="100000"/>
              </a:lnSpc>
              <a:spcBef>
                <a:spcPts val="400"/>
              </a:spcBef>
              <a:spcAft>
                <a:spcPts val="0"/>
              </a:spcAft>
              <a:buSzPts val="1400"/>
              <a:buNone/>
              <a:defRPr/>
            </a:lvl4pPr>
            <a:lvl5pPr indent="-228600" lvl="4" marL="2286000" algn="l">
              <a:lnSpc>
                <a:spcPct val="100000"/>
              </a:lnSpc>
              <a:spcBef>
                <a:spcPts val="4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29"/>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9"/>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9"/>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10;überschrift" type="secHead">
  <p:cSld name="SECTION_HEADER">
    <p:spTree>
      <p:nvGrpSpPr>
        <p:cNvPr id="87" name="Shape 87"/>
        <p:cNvGrpSpPr/>
        <p:nvPr/>
      </p:nvGrpSpPr>
      <p:grpSpPr>
        <a:xfrm>
          <a:off x="0" y="0"/>
          <a:ext cx="0" cy="0"/>
          <a:chOff x="0" y="0"/>
          <a:chExt cx="0" cy="0"/>
        </a:xfrm>
      </p:grpSpPr>
      <p:sp>
        <p:nvSpPr>
          <p:cNvPr id="88" name="Google Shape;88;p30"/>
          <p:cNvSpPr txBox="1"/>
          <p:nvPr>
            <p:ph type="title"/>
          </p:nvPr>
        </p:nvSpPr>
        <p:spPr>
          <a:xfrm>
            <a:off x="623888" y="1709738"/>
            <a:ext cx="7886700" cy="2852737"/>
          </a:xfrm>
          <a:prstGeom prst="rect">
            <a:avLst/>
          </a:prstGeom>
          <a:noFill/>
          <a:ln>
            <a:noFill/>
          </a:ln>
        </p:spPr>
        <p:txBody>
          <a:bodyPr anchorCtr="0" anchor="b" bIns="46800" lIns="90000" spcFirstLastPara="1" rIns="90000" wrap="square" tIns="46800">
            <a:noAutofit/>
          </a:bodyPr>
          <a:lstStyle>
            <a:lvl1pPr lvl="0" algn="l">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0"/>
          <p:cNvSpPr txBox="1"/>
          <p:nvPr>
            <p:ph idx="1" type="body"/>
          </p:nvPr>
        </p:nvSpPr>
        <p:spPr>
          <a:xfrm>
            <a:off x="623888" y="4589463"/>
            <a:ext cx="7886700" cy="1500187"/>
          </a:xfrm>
          <a:prstGeom prst="rect">
            <a:avLst/>
          </a:prstGeom>
          <a:noFill/>
          <a:ln>
            <a:noFill/>
          </a:ln>
        </p:spPr>
        <p:txBody>
          <a:bodyPr anchorCtr="0" anchor="t" bIns="46800" lIns="90000" spcFirstLastPara="1" rIns="90000" wrap="square" tIns="46800">
            <a:noAutofit/>
          </a:bodyPr>
          <a:lstStyle>
            <a:lvl1pPr indent="-228600" lvl="0" marL="457200" algn="l">
              <a:lnSpc>
                <a:spcPct val="100000"/>
              </a:lnSpc>
              <a:spcBef>
                <a:spcPts val="500"/>
              </a:spcBef>
              <a:spcAft>
                <a:spcPts val="0"/>
              </a:spcAft>
              <a:buSzPts val="2400"/>
              <a:buNone/>
              <a:defRPr sz="2400"/>
            </a:lvl1pPr>
            <a:lvl2pPr indent="-228600" lvl="1" marL="914400" algn="l">
              <a:lnSpc>
                <a:spcPct val="100000"/>
              </a:lnSpc>
              <a:spcBef>
                <a:spcPts val="450"/>
              </a:spcBef>
              <a:spcAft>
                <a:spcPts val="0"/>
              </a:spcAft>
              <a:buSzPts val="2000"/>
              <a:buNone/>
              <a:defRPr sz="2000"/>
            </a:lvl2pPr>
            <a:lvl3pPr indent="-228600" lvl="2" marL="1371600" algn="l">
              <a:lnSpc>
                <a:spcPct val="100000"/>
              </a:lnSpc>
              <a:spcBef>
                <a:spcPts val="400"/>
              </a:spcBef>
              <a:spcAft>
                <a:spcPts val="0"/>
              </a:spcAft>
              <a:buSzPts val="1800"/>
              <a:buNone/>
              <a:defRPr sz="1800"/>
            </a:lvl3pPr>
            <a:lvl4pPr indent="-228600" lvl="3" marL="1828800" algn="l">
              <a:lnSpc>
                <a:spcPct val="100000"/>
              </a:lnSpc>
              <a:spcBef>
                <a:spcPts val="400"/>
              </a:spcBef>
              <a:spcAft>
                <a:spcPts val="0"/>
              </a:spcAft>
              <a:buSzPts val="1600"/>
              <a:buNone/>
              <a:defRPr sz="1600"/>
            </a:lvl4pPr>
            <a:lvl5pPr indent="-228600" lvl="4" marL="2286000" algn="l">
              <a:lnSpc>
                <a:spcPct val="100000"/>
              </a:lnSpc>
              <a:spcBef>
                <a:spcPts val="400"/>
              </a:spcBef>
              <a:spcAft>
                <a:spcPts val="0"/>
              </a:spcAft>
              <a:buSzPts val="1600"/>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90" name="Google Shape;90;p30"/>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0"/>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0"/>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 name="Shape 10"/>
        <p:cNvGrpSpPr/>
        <p:nvPr/>
      </p:nvGrpSpPr>
      <p:grpSpPr>
        <a:xfrm>
          <a:off x="0" y="0"/>
          <a:ext cx="0" cy="0"/>
          <a:chOff x="0" y="0"/>
          <a:chExt cx="0" cy="0"/>
        </a:xfrm>
      </p:grpSpPr>
      <p:pic>
        <p:nvPicPr>
          <p:cNvPr id="11" name="Google Shape;11;p18"/>
          <p:cNvPicPr preferRelativeResize="0"/>
          <p:nvPr/>
        </p:nvPicPr>
        <p:blipFill rotWithShape="1">
          <a:blip r:embed="rId1">
            <a:alphaModFix/>
          </a:blip>
          <a:srcRect b="0" l="0" r="0" t="0"/>
          <a:stretch/>
        </p:blipFill>
        <p:spPr>
          <a:xfrm>
            <a:off x="3175" y="0"/>
            <a:ext cx="9137650" cy="6867525"/>
          </a:xfrm>
          <a:prstGeom prst="rect">
            <a:avLst/>
          </a:prstGeom>
          <a:noFill/>
          <a:ln>
            <a:noFill/>
          </a:ln>
        </p:spPr>
      </p:pic>
      <p:sp>
        <p:nvSpPr>
          <p:cNvPr id="12" name="Google Shape;12;p18"/>
          <p:cNvSpPr txBox="1"/>
          <p:nvPr/>
        </p:nvSpPr>
        <p:spPr>
          <a:xfrm>
            <a:off x="152400" y="6550025"/>
            <a:ext cx="2919412" cy="246062"/>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rgbClr val="808080"/>
              </a:buClr>
              <a:buSzPts val="1000"/>
              <a:buFont typeface="Arial"/>
              <a:buNone/>
            </a:pPr>
            <a:r>
              <a:rPr b="0" i="0" lang="en-US" sz="1000" u="none" cap="none" strike="noStrike">
                <a:solidFill>
                  <a:srgbClr val="808080"/>
                </a:solidFill>
                <a:latin typeface="Arial"/>
                <a:ea typeface="Arial"/>
                <a:cs typeface="Arial"/>
                <a:sym typeface="Arial"/>
              </a:rPr>
              <a:t>Krengel &amp; Geng</a:t>
            </a:r>
            <a:endParaRPr b="0" i="0" sz="1400" u="none" cap="none" strike="noStrike">
              <a:solidFill>
                <a:srgbClr val="000000"/>
              </a:solidFill>
              <a:latin typeface="Arial"/>
              <a:ea typeface="Arial"/>
              <a:cs typeface="Arial"/>
              <a:sym typeface="Arial"/>
            </a:endParaRPr>
          </a:p>
        </p:txBody>
      </p:sp>
      <p:sp>
        <p:nvSpPr>
          <p:cNvPr id="13" name="Google Shape;13;p18"/>
          <p:cNvSpPr txBox="1"/>
          <p:nvPr/>
        </p:nvSpPr>
        <p:spPr>
          <a:xfrm>
            <a:off x="6019800" y="6550025"/>
            <a:ext cx="2971800" cy="246062"/>
          </a:xfrm>
          <a:prstGeom prst="rect">
            <a:avLst/>
          </a:prstGeom>
          <a:noFill/>
          <a:ln>
            <a:noFill/>
          </a:ln>
        </p:spPr>
        <p:txBody>
          <a:bodyPr anchorCtr="0" anchor="t" bIns="46800" lIns="90000" spcFirstLastPara="1" rIns="90000" wrap="square" tIns="46800">
            <a:noAutofit/>
          </a:bodyPr>
          <a:lstStyle/>
          <a:p>
            <a:pPr indent="0" lvl="0" marL="0" marR="0" rtl="0" algn="r">
              <a:lnSpc>
                <a:spcPct val="100000"/>
              </a:lnSpc>
              <a:spcBef>
                <a:spcPts val="0"/>
              </a:spcBef>
              <a:spcAft>
                <a:spcPts val="0"/>
              </a:spcAft>
              <a:buClr>
                <a:srgbClr val="808080"/>
              </a:buClr>
              <a:buSzPts val="1000"/>
              <a:buFont typeface="Arial"/>
              <a:buNone/>
            </a:pPr>
            <a:r>
              <a:rPr b="0" i="0" lang="en-US" sz="1000" u="none" cap="none" strike="noStrike">
                <a:solidFill>
                  <a:srgbClr val="808080"/>
                </a:solidFill>
                <a:latin typeface="Arial"/>
                <a:ea typeface="Arial"/>
                <a:cs typeface="Arial"/>
                <a:sym typeface="Arial"/>
              </a:rPr>
              <a:t>Slide </a:t>
            </a:r>
            <a:fld id="{00000000-1234-1234-1234-123412341234}" type="slidenum">
              <a:rPr b="0" i="0" lang="en-US" sz="1000" u="none" cap="none" strike="noStrike">
                <a:solidFill>
                  <a:srgbClr val="80808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 name="Google Shape;14;p18"/>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lvl1pPr lvl="0" marR="0" rtl="0" algn="l">
              <a:lnSpc>
                <a:spcPct val="100000"/>
              </a:lnSpc>
              <a:spcBef>
                <a:spcPts val="0"/>
              </a:spcBef>
              <a:spcAft>
                <a:spcPts val="0"/>
              </a:spcAft>
              <a:buClr>
                <a:srgbClr val="000000"/>
              </a:buClr>
              <a:buSzPts val="1400"/>
              <a:buFont typeface="Arial"/>
              <a:buNone/>
              <a:defRPr b="1" i="0" sz="1600" u="none" cap="none" strike="noStrike">
                <a:solidFill>
                  <a:srgbClr val="006C3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1600" u="none" cap="none" strike="noStrike">
                <a:solidFill>
                  <a:srgbClr val="006C3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1600" u="none" cap="none" strike="noStrike">
                <a:solidFill>
                  <a:srgbClr val="006C3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1600" u="none" cap="none" strike="noStrike">
                <a:solidFill>
                  <a:srgbClr val="006C3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1600" u="none" cap="none" strike="noStrike">
                <a:solidFill>
                  <a:srgbClr val="006C3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1600" u="none" cap="none" strike="noStrike">
                <a:solidFill>
                  <a:srgbClr val="006C3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1600" u="none" cap="none" strike="noStrike">
                <a:solidFill>
                  <a:srgbClr val="006C3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1600" u="none" cap="none" strike="noStrike">
                <a:solidFill>
                  <a:srgbClr val="006C3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1600" u="none" cap="none" strike="noStrike">
                <a:solidFill>
                  <a:srgbClr val="006C31"/>
                </a:solidFill>
                <a:latin typeface="Arial"/>
                <a:ea typeface="Arial"/>
                <a:cs typeface="Arial"/>
                <a:sym typeface="Arial"/>
              </a:defRPr>
            </a:lvl9pPr>
          </a:lstStyle>
          <a:p/>
        </p:txBody>
      </p:sp>
      <p:sp>
        <p:nvSpPr>
          <p:cNvPr id="15" name="Google Shape;15;p18"/>
          <p:cNvSpPr txBox="1"/>
          <p:nvPr>
            <p:ph idx="1" type="body"/>
          </p:nvPr>
        </p:nvSpPr>
        <p:spPr>
          <a:xfrm>
            <a:off x="457200" y="1600200"/>
            <a:ext cx="8228012" cy="4524375"/>
          </a:xfrm>
          <a:prstGeom prst="rect">
            <a:avLst/>
          </a:prstGeom>
          <a:noFill/>
          <a:ln>
            <a:noFill/>
          </a:ln>
        </p:spPr>
        <p:txBody>
          <a:bodyPr anchorCtr="0" anchor="t" bIns="46800" lIns="90000" spcFirstLastPara="1" rIns="90000" wrap="square" tIns="46800">
            <a:noAutofit/>
          </a:bodyPr>
          <a:lstStyle>
            <a:lvl1pPr indent="-228600" lvl="0" marL="457200" marR="0" rtl="0" algn="l">
              <a:lnSpc>
                <a:spcPct val="100000"/>
              </a:lnSpc>
              <a:spcBef>
                <a:spcPts val="500"/>
              </a:spcBef>
              <a:spcAft>
                <a:spcPts val="0"/>
              </a:spcAft>
              <a:buClr>
                <a:srgbClr val="000000"/>
              </a:buClr>
              <a:buSzPts val="1400"/>
              <a:buFont typeface="Arial"/>
              <a:buNone/>
              <a:defRPr b="0" i="0" sz="2000" u="none" cap="none" strike="noStrike">
                <a:solidFill>
                  <a:srgbClr val="006C31"/>
                </a:solidFill>
                <a:latin typeface="Arial"/>
                <a:ea typeface="Arial"/>
                <a:cs typeface="Arial"/>
                <a:sym typeface="Arial"/>
              </a:defRPr>
            </a:lvl1pPr>
            <a:lvl2pPr indent="-228600" lvl="1" marL="914400" marR="0" rtl="0" algn="l">
              <a:lnSpc>
                <a:spcPct val="100000"/>
              </a:lnSpc>
              <a:spcBef>
                <a:spcPts val="450"/>
              </a:spcBef>
              <a:spcAft>
                <a:spcPts val="0"/>
              </a:spcAft>
              <a:buClr>
                <a:srgbClr val="000000"/>
              </a:buClr>
              <a:buSzPts val="1400"/>
              <a:buFont typeface="Arial"/>
              <a:buNone/>
              <a:defRPr b="0" i="0" sz="1800" u="none" cap="none" strike="noStrike">
                <a:solidFill>
                  <a:srgbClr val="006C31"/>
                </a:solidFill>
                <a:latin typeface="Arial"/>
                <a:ea typeface="Arial"/>
                <a:cs typeface="Arial"/>
                <a:sym typeface="Arial"/>
              </a:defRPr>
            </a:lvl2pPr>
            <a:lvl3pPr indent="-228600" lvl="2" marL="1371600" marR="0" rtl="0" algn="l">
              <a:lnSpc>
                <a:spcPct val="100000"/>
              </a:lnSpc>
              <a:spcBef>
                <a:spcPts val="400"/>
              </a:spcBef>
              <a:spcAft>
                <a:spcPts val="0"/>
              </a:spcAft>
              <a:buClr>
                <a:srgbClr val="000000"/>
              </a:buClr>
              <a:buSzPts val="1400"/>
              <a:buFont typeface="Arial"/>
              <a:buNone/>
              <a:defRPr b="0" i="0" sz="1600" u="none" cap="none" strike="noStrike">
                <a:solidFill>
                  <a:srgbClr val="006C31"/>
                </a:solidFill>
                <a:latin typeface="Arial"/>
                <a:ea typeface="Arial"/>
                <a:cs typeface="Arial"/>
                <a:sym typeface="Arial"/>
              </a:defRPr>
            </a:lvl3pPr>
            <a:lvl4pPr indent="-228600" lvl="3" marL="1828800" marR="0" rtl="0" algn="l">
              <a:lnSpc>
                <a:spcPct val="100000"/>
              </a:lnSpc>
              <a:spcBef>
                <a:spcPts val="400"/>
              </a:spcBef>
              <a:spcAft>
                <a:spcPts val="0"/>
              </a:spcAft>
              <a:buClr>
                <a:srgbClr val="000000"/>
              </a:buClr>
              <a:buSzPts val="1400"/>
              <a:buFont typeface="Arial"/>
              <a:buNone/>
              <a:defRPr b="0" i="0" sz="1600" u="none" cap="none" strike="noStrike">
                <a:solidFill>
                  <a:srgbClr val="006C31"/>
                </a:solidFill>
                <a:latin typeface="Arial"/>
                <a:ea typeface="Arial"/>
                <a:cs typeface="Arial"/>
                <a:sym typeface="Arial"/>
              </a:defRPr>
            </a:lvl4pPr>
            <a:lvl5pPr indent="-228600" lvl="4" marL="2286000" marR="0" rtl="0" algn="l">
              <a:lnSpc>
                <a:spcPct val="100000"/>
              </a:lnSpc>
              <a:spcBef>
                <a:spcPts val="400"/>
              </a:spcBef>
              <a:spcAft>
                <a:spcPts val="0"/>
              </a:spcAft>
              <a:buClr>
                <a:srgbClr val="000000"/>
              </a:buClr>
              <a:buSzPts val="1400"/>
              <a:buFont typeface="Arial"/>
              <a:buNone/>
              <a:defRPr b="0" i="0" sz="1600" u="none" cap="none" strike="noStrike">
                <a:solidFill>
                  <a:srgbClr val="006C3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6" name="Google Shape;16;p18"/>
          <p:cNvSpPr txBox="1"/>
          <p:nvPr>
            <p:ph idx="10" type="dt"/>
          </p:nvPr>
        </p:nvSpPr>
        <p:spPr>
          <a:xfrm>
            <a:off x="457200" y="6246812"/>
            <a:ext cx="2128837" cy="471487"/>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9pPr>
          </a:lstStyle>
          <a:p/>
        </p:txBody>
      </p:sp>
      <p:sp>
        <p:nvSpPr>
          <p:cNvPr id="17" name="Google Shape;17;p18"/>
          <p:cNvSpPr txBox="1"/>
          <p:nvPr>
            <p:ph idx="11" type="ftr"/>
          </p:nvPr>
        </p:nvSpPr>
        <p:spPr>
          <a:xfrm>
            <a:off x="3127375" y="6246812"/>
            <a:ext cx="2897187" cy="471487"/>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chemeClr val="lt1"/>
                </a:solidFill>
                <a:latin typeface="Arial"/>
                <a:ea typeface="Arial"/>
                <a:cs typeface="Arial"/>
                <a:sym typeface="Arial"/>
              </a:defRPr>
            </a:lvl9pPr>
          </a:lstStyle>
          <a:p/>
        </p:txBody>
      </p:sp>
      <p:sp>
        <p:nvSpPr>
          <p:cNvPr id="18" name="Google Shape;18;p18"/>
          <p:cNvSpPr txBox="1"/>
          <p:nvPr>
            <p:ph idx="12" type="sldNum"/>
          </p:nvPr>
        </p:nvSpPr>
        <p:spPr>
          <a:xfrm>
            <a:off x="6556375" y="6246812"/>
            <a:ext cx="2128837" cy="471487"/>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1pPr>
            <a:lvl2pPr indent="0" lvl="1" marL="0" marR="0" rtl="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2pPr>
            <a:lvl3pPr indent="0" lvl="2" marL="0" marR="0" rtl="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3pPr>
            <a:lvl4pPr indent="0" lvl="3" marL="0" marR="0" rtl="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4pPr>
            <a:lvl5pPr indent="0" lvl="4" marL="0" marR="0" rtl="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5pPr>
            <a:lvl6pPr indent="0" lvl="5" marL="0" marR="0" rtl="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6pPr>
            <a:lvl7pPr indent="0" lvl="6" marL="0" marR="0" rtl="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7pPr>
            <a:lvl8pPr indent="0" lvl="7" marL="0" marR="0" rtl="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8pPr>
            <a:lvl9pPr indent="0" lvl="8" marL="0" marR="0" rtl="0" algn="l">
              <a:lnSpc>
                <a:spcPct val="100000"/>
              </a:lnSpc>
              <a:spcBef>
                <a:spcPts val="0"/>
              </a:spcBef>
              <a:spcAft>
                <a:spcPts val="0"/>
              </a:spcAft>
              <a:buClr>
                <a:srgbClr val="006C31"/>
              </a:buClr>
              <a:buSzPts val="2000"/>
              <a:buFont typeface="Arial"/>
              <a:buNone/>
              <a:defRPr b="0" i="0" sz="2000" u="none" cap="none" strike="noStrike">
                <a:solidFill>
                  <a:srgbClr val="006C3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
          <p:cNvSpPr txBox="1"/>
          <p:nvPr>
            <p:ph type="ctrTitle"/>
          </p:nvPr>
        </p:nvSpPr>
        <p:spPr>
          <a:xfrm>
            <a:off x="1143000" y="1122363"/>
            <a:ext cx="6858000" cy="2387600"/>
          </a:xfrm>
          <a:prstGeom prst="rect">
            <a:avLst/>
          </a:prstGeom>
          <a:noFill/>
          <a:ln>
            <a:noFill/>
          </a:ln>
        </p:spPr>
        <p:txBody>
          <a:bodyPr anchorCtr="0" anchor="b" bIns="46800" lIns="90000" spcFirstLastPara="1" rIns="90000" wrap="square" tIns="46800">
            <a:noAutofit/>
          </a:bodyPr>
          <a:lstStyle/>
          <a:p>
            <a:pPr indent="0" lvl="0" marL="0" rtl="0" algn="ctr">
              <a:lnSpc>
                <a:spcPct val="100000"/>
              </a:lnSpc>
              <a:spcBef>
                <a:spcPts val="0"/>
              </a:spcBef>
              <a:spcAft>
                <a:spcPts val="0"/>
              </a:spcAft>
              <a:buSzPts val="1400"/>
              <a:buNone/>
            </a:pPr>
            <a:r>
              <a:rPr lang="en-US" sz="2400"/>
              <a:t>Quantifying Process Model Generalization: A Generative N-gram Metric and a Cross-Paradigm Benchmark</a:t>
            </a:r>
            <a:endParaRPr/>
          </a:p>
        </p:txBody>
      </p:sp>
      <p:sp>
        <p:nvSpPr>
          <p:cNvPr id="99" name="Google Shape;99;p1"/>
          <p:cNvSpPr txBox="1"/>
          <p:nvPr>
            <p:ph idx="1" type="subTitle"/>
          </p:nvPr>
        </p:nvSpPr>
        <p:spPr>
          <a:xfrm>
            <a:off x="1371600" y="3886200"/>
            <a:ext cx="6400800" cy="1415008"/>
          </a:xfrm>
          <a:prstGeom prst="rect">
            <a:avLst/>
          </a:prstGeom>
          <a:noFill/>
          <a:ln>
            <a:noFill/>
          </a:ln>
        </p:spPr>
        <p:txBody>
          <a:bodyPr anchorCtr="0" anchor="t" bIns="46800" lIns="90000" spcFirstLastPara="1" rIns="90000" wrap="square" tIns="46800">
            <a:normAutofit lnSpcReduction="10000"/>
          </a:bodyPr>
          <a:lstStyle/>
          <a:p>
            <a:pPr indent="-228600" lvl="0" marL="457200" rtl="0" algn="ctr">
              <a:lnSpc>
                <a:spcPct val="100000"/>
              </a:lnSpc>
              <a:spcBef>
                <a:spcPts val="500"/>
              </a:spcBef>
              <a:spcAft>
                <a:spcPts val="0"/>
              </a:spcAft>
              <a:buSzPts val="2400"/>
              <a:buNone/>
            </a:pPr>
            <a:r>
              <a:rPr lang="en-US" sz="2600"/>
              <a:t>Practical Process Mining</a:t>
            </a:r>
            <a:endParaRPr/>
          </a:p>
          <a:p>
            <a:pPr indent="-228600" lvl="0" marL="457200" rtl="0" algn="ctr">
              <a:lnSpc>
                <a:spcPct val="100000"/>
              </a:lnSpc>
              <a:spcBef>
                <a:spcPts val="500"/>
              </a:spcBef>
              <a:spcAft>
                <a:spcPts val="0"/>
              </a:spcAft>
              <a:buSzPts val="2400"/>
              <a:buNone/>
            </a:pPr>
            <a:r>
              <a:rPr lang="en-US"/>
              <a:t>Christian Daniel Krengel, Tianhao Geng</a:t>
            </a:r>
            <a:endParaRPr/>
          </a:p>
          <a:p>
            <a:pPr indent="-228600" lvl="0" marL="457200" rtl="0" algn="ctr">
              <a:lnSpc>
                <a:spcPct val="100000"/>
              </a:lnSpc>
              <a:spcBef>
                <a:spcPts val="500"/>
              </a:spcBef>
              <a:spcAft>
                <a:spcPts val="0"/>
              </a:spcAft>
              <a:buSzPts val="2400"/>
              <a:buNone/>
            </a:pPr>
            <a:r>
              <a:rPr lang="en-US" sz="2600"/>
              <a:t>17.07.2026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lang="en-US" sz="1800">
                <a:solidFill>
                  <a:srgbClr val="3A3A3A"/>
                </a:solidFill>
              </a:rPr>
              <a:t>Generalization: the least validated dimension</a:t>
            </a:r>
            <a:endParaRPr/>
          </a:p>
        </p:txBody>
      </p:sp>
      <p:sp>
        <p:nvSpPr>
          <p:cNvPr id="106" name="Google Shape;106;p2"/>
          <p:cNvSpPr txBox="1"/>
          <p:nvPr/>
        </p:nvSpPr>
        <p:spPr>
          <a:xfrm>
            <a:off x="548640" y="1325880"/>
            <a:ext cx="8046720" cy="2308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404040"/>
                </a:solidFill>
                <a:latin typeface="Calibri"/>
                <a:ea typeface="Calibri"/>
                <a:cs typeface="Calibri"/>
                <a:sym typeface="Calibri"/>
              </a:rPr>
              <a:t>A process model is judged on </a:t>
            </a:r>
            <a:r>
              <a:rPr b="1" i="0" lang="en-US" sz="1500" u="none" cap="none" strike="noStrike">
                <a:solidFill>
                  <a:srgbClr val="404040"/>
                </a:solidFill>
                <a:latin typeface="Calibri"/>
                <a:ea typeface="Calibri"/>
                <a:cs typeface="Calibri"/>
                <a:sym typeface="Calibri"/>
              </a:rPr>
              <a:t>four quality dimensions.</a:t>
            </a:r>
            <a:endParaRPr/>
          </a:p>
        </p:txBody>
      </p:sp>
      <p:sp>
        <p:nvSpPr>
          <p:cNvPr id="107" name="Google Shape;107;p2"/>
          <p:cNvSpPr/>
          <p:nvPr/>
        </p:nvSpPr>
        <p:spPr>
          <a:xfrm>
            <a:off x="548640" y="1965960"/>
            <a:ext cx="1874519" cy="1325880"/>
          </a:xfrm>
          <a:prstGeom prst="roundRect">
            <a:avLst>
              <a:gd fmla="val 16667" name="adj"/>
            </a:avLst>
          </a:prstGeom>
          <a:solidFill>
            <a:srgbClr val="F2F2F2"/>
          </a:solidFill>
          <a:ln cap="flat" cmpd="sng" w="12700">
            <a:solidFill>
              <a:srgbClr val="CFD4D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 name="Google Shape;108;p2"/>
          <p:cNvSpPr txBox="1"/>
          <p:nvPr/>
        </p:nvSpPr>
        <p:spPr>
          <a:xfrm>
            <a:off x="713232" y="2148840"/>
            <a:ext cx="1545336"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3A3A3A"/>
                </a:solidFill>
                <a:latin typeface="Calibri"/>
                <a:ea typeface="Calibri"/>
                <a:cs typeface="Calibri"/>
                <a:sym typeface="Calibri"/>
              </a:rPr>
              <a:t>Fitness</a:t>
            </a:r>
            <a:endParaRPr/>
          </a:p>
        </p:txBody>
      </p:sp>
      <p:sp>
        <p:nvSpPr>
          <p:cNvPr id="109" name="Google Shape;109;p2"/>
          <p:cNvSpPr txBox="1"/>
          <p:nvPr/>
        </p:nvSpPr>
        <p:spPr>
          <a:xfrm>
            <a:off x="713232" y="2578608"/>
            <a:ext cx="1545336" cy="6400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808080"/>
                </a:solidFill>
                <a:latin typeface="Calibri"/>
                <a:ea typeface="Calibri"/>
                <a:cs typeface="Calibri"/>
                <a:sym typeface="Calibri"/>
              </a:rPr>
              <a:t>allows observed behavior</a:t>
            </a:r>
            <a:endParaRPr/>
          </a:p>
        </p:txBody>
      </p:sp>
      <p:sp>
        <p:nvSpPr>
          <p:cNvPr id="110" name="Google Shape;110;p2"/>
          <p:cNvSpPr/>
          <p:nvPr/>
        </p:nvSpPr>
        <p:spPr>
          <a:xfrm>
            <a:off x="2624328" y="1965960"/>
            <a:ext cx="1874519" cy="1325880"/>
          </a:xfrm>
          <a:prstGeom prst="roundRect">
            <a:avLst>
              <a:gd fmla="val 16667" name="adj"/>
            </a:avLst>
          </a:prstGeom>
          <a:solidFill>
            <a:srgbClr val="F2F2F2"/>
          </a:solidFill>
          <a:ln cap="flat" cmpd="sng" w="12700">
            <a:solidFill>
              <a:srgbClr val="CFD4D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1" name="Google Shape;111;p2"/>
          <p:cNvSpPr txBox="1"/>
          <p:nvPr/>
        </p:nvSpPr>
        <p:spPr>
          <a:xfrm>
            <a:off x="2788920" y="2148840"/>
            <a:ext cx="1545336"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3A3A3A"/>
                </a:solidFill>
                <a:latin typeface="Calibri"/>
                <a:ea typeface="Calibri"/>
                <a:cs typeface="Calibri"/>
                <a:sym typeface="Calibri"/>
              </a:rPr>
              <a:t>Precision</a:t>
            </a:r>
            <a:endParaRPr/>
          </a:p>
        </p:txBody>
      </p:sp>
      <p:sp>
        <p:nvSpPr>
          <p:cNvPr id="112" name="Google Shape;112;p2"/>
          <p:cNvSpPr txBox="1"/>
          <p:nvPr/>
        </p:nvSpPr>
        <p:spPr>
          <a:xfrm>
            <a:off x="2788920" y="2578608"/>
            <a:ext cx="1545336" cy="6400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808080"/>
                </a:solidFill>
                <a:latin typeface="Calibri"/>
                <a:ea typeface="Calibri"/>
                <a:cs typeface="Calibri"/>
                <a:sym typeface="Calibri"/>
              </a:rPr>
              <a:t>forbids invalid behavior</a:t>
            </a:r>
            <a:endParaRPr/>
          </a:p>
        </p:txBody>
      </p:sp>
      <p:sp>
        <p:nvSpPr>
          <p:cNvPr id="113" name="Google Shape;113;p2"/>
          <p:cNvSpPr/>
          <p:nvPr/>
        </p:nvSpPr>
        <p:spPr>
          <a:xfrm>
            <a:off x="4700016" y="1965960"/>
            <a:ext cx="1874519" cy="1325880"/>
          </a:xfrm>
          <a:prstGeom prst="roundRect">
            <a:avLst>
              <a:gd fmla="val 16667" name="adj"/>
            </a:avLst>
          </a:prstGeom>
          <a:solidFill>
            <a:srgbClr val="F2F2F2"/>
          </a:solidFill>
          <a:ln cap="flat" cmpd="sng" w="12700">
            <a:solidFill>
              <a:srgbClr val="CFD4D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4" name="Google Shape;114;p2"/>
          <p:cNvSpPr txBox="1"/>
          <p:nvPr/>
        </p:nvSpPr>
        <p:spPr>
          <a:xfrm>
            <a:off x="4864607" y="2148840"/>
            <a:ext cx="1545336"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3A3A3A"/>
                </a:solidFill>
                <a:latin typeface="Calibri"/>
                <a:ea typeface="Calibri"/>
                <a:cs typeface="Calibri"/>
                <a:sym typeface="Calibri"/>
              </a:rPr>
              <a:t>Simplicity</a:t>
            </a:r>
            <a:endParaRPr/>
          </a:p>
        </p:txBody>
      </p:sp>
      <p:sp>
        <p:nvSpPr>
          <p:cNvPr id="115" name="Google Shape;115;p2"/>
          <p:cNvSpPr txBox="1"/>
          <p:nvPr/>
        </p:nvSpPr>
        <p:spPr>
          <a:xfrm>
            <a:off x="4864607" y="2578608"/>
            <a:ext cx="1545336" cy="6400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808080"/>
                </a:solidFill>
                <a:latin typeface="Calibri"/>
                <a:ea typeface="Calibri"/>
                <a:cs typeface="Calibri"/>
                <a:sym typeface="Calibri"/>
              </a:rPr>
              <a:t>structurally sparse</a:t>
            </a:r>
            <a:endParaRPr/>
          </a:p>
        </p:txBody>
      </p:sp>
      <p:sp>
        <p:nvSpPr>
          <p:cNvPr id="116" name="Google Shape;116;p2"/>
          <p:cNvSpPr/>
          <p:nvPr/>
        </p:nvSpPr>
        <p:spPr>
          <a:xfrm>
            <a:off x="6775704" y="1965960"/>
            <a:ext cx="1874519" cy="1325880"/>
          </a:xfrm>
          <a:prstGeom prst="roundRect">
            <a:avLst>
              <a:gd fmla="val 16667" name="adj"/>
            </a:avLst>
          </a:prstGeom>
          <a:solidFill>
            <a:srgbClr val="E7ECF3"/>
          </a:solidFill>
          <a:ln cap="flat" cmpd="sng" w="12700">
            <a:solidFill>
              <a:srgbClr val="1F49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7" name="Google Shape;117;p2"/>
          <p:cNvSpPr txBox="1"/>
          <p:nvPr/>
        </p:nvSpPr>
        <p:spPr>
          <a:xfrm>
            <a:off x="6940296" y="2148840"/>
            <a:ext cx="1545336"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F497D"/>
                </a:solidFill>
                <a:latin typeface="Calibri"/>
                <a:ea typeface="Calibri"/>
                <a:cs typeface="Calibri"/>
                <a:sym typeface="Calibri"/>
              </a:rPr>
              <a:t>Generalization</a:t>
            </a:r>
            <a:endParaRPr/>
          </a:p>
        </p:txBody>
      </p:sp>
      <p:sp>
        <p:nvSpPr>
          <p:cNvPr id="118" name="Google Shape;118;p2"/>
          <p:cNvSpPr txBox="1"/>
          <p:nvPr/>
        </p:nvSpPr>
        <p:spPr>
          <a:xfrm>
            <a:off x="6940296" y="2578608"/>
            <a:ext cx="1545336" cy="6400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150" u="none" cap="none" strike="noStrike">
                <a:solidFill>
                  <a:srgbClr val="808080"/>
                </a:solidFill>
                <a:latin typeface="Calibri"/>
                <a:ea typeface="Calibri"/>
                <a:cs typeface="Calibri"/>
                <a:sym typeface="Calibri"/>
              </a:rPr>
              <a:t>allows future valid behavior</a:t>
            </a:r>
            <a:endParaRPr/>
          </a:p>
        </p:txBody>
      </p:sp>
      <p:sp>
        <p:nvSpPr>
          <p:cNvPr id="119" name="Google Shape;119;p2"/>
          <p:cNvSpPr txBox="1"/>
          <p:nvPr/>
        </p:nvSpPr>
        <p:spPr>
          <a:xfrm>
            <a:off x="548640" y="3611880"/>
            <a:ext cx="8046600" cy="941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 u="none" cap="none" strike="noStrike">
                <a:solidFill>
                  <a:srgbClr val="404040"/>
                </a:solidFill>
                <a:latin typeface="Calibri"/>
                <a:ea typeface="Calibri"/>
                <a:cs typeface="Calibri"/>
                <a:sym typeface="Calibri"/>
              </a:rPr>
              <a:t>Generalization asks: will the model accept </a:t>
            </a:r>
            <a:r>
              <a:rPr b="1" i="0" lang="en-US" sz="1500" u="none" cap="none" strike="noStrike">
                <a:solidFill>
                  <a:srgbClr val="1F497D"/>
                </a:solidFill>
                <a:latin typeface="Calibri"/>
                <a:ea typeface="Calibri"/>
                <a:cs typeface="Calibri"/>
                <a:sym typeface="Calibri"/>
              </a:rPr>
              <a:t>Future/</a:t>
            </a:r>
            <a:r>
              <a:rPr b="1" lang="en-US" sz="1500">
                <a:solidFill>
                  <a:srgbClr val="1F497D"/>
                </a:solidFill>
                <a:latin typeface="Calibri"/>
                <a:ea typeface="Calibri"/>
                <a:cs typeface="Calibri"/>
                <a:sym typeface="Calibri"/>
              </a:rPr>
              <a:t>U</a:t>
            </a:r>
            <a:r>
              <a:rPr b="1" i="0" lang="en-US" sz="1500" u="none" cap="none" strike="noStrike">
                <a:solidFill>
                  <a:srgbClr val="1F497D"/>
                </a:solidFill>
                <a:latin typeface="Calibri"/>
                <a:ea typeface="Calibri"/>
                <a:cs typeface="Calibri"/>
                <a:sym typeface="Calibri"/>
              </a:rPr>
              <a:t>nseen Valid Cases</a:t>
            </a:r>
            <a:r>
              <a:rPr b="0" i="0" lang="en-US" sz="1500" u="none" cap="none" strike="noStrike">
                <a:solidFill>
                  <a:srgbClr val="404040"/>
                </a:solidFill>
                <a:latin typeface="Calibri"/>
                <a:ea typeface="Calibri"/>
                <a:cs typeface="Calibri"/>
                <a:sym typeface="Calibri"/>
              </a:rPr>
              <a:t> that are not in the log?</a:t>
            </a:r>
            <a:endParaRPr b="0" i="0" sz="1500" u="none" cap="none" strike="noStrike">
              <a:solidFill>
                <a:srgbClr val="404040"/>
              </a:solidFill>
              <a:latin typeface="Calibri"/>
              <a:ea typeface="Calibri"/>
              <a:cs typeface="Calibri"/>
              <a:sym typeface="Calibri"/>
            </a:endParaRPr>
          </a:p>
          <a:p>
            <a:pPr indent="0" lvl="0" marL="0" marR="0" rtl="0" algn="l">
              <a:lnSpc>
                <a:spcPct val="115000"/>
              </a:lnSpc>
              <a:spcBef>
                <a:spcPts val="700"/>
              </a:spcBef>
              <a:spcAft>
                <a:spcPts val="0"/>
              </a:spcAft>
              <a:buNone/>
            </a:pPr>
            <a:r>
              <a:t/>
            </a:r>
            <a:endParaRPr b="0" i="0" sz="1500" u="none" cap="none" strike="noStrike">
              <a:solidFill>
                <a:srgbClr val="404040"/>
              </a:solidFill>
              <a:latin typeface="Calibri"/>
              <a:ea typeface="Calibri"/>
              <a:cs typeface="Calibri"/>
              <a:sym typeface="Calibri"/>
            </a:endParaRPr>
          </a:p>
          <a:p>
            <a:pPr indent="0" lvl="0" marL="0" marR="0" rtl="0" algn="l">
              <a:lnSpc>
                <a:spcPct val="115000"/>
              </a:lnSpc>
              <a:spcBef>
                <a:spcPts val="700"/>
              </a:spcBef>
              <a:spcAft>
                <a:spcPts val="0"/>
              </a:spcAft>
              <a:buNone/>
            </a:pPr>
            <a:r>
              <a:rPr b="0" i="0" lang="en-US" sz="1500" u="none" cap="none" strike="noStrike">
                <a:solidFill>
                  <a:srgbClr val="404040"/>
                </a:solidFill>
                <a:latin typeface="Calibri"/>
                <a:ea typeface="Calibri"/>
                <a:cs typeface="Calibri"/>
                <a:sym typeface="Calibri"/>
              </a:rPr>
              <a:t>However, how can we measure it?…</a:t>
            </a:r>
            <a:endParaRPr b="0" i="0" sz="1500" u="none" cap="none" strike="noStrike">
              <a:solidFill>
                <a:srgbClr val="40404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b="1" lang="en-US" sz="1800">
                <a:solidFill>
                  <a:srgbClr val="3A3A3A"/>
                </a:solidFill>
              </a:rPr>
              <a:t>…no validated metric is in wide use</a:t>
            </a:r>
            <a:endParaRPr/>
          </a:p>
        </p:txBody>
      </p:sp>
      <p:sp>
        <p:nvSpPr>
          <p:cNvPr id="125" name="Google Shape;125;p3"/>
          <p:cNvSpPr txBox="1"/>
          <p:nvPr/>
        </p:nvSpPr>
        <p:spPr>
          <a:xfrm>
            <a:off x="502920" y="1371600"/>
            <a:ext cx="4846320" cy="176830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3000"/>
              </a:lnSpc>
              <a:spcBef>
                <a:spcPts val="0"/>
              </a:spcBef>
              <a:spcAft>
                <a:spcPts val="0"/>
              </a:spcAft>
              <a:buClr>
                <a:srgbClr val="000000"/>
              </a:buClr>
              <a:buSzPts val="1400"/>
              <a:buFont typeface="Arial"/>
              <a:buChar char="•"/>
            </a:pPr>
            <a:r>
              <a:rPr b="0" i="0" lang="en-US" sz="1400" u="none" cap="none" strike="noStrike">
                <a:solidFill>
                  <a:srgbClr val="404040"/>
                </a:solidFill>
                <a:latin typeface="Arial"/>
                <a:ea typeface="Arial"/>
                <a:cs typeface="Arial"/>
                <a:sym typeface="Arial"/>
              </a:rPr>
              <a:t>The metric in wide use is from PM4Py, but it was </a:t>
            </a:r>
            <a:r>
              <a:rPr b="1" i="0" lang="en-US" sz="1400" u="none" cap="none" strike="noStrike">
                <a:solidFill>
                  <a:srgbClr val="3A3A3A"/>
                </a:solidFill>
                <a:latin typeface="Arial"/>
                <a:ea typeface="Arial"/>
                <a:cs typeface="Arial"/>
                <a:sym typeface="Arial"/>
              </a:rPr>
              <a:t>never validated against a ground truth</a:t>
            </a:r>
            <a:endParaRPr b="0" i="0" sz="1450" u="none" cap="none" strike="noStrike">
              <a:solidFill>
                <a:srgbClr val="404040"/>
              </a:solidFill>
              <a:latin typeface="Calibri"/>
              <a:ea typeface="Calibri"/>
              <a:cs typeface="Calibri"/>
              <a:sym typeface="Calibri"/>
            </a:endParaRPr>
          </a:p>
          <a:p>
            <a:pPr indent="-285750" lvl="0" marL="285750" marR="0" rtl="0" algn="l">
              <a:lnSpc>
                <a:spcPct val="103000"/>
              </a:lnSpc>
              <a:spcBef>
                <a:spcPts val="1400"/>
              </a:spcBef>
              <a:spcAft>
                <a:spcPts val="0"/>
              </a:spcAft>
              <a:buClr>
                <a:srgbClr val="000000"/>
              </a:buClr>
              <a:buSzPts val="1400"/>
              <a:buFont typeface="Arial"/>
              <a:buChar char="•"/>
            </a:pPr>
            <a:r>
              <a:rPr b="0" i="0" lang="en-US" sz="1400" u="none" cap="none" strike="noStrike">
                <a:solidFill>
                  <a:srgbClr val="404040"/>
                </a:solidFill>
                <a:latin typeface="Arial"/>
                <a:ea typeface="Arial"/>
                <a:cs typeface="Arial"/>
                <a:sym typeface="Arial"/>
              </a:rPr>
              <a:t>Published metrics </a:t>
            </a:r>
            <a:r>
              <a:rPr b="1" i="0" lang="en-US" sz="1400" u="none" cap="none" strike="noStrike">
                <a:solidFill>
                  <a:srgbClr val="3A3A3A"/>
                </a:solidFill>
                <a:latin typeface="Arial"/>
                <a:ea typeface="Arial"/>
                <a:cs typeface="Arial"/>
                <a:sym typeface="Arial"/>
              </a:rPr>
              <a:t>disagree with one another. </a:t>
            </a:r>
            <a:r>
              <a:rPr b="0" i="0" lang="en-US" sz="1400" u="none" cap="none" strike="noStrike">
                <a:solidFill>
                  <a:srgbClr val="404040"/>
                </a:solidFill>
                <a:latin typeface="Arial"/>
                <a:ea typeface="Arial"/>
                <a:cs typeface="Arial"/>
                <a:sym typeface="Arial"/>
              </a:rPr>
              <a:t>Prior studies compared them only to each other</a:t>
            </a:r>
            <a:endParaRPr b="0" i="0" sz="1400" u="none" cap="none" strike="noStrike">
              <a:solidFill>
                <a:srgbClr val="404040"/>
              </a:solidFill>
              <a:latin typeface="Arial"/>
              <a:ea typeface="Arial"/>
              <a:cs typeface="Arial"/>
              <a:sym typeface="Arial"/>
            </a:endParaRPr>
          </a:p>
          <a:p>
            <a:pPr indent="-285750" lvl="0" marL="285750" marR="0" rtl="0" algn="l">
              <a:lnSpc>
                <a:spcPct val="103000"/>
              </a:lnSpc>
              <a:spcBef>
                <a:spcPts val="1400"/>
              </a:spcBef>
              <a:spcAft>
                <a:spcPts val="0"/>
              </a:spcAft>
              <a:buClr>
                <a:srgbClr val="000000"/>
              </a:buClr>
              <a:buSzPts val="1400"/>
              <a:buFont typeface="Arial"/>
              <a:buChar char="•"/>
            </a:pPr>
            <a:r>
              <a:rPr b="0" i="0" lang="en-US" sz="1400" u="none" cap="none" strike="noStrike">
                <a:solidFill>
                  <a:srgbClr val="404040"/>
                </a:solidFill>
                <a:latin typeface="Arial"/>
                <a:ea typeface="Arial"/>
                <a:cs typeface="Arial"/>
                <a:sym typeface="Arial"/>
              </a:rPr>
              <a:t>A user who needs a generalization metric is left </a:t>
            </a:r>
            <a:r>
              <a:rPr b="1" i="0" lang="en-US" sz="1400" u="none" cap="none" strike="noStrike">
                <a:solidFill>
                  <a:srgbClr val="3A3A3A"/>
                </a:solidFill>
                <a:latin typeface="Arial"/>
                <a:ea typeface="Arial"/>
                <a:cs typeface="Arial"/>
                <a:sym typeface="Arial"/>
              </a:rPr>
              <a:t>without a proper validated method</a:t>
            </a:r>
            <a:endParaRPr b="0" i="0" sz="1400" u="none" cap="none" strike="noStrike">
              <a:solidFill>
                <a:srgbClr val="404040"/>
              </a:solidFill>
              <a:latin typeface="Arial"/>
              <a:ea typeface="Arial"/>
              <a:cs typeface="Arial"/>
              <a:sym typeface="Arial"/>
            </a:endParaRPr>
          </a:p>
        </p:txBody>
      </p:sp>
      <p:sp>
        <p:nvSpPr>
          <p:cNvPr id="126" name="Google Shape;126;p3"/>
          <p:cNvSpPr/>
          <p:nvPr/>
        </p:nvSpPr>
        <p:spPr>
          <a:xfrm>
            <a:off x="5623560" y="1371600"/>
            <a:ext cx="3017520" cy="2468880"/>
          </a:xfrm>
          <a:prstGeom prst="roundRect">
            <a:avLst>
              <a:gd fmla="val 16667" name="adj"/>
            </a:avLst>
          </a:prstGeom>
          <a:solidFill>
            <a:srgbClr val="F2F6F3"/>
          </a:solidFill>
          <a:ln cap="flat" cmpd="sng" w="12700">
            <a:solidFill>
              <a:srgbClr val="BBCCBE"/>
            </a:solidFill>
            <a:prstDash val="solid"/>
            <a:round/>
            <a:headEnd len="sm" w="sm" type="none"/>
            <a:tailEnd len="sm" w="sm" type="none"/>
          </a:ln>
        </p:spPr>
        <p:txBody>
          <a:bodyPr anchorCtr="0" anchor="ctr" bIns="45700" lIns="228600" spcFirstLastPara="1" rIns="228600" wrap="square" tIns="45700">
            <a:noAutofit/>
          </a:bodyPr>
          <a:lstStyle/>
          <a:p>
            <a:pPr indent="0" lvl="0" marL="0" marR="0" rtl="0" algn="ctr">
              <a:lnSpc>
                <a:spcPct val="100000"/>
              </a:lnSpc>
              <a:spcBef>
                <a:spcPts val="0"/>
              </a:spcBef>
              <a:spcAft>
                <a:spcPts val="0"/>
              </a:spcAft>
              <a:buNone/>
            </a:pPr>
            <a:r>
              <a:rPr b="0" i="1" lang="en-US" sz="1200" u="none" cap="none" strike="noStrike">
                <a:solidFill>
                  <a:srgbClr val="777777"/>
                </a:solidFill>
                <a:latin typeface="Arial"/>
                <a:ea typeface="Arial"/>
                <a:cs typeface="Arial"/>
                <a:sym typeface="Arial"/>
              </a:rPr>
              <a:t>The state of the art</a:t>
            </a:r>
            <a:endParaRPr/>
          </a:p>
          <a:p>
            <a:pPr indent="0" lvl="0" marL="0" marR="0" rtl="0" algn="ctr">
              <a:lnSpc>
                <a:spcPct val="100000"/>
              </a:lnSpc>
              <a:spcBef>
                <a:spcPts val="600"/>
              </a:spcBef>
              <a:spcAft>
                <a:spcPts val="0"/>
              </a:spcAft>
              <a:buNone/>
            </a:pPr>
            <a:r>
              <a:rPr b="1" i="0" lang="en-US" sz="3400" u="none" cap="none" strike="noStrike">
                <a:solidFill>
                  <a:srgbClr val="3A3A3A"/>
                </a:solidFill>
                <a:latin typeface="Arial"/>
                <a:ea typeface="Arial"/>
                <a:cs typeface="Arial"/>
                <a:sym typeface="Arial"/>
              </a:rPr>
              <a:t>8</a:t>
            </a:r>
            <a:r>
              <a:rPr b="0" i="0" lang="en-US" sz="1300" u="none" cap="none" strike="noStrike">
                <a:solidFill>
                  <a:srgbClr val="404040"/>
                </a:solidFill>
                <a:latin typeface="Arial"/>
                <a:ea typeface="Arial"/>
                <a:cs typeface="Arial"/>
                <a:sym typeface="Arial"/>
              </a:rPr>
              <a:t>  published metrics</a:t>
            </a:r>
            <a:endParaRPr/>
          </a:p>
          <a:p>
            <a:pPr indent="0" lvl="0" marL="0" marR="0" rtl="0" algn="ctr">
              <a:lnSpc>
                <a:spcPct val="100000"/>
              </a:lnSpc>
              <a:spcBef>
                <a:spcPts val="200"/>
              </a:spcBef>
              <a:spcAft>
                <a:spcPts val="0"/>
              </a:spcAft>
              <a:buNone/>
            </a:pPr>
            <a:r>
              <a:rPr b="1" i="0" lang="en-US" sz="3400" u="none" cap="none" strike="noStrike">
                <a:solidFill>
                  <a:srgbClr val="B02A2A"/>
                </a:solidFill>
                <a:latin typeface="Arial"/>
                <a:ea typeface="Arial"/>
                <a:cs typeface="Arial"/>
                <a:sym typeface="Arial"/>
              </a:rPr>
              <a:t>0</a:t>
            </a:r>
            <a:r>
              <a:rPr b="0" i="0" lang="en-US" sz="1300" u="none" cap="none" strike="noStrike">
                <a:solidFill>
                  <a:srgbClr val="404040"/>
                </a:solidFill>
                <a:latin typeface="Arial"/>
                <a:ea typeface="Arial"/>
                <a:cs typeface="Arial"/>
                <a:sym typeface="Arial"/>
              </a:rPr>
              <a:t>  validated against a ground truth on real logs</a:t>
            </a:r>
            <a:endParaRPr/>
          </a:p>
          <a:p>
            <a:pPr indent="0" lvl="0" marL="0" marR="0" rtl="0" algn="ctr">
              <a:lnSpc>
                <a:spcPct val="100000"/>
              </a:lnSpc>
              <a:spcBef>
                <a:spcPts val="800"/>
              </a:spcBef>
              <a:spcAft>
                <a:spcPts val="0"/>
              </a:spcAft>
              <a:buNone/>
            </a:pPr>
            <a:r>
              <a:rPr b="0" i="1" lang="en-US" sz="1100" u="none" cap="none" strike="noStrike">
                <a:solidFill>
                  <a:srgbClr val="777777"/>
                </a:solidFill>
                <a:latin typeface="Arial"/>
                <a:ea typeface="Arial"/>
                <a:cs typeface="Arial"/>
                <a:sym typeface="Arial"/>
              </a:rPr>
              <a:t>one representative per published paradigm (M2–M9) in our benchmark</a:t>
            </a:r>
            <a:endParaRPr/>
          </a:p>
        </p:txBody>
      </p:sp>
      <p:sp>
        <p:nvSpPr>
          <p:cNvPr id="127" name="Google Shape;127;p3"/>
          <p:cNvSpPr txBox="1"/>
          <p:nvPr/>
        </p:nvSpPr>
        <p:spPr>
          <a:xfrm>
            <a:off x="502920" y="4410417"/>
            <a:ext cx="8138160" cy="32316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500" u="none" cap="none" strike="noStrike">
                <a:solidFill>
                  <a:schemeClr val="dk1"/>
                </a:solidFill>
                <a:latin typeface="Arial"/>
                <a:ea typeface="Arial"/>
                <a:cs typeface="Arial"/>
                <a:sym typeface="Arial"/>
              </a:rPr>
              <a:t>The gap ShadowGen fills: </a:t>
            </a:r>
            <a:r>
              <a:rPr b="0" i="0" lang="en-US" sz="1500" u="none" cap="none" strike="noStrike">
                <a:solidFill>
                  <a:srgbClr val="3A3A3A"/>
                </a:solidFill>
                <a:latin typeface="Arial"/>
                <a:ea typeface="Arial"/>
                <a:cs typeface="Arial"/>
                <a:sym typeface="Arial"/>
              </a:rPr>
              <a:t>validated against a ground truth, cheap enough to run on real logs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4"/>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b="1" lang="en-US" sz="1800">
                <a:solidFill>
                  <a:srgbClr val="3A3A3A"/>
                </a:solidFill>
              </a:rPr>
              <a:t>The models we test, and the litmus</a:t>
            </a:r>
            <a:endParaRPr/>
          </a:p>
        </p:txBody>
      </p:sp>
      <p:sp>
        <p:nvSpPr>
          <p:cNvPr id="134" name="Google Shape;134;p4"/>
          <p:cNvSpPr txBox="1"/>
          <p:nvPr/>
        </p:nvSpPr>
        <p:spPr>
          <a:xfrm>
            <a:off x="457200" y="1473137"/>
            <a:ext cx="813816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404040"/>
                </a:solidFill>
                <a:latin typeface="Arial"/>
                <a:ea typeface="Arial"/>
                <a:cs typeface="Arial"/>
                <a:sym typeface="Arial"/>
              </a:rPr>
              <a:t>The discovery algorithms are spread between memorizing the log or accepting everything</a:t>
            </a:r>
            <a:endParaRPr/>
          </a:p>
        </p:txBody>
      </p:sp>
      <p:pic>
        <p:nvPicPr>
          <p:cNvPr descr="pole_trace.png" id="135" name="Google Shape;135;p4"/>
          <p:cNvPicPr preferRelativeResize="0"/>
          <p:nvPr/>
        </p:nvPicPr>
        <p:blipFill rotWithShape="1">
          <a:blip r:embed="rId3">
            <a:alphaModFix/>
          </a:blip>
          <a:srcRect b="0" l="0" r="0" t="0"/>
          <a:stretch/>
        </p:blipFill>
        <p:spPr>
          <a:xfrm>
            <a:off x="502920" y="2148840"/>
            <a:ext cx="2148840" cy="1281039"/>
          </a:xfrm>
          <a:prstGeom prst="rect">
            <a:avLst/>
          </a:prstGeom>
          <a:noFill/>
          <a:ln>
            <a:noFill/>
          </a:ln>
        </p:spPr>
      </p:pic>
      <p:pic>
        <p:nvPicPr>
          <p:cNvPr descr="pole_flower.png" id="136" name="Google Shape;136;p4"/>
          <p:cNvPicPr preferRelativeResize="0"/>
          <p:nvPr/>
        </p:nvPicPr>
        <p:blipFill rotWithShape="1">
          <a:blip r:embed="rId4">
            <a:alphaModFix/>
          </a:blip>
          <a:srcRect b="0" l="0" r="0" t="0"/>
          <a:stretch/>
        </p:blipFill>
        <p:spPr>
          <a:xfrm>
            <a:off x="6720840" y="2057400"/>
            <a:ext cx="1600200" cy="1305426"/>
          </a:xfrm>
          <a:prstGeom prst="rect">
            <a:avLst/>
          </a:prstGeom>
          <a:noFill/>
          <a:ln>
            <a:noFill/>
          </a:ln>
        </p:spPr>
      </p:pic>
      <p:sp>
        <p:nvSpPr>
          <p:cNvPr id="137" name="Google Shape;137;p4"/>
          <p:cNvSpPr/>
          <p:nvPr/>
        </p:nvSpPr>
        <p:spPr>
          <a:xfrm>
            <a:off x="2880360" y="2395728"/>
            <a:ext cx="3566160" cy="310896"/>
          </a:xfrm>
          <a:prstGeom prst="rightArrow">
            <a:avLst>
              <a:gd fmla="val 50000" name="adj1"/>
              <a:gd fmla="val 50000" name="adj2"/>
            </a:avLst>
          </a:prstGeom>
          <a:solidFill>
            <a:srgbClr val="DDE8DF"/>
          </a:solidFill>
          <a:ln cap="flat" cmpd="sng" w="9525">
            <a:solidFill>
              <a:srgbClr val="BBCC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050" u="none" cap="none" strike="noStrike">
                <a:solidFill>
                  <a:srgbClr val="556658"/>
                </a:solidFill>
                <a:latin typeface="Arial"/>
                <a:ea typeface="Arial"/>
                <a:cs typeface="Arial"/>
                <a:sym typeface="Arial"/>
              </a:rPr>
              <a:t>more permissive</a:t>
            </a:r>
            <a:endParaRPr/>
          </a:p>
        </p:txBody>
      </p:sp>
      <p:sp>
        <p:nvSpPr>
          <p:cNvPr id="138" name="Google Shape;138;p4"/>
          <p:cNvSpPr txBox="1"/>
          <p:nvPr/>
        </p:nvSpPr>
        <p:spPr>
          <a:xfrm>
            <a:off x="2423160" y="2852928"/>
            <a:ext cx="4480560" cy="6309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1" lang="en-US" sz="1100" u="none" cap="none" strike="noStrike">
                <a:solidFill>
                  <a:srgbClr val="777777"/>
                </a:solidFill>
                <a:latin typeface="Arial"/>
                <a:ea typeface="Arial"/>
                <a:cs typeface="Arial"/>
                <a:sym typeface="Arial"/>
              </a:rPr>
              <a:t>six real miners</a:t>
            </a:r>
            <a:endParaRPr/>
          </a:p>
          <a:p>
            <a:pPr indent="0" lvl="0" marL="0" marR="0" rtl="0" algn="ctr">
              <a:lnSpc>
                <a:spcPct val="100000"/>
              </a:lnSpc>
              <a:spcBef>
                <a:spcPts val="0"/>
              </a:spcBef>
              <a:spcAft>
                <a:spcPts val="0"/>
              </a:spcAft>
              <a:buNone/>
            </a:pPr>
            <a:r>
              <a:rPr b="1" i="0" lang="en-US" sz="1200" u="none" cap="none" strike="noStrike">
                <a:solidFill>
                  <a:srgbClr val="1A7A3A"/>
                </a:solidFill>
                <a:latin typeface="Arial"/>
                <a:ea typeface="Arial"/>
                <a:cs typeface="Arial"/>
                <a:sym typeface="Arial"/>
              </a:rPr>
              <a:t>Alpha · Alpha+ · Heuristics · Heuristics-strict · Inductive-strict · Inductive-infrequent</a:t>
            </a:r>
            <a:endParaRPr/>
          </a:p>
        </p:txBody>
      </p:sp>
      <p:sp>
        <p:nvSpPr>
          <p:cNvPr id="139" name="Google Shape;139;p4"/>
          <p:cNvSpPr txBox="1"/>
          <p:nvPr/>
        </p:nvSpPr>
        <p:spPr>
          <a:xfrm>
            <a:off x="502920" y="3639312"/>
            <a:ext cx="214884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A3A3A"/>
                </a:solidFill>
                <a:latin typeface="Arial"/>
                <a:ea typeface="Arial"/>
                <a:cs typeface="Arial"/>
                <a:sym typeface="Arial"/>
              </a:rPr>
              <a:t>Trace model</a:t>
            </a:r>
            <a:endParaRPr/>
          </a:p>
        </p:txBody>
      </p:sp>
      <p:sp>
        <p:nvSpPr>
          <p:cNvPr id="140" name="Google Shape;140;p4"/>
          <p:cNvSpPr txBox="1"/>
          <p:nvPr/>
        </p:nvSpPr>
        <p:spPr>
          <a:xfrm>
            <a:off x="6446520" y="3639312"/>
            <a:ext cx="214884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A3A3A"/>
                </a:solidFill>
                <a:latin typeface="Arial"/>
                <a:ea typeface="Arial"/>
                <a:cs typeface="Arial"/>
                <a:sym typeface="Arial"/>
              </a:rPr>
              <a:t>Flower model</a:t>
            </a:r>
            <a:endParaRPr/>
          </a:p>
        </p:txBody>
      </p:sp>
      <p:sp>
        <p:nvSpPr>
          <p:cNvPr id="141" name="Google Shape;141;p4"/>
          <p:cNvSpPr/>
          <p:nvPr/>
        </p:nvSpPr>
        <p:spPr>
          <a:xfrm>
            <a:off x="640080" y="4572000"/>
            <a:ext cx="7863840" cy="1417320"/>
          </a:xfrm>
          <a:prstGeom prst="roundRect">
            <a:avLst>
              <a:gd fmla="val 16667" name="adj"/>
            </a:avLst>
          </a:prstGeom>
          <a:solidFill>
            <a:srgbClr val="E9F3EC"/>
          </a:solidFill>
          <a:ln cap="flat" cmpd="sng" w="12700">
            <a:solidFill>
              <a:srgbClr val="1A7A3A"/>
            </a:solidFill>
            <a:prstDash val="solid"/>
            <a:round/>
            <a:headEnd len="sm" w="sm" type="none"/>
            <a:tailEnd len="sm" w="sm" type="none"/>
          </a:ln>
        </p:spPr>
        <p:txBody>
          <a:bodyPr anchorCtr="0" anchor="ctr" bIns="45700" lIns="274300" spcFirstLastPara="1" rIns="274300"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1A7A3A"/>
                </a:solidFill>
                <a:latin typeface="Arial"/>
                <a:ea typeface="Arial"/>
                <a:cs typeface="Arial"/>
                <a:sym typeface="Arial"/>
              </a:rPr>
              <a:t>The flower litmus. </a:t>
            </a:r>
            <a:r>
              <a:rPr b="0" i="0" lang="en-US" sz="1400" u="none" cap="none" strike="noStrike">
                <a:solidFill>
                  <a:srgbClr val="404040"/>
                </a:solidFill>
                <a:latin typeface="Arial"/>
                <a:ea typeface="Arial"/>
                <a:cs typeface="Arial"/>
                <a:sym typeface="Arial"/>
              </a:rPr>
              <a:t>A pure generalization metric must score the flower </a:t>
            </a:r>
            <a:r>
              <a:rPr b="1" i="0" lang="en-US" sz="1400" u="none" cap="none" strike="noStrike">
                <a:solidFill>
                  <a:srgbClr val="1A7A3A"/>
                </a:solidFill>
                <a:latin typeface="Arial"/>
                <a:ea typeface="Arial"/>
                <a:cs typeface="Arial"/>
                <a:sym typeface="Arial"/>
              </a:rPr>
              <a:t>1.00</a:t>
            </a:r>
            <a:r>
              <a:rPr b="0" i="0" lang="en-US" sz="1400" u="none" cap="none" strike="noStrike">
                <a:solidFill>
                  <a:srgbClr val="404040"/>
                </a:solidFill>
                <a:latin typeface="Arial"/>
                <a:ea typeface="Arial"/>
                <a:cs typeface="Arial"/>
                <a:sym typeface="Arial"/>
              </a:rPr>
              <a:t> </a:t>
            </a:r>
            <a:endParaRPr b="0" i="0" sz="1400" u="none" cap="none" strike="noStrike">
              <a:solidFill>
                <a:srgbClr val="40404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404040"/>
              </a:solidFill>
              <a:latin typeface="Arial"/>
              <a:ea typeface="Arial"/>
              <a:cs typeface="Arial"/>
              <a:sym typeface="Arial"/>
            </a:endParaRPr>
          </a:p>
          <a:p>
            <a:pPr indent="0" lvl="0" marL="0" marR="0" rtl="0" algn="ctr">
              <a:lnSpc>
                <a:spcPct val="100000"/>
              </a:lnSpc>
              <a:spcBef>
                <a:spcPts val="0"/>
              </a:spcBef>
              <a:spcAft>
                <a:spcPts val="0"/>
              </a:spcAft>
              <a:buNone/>
            </a:pPr>
            <a:r>
              <a:rPr b="0" i="0" lang="en-US" sz="1250" u="none" cap="none" strike="noStrike">
                <a:solidFill>
                  <a:srgbClr val="404040"/>
                </a:solidFill>
                <a:latin typeface="Arial"/>
                <a:ea typeface="Arial"/>
                <a:cs typeface="Arial"/>
                <a:sym typeface="Arial"/>
              </a:rPr>
              <a:t>Anything less on the flower means the metric is not pure Generalisation and potentially folds in precision or structure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lang="en-US" sz="1800">
                <a:solidFill>
                  <a:srgbClr val="3A3A3A"/>
                </a:solidFill>
              </a:rPr>
              <a:t>Our Metric: ShadowGen</a:t>
            </a:r>
            <a:endParaRPr sz="1800">
              <a:solidFill>
                <a:srgbClr val="3A3A3A"/>
              </a:solidFill>
            </a:endParaRPr>
          </a:p>
        </p:txBody>
      </p:sp>
      <p:sp>
        <p:nvSpPr>
          <p:cNvPr id="147" name="Google Shape;147;p5"/>
          <p:cNvSpPr/>
          <p:nvPr/>
        </p:nvSpPr>
        <p:spPr>
          <a:xfrm>
            <a:off x="548640" y="2148840"/>
            <a:ext cx="1481328" cy="1417320"/>
          </a:xfrm>
          <a:prstGeom prst="roundRect">
            <a:avLst>
              <a:gd fmla="val 16667" name="adj"/>
            </a:avLst>
          </a:prstGeom>
          <a:solidFill>
            <a:srgbClr val="F2F2F2"/>
          </a:solidFill>
          <a:ln cap="flat" cmpd="sng" w="12700">
            <a:solidFill>
              <a:srgbClr val="CFD4D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8" name="Google Shape;148;p5"/>
          <p:cNvSpPr txBox="1"/>
          <p:nvPr/>
        </p:nvSpPr>
        <p:spPr>
          <a:xfrm>
            <a:off x="621792" y="2404872"/>
            <a:ext cx="1335024"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3A3A3A"/>
                </a:solidFill>
                <a:latin typeface="Calibri"/>
                <a:ea typeface="Calibri"/>
                <a:cs typeface="Calibri"/>
                <a:sym typeface="Calibri"/>
              </a:rPr>
              <a:t>Event log</a:t>
            </a:r>
            <a:endParaRPr/>
          </a:p>
        </p:txBody>
      </p:sp>
      <p:sp>
        <p:nvSpPr>
          <p:cNvPr id="149" name="Google Shape;149;p5"/>
          <p:cNvSpPr txBox="1"/>
          <p:nvPr/>
        </p:nvSpPr>
        <p:spPr>
          <a:xfrm>
            <a:off x="621792" y="2898648"/>
            <a:ext cx="1335024" cy="594360"/>
          </a:xfrm>
          <a:prstGeom prst="rect">
            <a:avLst/>
          </a:prstGeom>
          <a:noFill/>
          <a:ln>
            <a:noFill/>
          </a:ln>
        </p:spPr>
        <p:txBody>
          <a:bodyPr anchorCtr="0" anchor="t" bIns="0" lIns="0" spcFirstLastPara="1" rIns="0" wrap="square" tIns="0">
            <a:spAutoFit/>
          </a:bodyPr>
          <a:lstStyle/>
          <a:p>
            <a:pPr indent="0" lvl="0" marL="0" marR="0" rtl="0" algn="ctr">
              <a:lnSpc>
                <a:spcPct val="102000"/>
              </a:lnSpc>
              <a:spcBef>
                <a:spcPts val="0"/>
              </a:spcBef>
              <a:spcAft>
                <a:spcPts val="0"/>
              </a:spcAft>
              <a:buNone/>
            </a:pPr>
            <a:r>
              <a:rPr b="0" i="0" lang="en-US" sz="1000" u="none" cap="none" strike="noStrike">
                <a:solidFill>
                  <a:srgbClr val="808080"/>
                </a:solidFill>
                <a:latin typeface="Calibri"/>
                <a:ea typeface="Calibri"/>
                <a:cs typeface="Calibri"/>
                <a:sym typeface="Calibri"/>
              </a:rPr>
              <a:t>the observed traces</a:t>
            </a:r>
            <a:endParaRPr/>
          </a:p>
        </p:txBody>
      </p:sp>
      <p:sp>
        <p:nvSpPr>
          <p:cNvPr id="150" name="Google Shape;150;p5"/>
          <p:cNvSpPr txBox="1"/>
          <p:nvPr/>
        </p:nvSpPr>
        <p:spPr>
          <a:xfrm>
            <a:off x="2002536" y="2606040"/>
            <a:ext cx="256032"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808080"/>
                </a:solidFill>
                <a:latin typeface="Calibri"/>
                <a:ea typeface="Calibri"/>
                <a:cs typeface="Calibri"/>
                <a:sym typeface="Calibri"/>
              </a:rPr>
              <a:t>→</a:t>
            </a:r>
            <a:endParaRPr/>
          </a:p>
        </p:txBody>
      </p:sp>
      <p:sp>
        <p:nvSpPr>
          <p:cNvPr id="151" name="Google Shape;151;p5"/>
          <p:cNvSpPr/>
          <p:nvPr/>
        </p:nvSpPr>
        <p:spPr>
          <a:xfrm>
            <a:off x="2231136" y="2148840"/>
            <a:ext cx="1481328" cy="1417320"/>
          </a:xfrm>
          <a:prstGeom prst="roundRect">
            <a:avLst>
              <a:gd fmla="val 16667" name="adj"/>
            </a:avLst>
          </a:prstGeom>
          <a:solidFill>
            <a:srgbClr val="F2F2F2"/>
          </a:solidFill>
          <a:ln cap="flat" cmpd="sng" w="12700">
            <a:solidFill>
              <a:srgbClr val="CFD4D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2" name="Google Shape;152;p5"/>
          <p:cNvSpPr txBox="1"/>
          <p:nvPr/>
        </p:nvSpPr>
        <p:spPr>
          <a:xfrm>
            <a:off x="2304288" y="2404872"/>
            <a:ext cx="1335024"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3A3A3A"/>
                </a:solidFill>
                <a:latin typeface="Calibri"/>
                <a:ea typeface="Calibri"/>
                <a:cs typeface="Calibri"/>
                <a:sym typeface="Calibri"/>
              </a:rPr>
              <a:t>N-gram model</a:t>
            </a:r>
            <a:endParaRPr/>
          </a:p>
        </p:txBody>
      </p:sp>
      <p:sp>
        <p:nvSpPr>
          <p:cNvPr id="153" name="Google Shape;153;p5"/>
          <p:cNvSpPr txBox="1"/>
          <p:nvPr/>
        </p:nvSpPr>
        <p:spPr>
          <a:xfrm>
            <a:off x="2304288" y="2898648"/>
            <a:ext cx="1335024" cy="594360"/>
          </a:xfrm>
          <a:prstGeom prst="rect">
            <a:avLst/>
          </a:prstGeom>
          <a:noFill/>
          <a:ln>
            <a:noFill/>
          </a:ln>
        </p:spPr>
        <p:txBody>
          <a:bodyPr anchorCtr="0" anchor="t" bIns="0" lIns="0" spcFirstLastPara="1" rIns="0" wrap="square" tIns="0">
            <a:spAutoFit/>
          </a:bodyPr>
          <a:lstStyle/>
          <a:p>
            <a:pPr indent="0" lvl="0" marL="0" marR="0" rtl="0" algn="ctr">
              <a:lnSpc>
                <a:spcPct val="102000"/>
              </a:lnSpc>
              <a:spcBef>
                <a:spcPts val="0"/>
              </a:spcBef>
              <a:spcAft>
                <a:spcPts val="0"/>
              </a:spcAft>
              <a:buNone/>
            </a:pPr>
            <a:r>
              <a:rPr b="0" i="0" lang="en-US" sz="1000" u="none" cap="none" strike="noStrike">
                <a:solidFill>
                  <a:srgbClr val="808080"/>
                </a:solidFill>
                <a:latin typeface="Calibri"/>
                <a:ea typeface="Calibri"/>
                <a:cs typeface="Calibri"/>
                <a:sym typeface="Calibri"/>
              </a:rPr>
              <a:t>Katz backoff + Good–Turing</a:t>
            </a:r>
            <a:endParaRPr/>
          </a:p>
        </p:txBody>
      </p:sp>
      <p:sp>
        <p:nvSpPr>
          <p:cNvPr id="154" name="Google Shape;154;p5"/>
          <p:cNvSpPr txBox="1"/>
          <p:nvPr/>
        </p:nvSpPr>
        <p:spPr>
          <a:xfrm>
            <a:off x="3685032" y="2606040"/>
            <a:ext cx="256032"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808080"/>
                </a:solidFill>
                <a:latin typeface="Calibri"/>
                <a:ea typeface="Calibri"/>
                <a:cs typeface="Calibri"/>
                <a:sym typeface="Calibri"/>
              </a:rPr>
              <a:t>→</a:t>
            </a:r>
            <a:endParaRPr/>
          </a:p>
        </p:txBody>
      </p:sp>
      <p:sp>
        <p:nvSpPr>
          <p:cNvPr id="155" name="Google Shape;155;p5"/>
          <p:cNvSpPr/>
          <p:nvPr/>
        </p:nvSpPr>
        <p:spPr>
          <a:xfrm>
            <a:off x="3913632" y="2148840"/>
            <a:ext cx="1481328" cy="1417320"/>
          </a:xfrm>
          <a:prstGeom prst="roundRect">
            <a:avLst>
              <a:gd fmla="val 16667" name="adj"/>
            </a:avLst>
          </a:prstGeom>
          <a:solidFill>
            <a:srgbClr val="E7ECF3"/>
          </a:solidFill>
          <a:ln cap="flat" cmpd="sng" w="12700">
            <a:solidFill>
              <a:srgbClr val="1F49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6" name="Google Shape;156;p5"/>
          <p:cNvSpPr txBox="1"/>
          <p:nvPr/>
        </p:nvSpPr>
        <p:spPr>
          <a:xfrm>
            <a:off x="3986784" y="2404872"/>
            <a:ext cx="1335024"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1F497D"/>
                </a:solidFill>
                <a:latin typeface="Calibri"/>
                <a:ea typeface="Calibri"/>
                <a:cs typeface="Calibri"/>
                <a:sym typeface="Calibri"/>
              </a:rPr>
              <a:t>Shadow log</a:t>
            </a:r>
            <a:endParaRPr/>
          </a:p>
        </p:txBody>
      </p:sp>
      <p:sp>
        <p:nvSpPr>
          <p:cNvPr id="157" name="Google Shape;157;p5"/>
          <p:cNvSpPr txBox="1"/>
          <p:nvPr/>
        </p:nvSpPr>
        <p:spPr>
          <a:xfrm>
            <a:off x="3986784" y="2898648"/>
            <a:ext cx="1335024" cy="594360"/>
          </a:xfrm>
          <a:prstGeom prst="rect">
            <a:avLst/>
          </a:prstGeom>
          <a:noFill/>
          <a:ln>
            <a:noFill/>
          </a:ln>
        </p:spPr>
        <p:txBody>
          <a:bodyPr anchorCtr="0" anchor="t" bIns="0" lIns="0" spcFirstLastPara="1" rIns="0" wrap="square" tIns="0">
            <a:spAutoFit/>
          </a:bodyPr>
          <a:lstStyle/>
          <a:p>
            <a:pPr indent="0" lvl="0" marL="0" marR="0" rtl="0" algn="ctr">
              <a:lnSpc>
                <a:spcPct val="102000"/>
              </a:lnSpc>
              <a:spcBef>
                <a:spcPts val="0"/>
              </a:spcBef>
              <a:spcAft>
                <a:spcPts val="0"/>
              </a:spcAft>
              <a:buNone/>
            </a:pPr>
            <a:r>
              <a:rPr b="0" i="0" lang="en-US" sz="1000" u="none" cap="none" strike="noStrike">
                <a:solidFill>
                  <a:srgbClr val="808080"/>
                </a:solidFill>
                <a:latin typeface="Calibri"/>
                <a:ea typeface="Calibri"/>
                <a:cs typeface="Calibri"/>
                <a:sym typeface="Calibri"/>
              </a:rPr>
              <a:t>plausible-but-unseen traces</a:t>
            </a:r>
            <a:endParaRPr/>
          </a:p>
        </p:txBody>
      </p:sp>
      <p:sp>
        <p:nvSpPr>
          <p:cNvPr id="158" name="Google Shape;158;p5"/>
          <p:cNvSpPr txBox="1"/>
          <p:nvPr/>
        </p:nvSpPr>
        <p:spPr>
          <a:xfrm>
            <a:off x="5367528" y="2606040"/>
            <a:ext cx="256032"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808080"/>
                </a:solidFill>
                <a:latin typeface="Calibri"/>
                <a:ea typeface="Calibri"/>
                <a:cs typeface="Calibri"/>
                <a:sym typeface="Calibri"/>
              </a:rPr>
              <a:t>→</a:t>
            </a:r>
            <a:endParaRPr/>
          </a:p>
        </p:txBody>
      </p:sp>
      <p:sp>
        <p:nvSpPr>
          <p:cNvPr id="159" name="Google Shape;159;p5"/>
          <p:cNvSpPr/>
          <p:nvPr/>
        </p:nvSpPr>
        <p:spPr>
          <a:xfrm>
            <a:off x="5596128" y="2148840"/>
            <a:ext cx="1481328" cy="1417320"/>
          </a:xfrm>
          <a:prstGeom prst="roundRect">
            <a:avLst>
              <a:gd fmla="val 16667" name="adj"/>
            </a:avLst>
          </a:prstGeom>
          <a:solidFill>
            <a:srgbClr val="F2F2F2"/>
          </a:solidFill>
          <a:ln cap="flat" cmpd="sng" w="12700">
            <a:solidFill>
              <a:srgbClr val="CFD4D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0" name="Google Shape;160;p5"/>
          <p:cNvSpPr txBox="1"/>
          <p:nvPr/>
        </p:nvSpPr>
        <p:spPr>
          <a:xfrm>
            <a:off x="5669280" y="2404872"/>
            <a:ext cx="1335024"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3A3A3A"/>
                </a:solidFill>
                <a:latin typeface="Calibri"/>
                <a:ea typeface="Calibri"/>
                <a:cs typeface="Calibri"/>
                <a:sym typeface="Calibri"/>
              </a:rPr>
              <a:t>Replay</a:t>
            </a:r>
            <a:endParaRPr/>
          </a:p>
        </p:txBody>
      </p:sp>
      <p:sp>
        <p:nvSpPr>
          <p:cNvPr id="161" name="Google Shape;161;p5"/>
          <p:cNvSpPr txBox="1"/>
          <p:nvPr/>
        </p:nvSpPr>
        <p:spPr>
          <a:xfrm>
            <a:off x="5669280" y="2898648"/>
            <a:ext cx="1335024" cy="594360"/>
          </a:xfrm>
          <a:prstGeom prst="rect">
            <a:avLst/>
          </a:prstGeom>
          <a:noFill/>
          <a:ln>
            <a:noFill/>
          </a:ln>
        </p:spPr>
        <p:txBody>
          <a:bodyPr anchorCtr="0" anchor="t" bIns="0" lIns="0" spcFirstLastPara="1" rIns="0" wrap="square" tIns="0">
            <a:spAutoFit/>
          </a:bodyPr>
          <a:lstStyle/>
          <a:p>
            <a:pPr indent="0" lvl="0" marL="0" marR="0" rtl="0" algn="ctr">
              <a:lnSpc>
                <a:spcPct val="102000"/>
              </a:lnSpc>
              <a:spcBef>
                <a:spcPts val="0"/>
              </a:spcBef>
              <a:spcAft>
                <a:spcPts val="0"/>
              </a:spcAft>
              <a:buNone/>
            </a:pPr>
            <a:r>
              <a:rPr b="0" i="0" lang="en-US" sz="1000" u="none" cap="none" strike="noStrike">
                <a:solidFill>
                  <a:srgbClr val="808080"/>
                </a:solidFill>
                <a:latin typeface="Calibri"/>
                <a:ea typeface="Calibri"/>
                <a:cs typeface="Calibri"/>
                <a:sym typeface="Calibri"/>
              </a:rPr>
              <a:t>graded trace fitness</a:t>
            </a:r>
            <a:endParaRPr/>
          </a:p>
        </p:txBody>
      </p:sp>
      <p:sp>
        <p:nvSpPr>
          <p:cNvPr id="162" name="Google Shape;162;p5"/>
          <p:cNvSpPr txBox="1"/>
          <p:nvPr/>
        </p:nvSpPr>
        <p:spPr>
          <a:xfrm>
            <a:off x="7050024" y="2606040"/>
            <a:ext cx="256032"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808080"/>
                </a:solidFill>
                <a:latin typeface="Calibri"/>
                <a:ea typeface="Calibri"/>
                <a:cs typeface="Calibri"/>
                <a:sym typeface="Calibri"/>
              </a:rPr>
              <a:t>→</a:t>
            </a:r>
            <a:endParaRPr/>
          </a:p>
        </p:txBody>
      </p:sp>
      <p:sp>
        <p:nvSpPr>
          <p:cNvPr id="163" name="Google Shape;163;p5"/>
          <p:cNvSpPr/>
          <p:nvPr/>
        </p:nvSpPr>
        <p:spPr>
          <a:xfrm>
            <a:off x="7278624" y="2148840"/>
            <a:ext cx="1481328" cy="1417320"/>
          </a:xfrm>
          <a:prstGeom prst="roundRect">
            <a:avLst>
              <a:gd fmla="val 16667" name="adj"/>
            </a:avLst>
          </a:prstGeom>
          <a:solidFill>
            <a:srgbClr val="E7ECF3"/>
          </a:solidFill>
          <a:ln cap="flat" cmpd="sng" w="12700">
            <a:solidFill>
              <a:srgbClr val="1F49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4" name="Google Shape;164;p5"/>
          <p:cNvSpPr txBox="1"/>
          <p:nvPr/>
        </p:nvSpPr>
        <p:spPr>
          <a:xfrm>
            <a:off x="7351775" y="2404872"/>
            <a:ext cx="1335024"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1F497D"/>
                </a:solidFill>
                <a:latin typeface="Calibri"/>
                <a:ea typeface="Calibri"/>
                <a:cs typeface="Calibri"/>
                <a:sym typeface="Calibri"/>
              </a:rPr>
              <a:t>Score</a:t>
            </a:r>
            <a:endParaRPr/>
          </a:p>
        </p:txBody>
      </p:sp>
      <p:sp>
        <p:nvSpPr>
          <p:cNvPr id="165" name="Google Shape;165;p5"/>
          <p:cNvSpPr txBox="1"/>
          <p:nvPr/>
        </p:nvSpPr>
        <p:spPr>
          <a:xfrm>
            <a:off x="7351775" y="2898648"/>
            <a:ext cx="1335024" cy="594360"/>
          </a:xfrm>
          <a:prstGeom prst="rect">
            <a:avLst/>
          </a:prstGeom>
          <a:noFill/>
          <a:ln>
            <a:noFill/>
          </a:ln>
        </p:spPr>
        <p:txBody>
          <a:bodyPr anchorCtr="0" anchor="t" bIns="0" lIns="0" spcFirstLastPara="1" rIns="0" wrap="square" tIns="0">
            <a:spAutoFit/>
          </a:bodyPr>
          <a:lstStyle/>
          <a:p>
            <a:pPr indent="0" lvl="0" marL="0" marR="0" rtl="0" algn="ctr">
              <a:lnSpc>
                <a:spcPct val="102000"/>
              </a:lnSpc>
              <a:spcBef>
                <a:spcPts val="0"/>
              </a:spcBef>
              <a:spcAft>
                <a:spcPts val="0"/>
              </a:spcAft>
              <a:buNone/>
            </a:pPr>
            <a:r>
              <a:rPr b="0" i="0" lang="en-US" sz="1000" u="none" cap="none" strike="noStrike">
                <a:solidFill>
                  <a:srgbClr val="808080"/>
                </a:solidFill>
                <a:latin typeface="Calibri"/>
                <a:ea typeface="Calibri"/>
                <a:cs typeface="Calibri"/>
                <a:sym typeface="Calibri"/>
              </a:rPr>
              <a:t>generalization estimate</a:t>
            </a:r>
            <a:endParaRPr/>
          </a:p>
        </p:txBody>
      </p:sp>
      <p:sp>
        <p:nvSpPr>
          <p:cNvPr id="166" name="Google Shape;166;p5"/>
          <p:cNvSpPr txBox="1"/>
          <p:nvPr/>
        </p:nvSpPr>
        <p:spPr>
          <a:xfrm>
            <a:off x="548640" y="3977639"/>
            <a:ext cx="8046720" cy="23320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450" u="none" cap="none" strike="noStrike">
                <a:solidFill>
                  <a:srgbClr val="404040"/>
                </a:solidFill>
                <a:latin typeface="Calibri"/>
                <a:ea typeface="Calibri"/>
                <a:cs typeface="Calibri"/>
                <a:sym typeface="Calibri"/>
              </a:rPr>
              <a:t>The model is scored on behavior it has </a:t>
            </a:r>
            <a:r>
              <a:rPr b="1" i="0" lang="en-US" sz="1450" u="none" cap="none" strike="noStrike">
                <a:solidFill>
                  <a:srgbClr val="1F497D"/>
                </a:solidFill>
                <a:latin typeface="Calibri"/>
                <a:ea typeface="Calibri"/>
                <a:cs typeface="Calibri"/>
                <a:sym typeface="Calibri"/>
              </a:rPr>
              <a:t>never seen but that is plausibly valid</a:t>
            </a:r>
            <a:endParaRPr b="0" i="0" sz="1450" u="none" cap="none" strike="noStrike">
              <a:solidFill>
                <a:srgbClr val="40404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6"/>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b="1" lang="en-US" sz="1800">
                <a:solidFill>
                  <a:srgbClr val="3A3A3A"/>
                </a:solidFill>
              </a:rPr>
              <a:t>Two backoffs: resolve, then </a:t>
            </a:r>
            <a:r>
              <a:rPr lang="en-US" sz="1800">
                <a:solidFill>
                  <a:srgbClr val="3A3A3A"/>
                </a:solidFill>
              </a:rPr>
              <a:t>find</a:t>
            </a:r>
            <a:endParaRPr/>
          </a:p>
        </p:txBody>
      </p:sp>
      <p:sp>
        <p:nvSpPr>
          <p:cNvPr id="172" name="Google Shape;172;p6"/>
          <p:cNvSpPr txBox="1"/>
          <p:nvPr/>
        </p:nvSpPr>
        <p:spPr>
          <a:xfrm>
            <a:off x="502920" y="1207008"/>
            <a:ext cx="81381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a:solidFill>
                  <a:srgbClr val="404040"/>
                </a:solidFill>
              </a:rPr>
              <a:t>Both </a:t>
            </a:r>
            <a:r>
              <a:rPr b="0" i="0" lang="en-US" sz="1400" u="none" cap="none" strike="noStrike">
                <a:solidFill>
                  <a:srgbClr val="404040"/>
                </a:solidFill>
                <a:latin typeface="Arial"/>
                <a:ea typeface="Arial"/>
                <a:cs typeface="Arial"/>
                <a:sym typeface="Arial"/>
              </a:rPr>
              <a:t>steps run Katz backoff </a:t>
            </a:r>
            <a:r>
              <a:rPr lang="en-US">
                <a:solidFill>
                  <a:srgbClr val="404040"/>
                </a:solidFill>
              </a:rPr>
              <a:t>until a valid output is found</a:t>
            </a:r>
            <a:r>
              <a:rPr b="0" i="0" lang="en-US" sz="1400" u="none" cap="none" strike="noStrike">
                <a:solidFill>
                  <a:srgbClr val="404040"/>
                </a:solidFill>
                <a:latin typeface="Arial"/>
                <a:ea typeface="Arial"/>
                <a:cs typeface="Arial"/>
                <a:sym typeface="Arial"/>
              </a:rPr>
              <a:t>:</a:t>
            </a:r>
            <a:endParaRPr/>
          </a:p>
        </p:txBody>
      </p:sp>
      <p:sp>
        <p:nvSpPr>
          <p:cNvPr id="173" name="Google Shape;173;p6"/>
          <p:cNvSpPr/>
          <p:nvPr/>
        </p:nvSpPr>
        <p:spPr>
          <a:xfrm>
            <a:off x="320040" y="3092515"/>
            <a:ext cx="4023300" cy="3200400"/>
          </a:xfrm>
          <a:prstGeom prst="roundRect">
            <a:avLst>
              <a:gd fmla="val 16667" name="adj"/>
            </a:avLst>
          </a:prstGeom>
          <a:solidFill>
            <a:srgbClr val="F8F9FA"/>
          </a:solidFill>
          <a:ln cap="flat" cmpd="sng" w="1270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4" name="Google Shape;174;p6"/>
          <p:cNvSpPr txBox="1"/>
          <p:nvPr/>
        </p:nvSpPr>
        <p:spPr>
          <a:xfrm>
            <a:off x="502920" y="3211387"/>
            <a:ext cx="3657600" cy="330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US" sz="1550">
                <a:solidFill>
                  <a:srgbClr val="1A7A3A"/>
                </a:solidFill>
              </a:rPr>
              <a:t>Step </a:t>
            </a:r>
            <a:r>
              <a:rPr b="1" i="0" lang="en-US" sz="1550" u="none" cap="none" strike="noStrike">
                <a:solidFill>
                  <a:srgbClr val="1A7A3A"/>
                </a:solidFill>
                <a:latin typeface="Arial"/>
                <a:ea typeface="Arial"/>
                <a:cs typeface="Arial"/>
                <a:sym typeface="Arial"/>
              </a:rPr>
              <a:t>1</a:t>
            </a:r>
            <a:r>
              <a:rPr b="1" lang="en-US" sz="1550">
                <a:solidFill>
                  <a:srgbClr val="1A7A3A"/>
                </a:solidFill>
              </a:rPr>
              <a:t>:</a:t>
            </a:r>
            <a:r>
              <a:rPr b="1" i="0" lang="en-US" sz="1550" u="none" cap="none" strike="noStrike">
                <a:solidFill>
                  <a:srgbClr val="1A7A3A"/>
                </a:solidFill>
                <a:latin typeface="Arial"/>
                <a:ea typeface="Arial"/>
                <a:cs typeface="Arial"/>
                <a:sym typeface="Arial"/>
              </a:rPr>
              <a:t> Resolve the context</a:t>
            </a:r>
            <a:endParaRPr/>
          </a:p>
        </p:txBody>
      </p:sp>
      <p:sp>
        <p:nvSpPr>
          <p:cNvPr id="175" name="Google Shape;175;p6"/>
          <p:cNvSpPr txBox="1"/>
          <p:nvPr/>
        </p:nvSpPr>
        <p:spPr>
          <a:xfrm>
            <a:off x="502920" y="3558859"/>
            <a:ext cx="36576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1" lang="en-US" sz="1100" u="none" cap="none" strike="noStrike">
                <a:solidFill>
                  <a:srgbClr val="777777"/>
                </a:solidFill>
                <a:latin typeface="Arial"/>
                <a:ea typeface="Arial"/>
                <a:cs typeface="Arial"/>
                <a:sym typeface="Arial"/>
              </a:rPr>
              <a:t>back off to the deepest context with support</a:t>
            </a:r>
            <a:endParaRPr/>
          </a:p>
        </p:txBody>
      </p:sp>
      <p:sp>
        <p:nvSpPr>
          <p:cNvPr id="176" name="Google Shape;176;p6"/>
          <p:cNvSpPr/>
          <p:nvPr/>
        </p:nvSpPr>
        <p:spPr>
          <a:xfrm>
            <a:off x="4800600" y="3092515"/>
            <a:ext cx="4023300" cy="3200400"/>
          </a:xfrm>
          <a:prstGeom prst="roundRect">
            <a:avLst>
              <a:gd fmla="val 16667" name="adj"/>
            </a:avLst>
          </a:prstGeom>
          <a:solidFill>
            <a:srgbClr val="F8F9FA"/>
          </a:solidFill>
          <a:ln cap="flat" cmpd="sng" w="1270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7" name="Google Shape;177;p6"/>
          <p:cNvSpPr txBox="1"/>
          <p:nvPr/>
        </p:nvSpPr>
        <p:spPr>
          <a:xfrm>
            <a:off x="4983480" y="3211387"/>
            <a:ext cx="3657600" cy="330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US" sz="1550">
                <a:solidFill>
                  <a:srgbClr val="2E5B9E"/>
                </a:solidFill>
              </a:rPr>
              <a:t>Step </a:t>
            </a:r>
            <a:r>
              <a:rPr b="1" i="0" lang="en-US" sz="1550" u="none" cap="none" strike="noStrike">
                <a:solidFill>
                  <a:srgbClr val="2E5B9E"/>
                </a:solidFill>
                <a:latin typeface="Arial"/>
                <a:ea typeface="Arial"/>
                <a:cs typeface="Arial"/>
                <a:sym typeface="Arial"/>
              </a:rPr>
              <a:t>2</a:t>
            </a:r>
            <a:r>
              <a:rPr b="1" lang="en-US" sz="1550">
                <a:solidFill>
                  <a:srgbClr val="2E5B9E"/>
                </a:solidFill>
              </a:rPr>
              <a:t>: Find a</a:t>
            </a:r>
            <a:r>
              <a:rPr b="1" i="0" lang="en-US" sz="1550" u="none" cap="none" strike="noStrike">
                <a:solidFill>
                  <a:srgbClr val="2E5B9E"/>
                </a:solidFill>
                <a:latin typeface="Arial"/>
                <a:ea typeface="Arial"/>
                <a:cs typeface="Arial"/>
                <a:sym typeface="Arial"/>
              </a:rPr>
              <a:t> novel event</a:t>
            </a:r>
            <a:endParaRPr/>
          </a:p>
        </p:txBody>
      </p:sp>
      <p:sp>
        <p:nvSpPr>
          <p:cNvPr id="178" name="Google Shape;178;p6"/>
          <p:cNvSpPr txBox="1"/>
          <p:nvPr/>
        </p:nvSpPr>
        <p:spPr>
          <a:xfrm>
            <a:off x="4983480" y="3558859"/>
            <a:ext cx="36576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1" lang="en-US" sz="1100" u="none" cap="none" strike="noStrike">
                <a:solidFill>
                  <a:srgbClr val="777777"/>
                </a:solidFill>
                <a:latin typeface="Arial"/>
                <a:ea typeface="Arial"/>
                <a:cs typeface="Arial"/>
                <a:sym typeface="Arial"/>
              </a:rPr>
              <a:t>when the mutation fires: back off again</a:t>
            </a:r>
            <a:endParaRPr/>
          </a:p>
        </p:txBody>
      </p:sp>
      <p:sp>
        <p:nvSpPr>
          <p:cNvPr id="179" name="Google Shape;179;p6"/>
          <p:cNvSpPr/>
          <p:nvPr/>
        </p:nvSpPr>
        <p:spPr>
          <a:xfrm>
            <a:off x="502920" y="3888043"/>
            <a:ext cx="3657600" cy="502800"/>
          </a:xfrm>
          <a:prstGeom prst="roundRect">
            <a:avLst>
              <a:gd fmla="val 16667" name="adj"/>
            </a:avLst>
          </a:prstGeom>
          <a:solidFill>
            <a:srgbClr val="EDEDED"/>
          </a:solidFill>
          <a:ln cap="flat" cmpd="sng" w="12700">
            <a:solidFill>
              <a:srgbClr val="CCCCCC"/>
            </a:solidFill>
            <a:prstDash val="solid"/>
            <a:round/>
            <a:headEnd len="sm" w="sm" type="none"/>
            <a:tailEnd len="sm" w="sm" type="none"/>
          </a:ln>
        </p:spPr>
        <p:txBody>
          <a:bodyPr anchorCtr="0" anchor="ctr" bIns="18275" lIns="91425" spcFirstLastPara="1" rIns="91425" wrap="square" tIns="18275">
            <a:noAutofit/>
          </a:bodyPr>
          <a:lstStyle/>
          <a:p>
            <a:pPr indent="0" lvl="0" marL="0" marR="0" rtl="0" algn="ctr">
              <a:lnSpc>
                <a:spcPct val="100000"/>
              </a:lnSpc>
              <a:spcBef>
                <a:spcPts val="0"/>
              </a:spcBef>
              <a:spcAft>
                <a:spcPts val="0"/>
              </a:spcAft>
              <a:buNone/>
            </a:pPr>
            <a:r>
              <a:rPr b="0" i="0" lang="en-US" sz="1150" u="none" cap="none" strike="noStrike">
                <a:solidFill>
                  <a:srgbClr val="777777"/>
                </a:solidFill>
                <a:latin typeface="Arial"/>
                <a:ea typeface="Arial"/>
                <a:cs typeface="Arial"/>
                <a:sym typeface="Arial"/>
              </a:rPr>
              <a:t>order 6: seen 5×, all one-offs → too sparse, skip</a:t>
            </a:r>
            <a:endParaRPr/>
          </a:p>
        </p:txBody>
      </p:sp>
      <p:sp>
        <p:nvSpPr>
          <p:cNvPr id="180" name="Google Shape;180;p6"/>
          <p:cNvSpPr txBox="1"/>
          <p:nvPr/>
        </p:nvSpPr>
        <p:spPr>
          <a:xfrm>
            <a:off x="502920" y="4418395"/>
            <a:ext cx="3657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1" lang="en-US" sz="1000" u="none" cap="none" strike="noStrike">
                <a:solidFill>
                  <a:srgbClr val="777777"/>
                </a:solidFill>
                <a:latin typeface="Arial"/>
                <a:ea typeface="Arial"/>
                <a:cs typeface="Arial"/>
                <a:sym typeface="Arial"/>
              </a:rPr>
              <a:t>↓  back off</a:t>
            </a:r>
            <a:endParaRPr/>
          </a:p>
        </p:txBody>
      </p:sp>
      <p:sp>
        <p:nvSpPr>
          <p:cNvPr id="181" name="Google Shape;181;p6"/>
          <p:cNvSpPr/>
          <p:nvPr/>
        </p:nvSpPr>
        <p:spPr>
          <a:xfrm>
            <a:off x="502920" y="4674427"/>
            <a:ext cx="3657600" cy="502800"/>
          </a:xfrm>
          <a:prstGeom prst="roundRect">
            <a:avLst>
              <a:gd fmla="val 16667" name="adj"/>
            </a:avLst>
          </a:prstGeom>
          <a:solidFill>
            <a:srgbClr val="E7F2EA"/>
          </a:solidFill>
          <a:ln cap="flat" cmpd="sng" w="12700">
            <a:solidFill>
              <a:srgbClr val="1A7A3A"/>
            </a:solidFill>
            <a:prstDash val="solid"/>
            <a:round/>
            <a:headEnd len="sm" w="sm" type="none"/>
            <a:tailEnd len="sm" w="sm" type="none"/>
          </a:ln>
        </p:spPr>
        <p:txBody>
          <a:bodyPr anchorCtr="0" anchor="ctr" bIns="18275" lIns="91425" spcFirstLastPara="1" rIns="91425" wrap="square" tIns="18275">
            <a:noAutofit/>
          </a:bodyPr>
          <a:lstStyle/>
          <a:p>
            <a:pPr indent="0" lvl="0" marL="0" marR="0" rtl="0" algn="ctr">
              <a:lnSpc>
                <a:spcPct val="100000"/>
              </a:lnSpc>
              <a:spcBef>
                <a:spcPts val="0"/>
              </a:spcBef>
              <a:spcAft>
                <a:spcPts val="0"/>
              </a:spcAft>
              <a:buNone/>
            </a:pPr>
            <a:r>
              <a:rPr b="0" i="0" lang="en-US" sz="1150" u="none" cap="none" strike="noStrike">
                <a:solidFill>
                  <a:srgbClr val="3A3A3A"/>
                </a:solidFill>
                <a:latin typeface="Arial"/>
                <a:ea typeface="Arial"/>
                <a:cs typeface="Arial"/>
                <a:sym typeface="Arial"/>
              </a:rPr>
              <a:t>order 5: seen 35× → </a:t>
            </a:r>
            <a:r>
              <a:rPr b="1" i="0" lang="en-US" sz="1150" u="none" cap="none" strike="noStrike">
                <a:solidFill>
                  <a:srgbClr val="1A7A3A"/>
                </a:solidFill>
                <a:latin typeface="Arial"/>
                <a:ea typeface="Arial"/>
                <a:cs typeface="Arial"/>
                <a:sym typeface="Arial"/>
              </a:rPr>
              <a:t>resolved context</a:t>
            </a:r>
            <a:endParaRPr/>
          </a:p>
        </p:txBody>
      </p:sp>
      <p:sp>
        <p:nvSpPr>
          <p:cNvPr id="182" name="Google Shape;182;p6"/>
          <p:cNvSpPr txBox="1"/>
          <p:nvPr/>
        </p:nvSpPr>
        <p:spPr>
          <a:xfrm>
            <a:off x="502920" y="5287075"/>
            <a:ext cx="3657600" cy="6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150" u="none" cap="none" strike="noStrike">
                <a:solidFill>
                  <a:srgbClr val="404040"/>
                </a:solidFill>
                <a:latin typeface="Arial"/>
                <a:ea typeface="Arial"/>
                <a:cs typeface="Arial"/>
                <a:sym typeface="Arial"/>
              </a:rPr>
              <a:t>The normal next step comes from here. Its one rare successor (1 in 35) sets the mutation-rate </a:t>
            </a:r>
            <a:r>
              <a:rPr b="1" i="0" lang="en-US" sz="1150" u="none" cap="none" strike="noStrike">
                <a:solidFill>
                  <a:srgbClr val="1A7A3A"/>
                </a:solidFill>
                <a:latin typeface="Arial"/>
                <a:ea typeface="Arial"/>
                <a:cs typeface="Arial"/>
                <a:sym typeface="Arial"/>
              </a:rPr>
              <a:t>≈ 3% (Good T</a:t>
            </a:r>
            <a:r>
              <a:rPr b="1" lang="en-US" sz="1150">
                <a:solidFill>
                  <a:srgbClr val="1A7A3A"/>
                </a:solidFill>
              </a:rPr>
              <a:t>uring</a:t>
            </a:r>
            <a:r>
              <a:rPr b="1" i="0" lang="en-US" sz="1150" u="none" cap="none" strike="noStrike">
                <a:solidFill>
                  <a:srgbClr val="1A7A3A"/>
                </a:solidFill>
                <a:latin typeface="Arial"/>
                <a:ea typeface="Arial"/>
                <a:cs typeface="Arial"/>
                <a:sym typeface="Arial"/>
              </a:rPr>
              <a:t>)</a:t>
            </a:r>
            <a:endParaRPr b="0" i="0" sz="1150" u="none" cap="none" strike="noStrike">
              <a:solidFill>
                <a:srgbClr val="404040"/>
              </a:solidFill>
              <a:latin typeface="Arial"/>
              <a:ea typeface="Arial"/>
              <a:cs typeface="Arial"/>
              <a:sym typeface="Arial"/>
            </a:endParaRPr>
          </a:p>
        </p:txBody>
      </p:sp>
      <p:sp>
        <p:nvSpPr>
          <p:cNvPr id="183" name="Google Shape;183;p6"/>
          <p:cNvSpPr/>
          <p:nvPr/>
        </p:nvSpPr>
        <p:spPr>
          <a:xfrm>
            <a:off x="4983480" y="3888043"/>
            <a:ext cx="3657600" cy="502800"/>
          </a:xfrm>
          <a:prstGeom prst="roundRect">
            <a:avLst>
              <a:gd fmla="val 16667" name="adj"/>
            </a:avLst>
          </a:prstGeom>
          <a:solidFill>
            <a:srgbClr val="EDEDED"/>
          </a:solidFill>
          <a:ln cap="flat" cmpd="sng" w="12700">
            <a:solidFill>
              <a:srgbClr val="CCCCCC"/>
            </a:solidFill>
            <a:prstDash val="solid"/>
            <a:round/>
            <a:headEnd len="sm" w="sm" type="none"/>
            <a:tailEnd len="sm" w="sm" type="none"/>
          </a:ln>
        </p:spPr>
        <p:txBody>
          <a:bodyPr anchorCtr="0" anchor="ctr" bIns="18275" lIns="91425" spcFirstLastPara="1" rIns="91425" wrap="square" tIns="18275">
            <a:noAutofit/>
          </a:bodyPr>
          <a:lstStyle/>
          <a:p>
            <a:pPr indent="0" lvl="0" marL="0" marR="0" rtl="0" algn="ctr">
              <a:lnSpc>
                <a:spcPct val="100000"/>
              </a:lnSpc>
              <a:spcBef>
                <a:spcPts val="0"/>
              </a:spcBef>
              <a:spcAft>
                <a:spcPts val="0"/>
              </a:spcAft>
              <a:buNone/>
            </a:pPr>
            <a:r>
              <a:rPr b="0" i="0" lang="en-US" sz="1150" u="none" cap="none" strike="noStrike">
                <a:solidFill>
                  <a:srgbClr val="777777"/>
                </a:solidFill>
                <a:latin typeface="Arial"/>
                <a:ea typeface="Arial"/>
                <a:cs typeface="Arial"/>
                <a:sym typeface="Arial"/>
              </a:rPr>
              <a:t>order 5: its successors are all accounted for</a:t>
            </a:r>
            <a:endParaRPr b="0" i="0" sz="1150" u="none" cap="none" strike="noStrike">
              <a:solidFill>
                <a:srgbClr val="777777"/>
              </a:solidFill>
              <a:latin typeface="Arial"/>
              <a:ea typeface="Arial"/>
              <a:cs typeface="Arial"/>
              <a:sym typeface="Arial"/>
            </a:endParaRPr>
          </a:p>
        </p:txBody>
      </p:sp>
      <p:sp>
        <p:nvSpPr>
          <p:cNvPr id="184" name="Google Shape;184;p6"/>
          <p:cNvSpPr txBox="1"/>
          <p:nvPr/>
        </p:nvSpPr>
        <p:spPr>
          <a:xfrm>
            <a:off x="4983480" y="4418395"/>
            <a:ext cx="3657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1" lang="en-US" sz="1000" u="none" cap="none" strike="noStrike">
                <a:solidFill>
                  <a:srgbClr val="777777"/>
                </a:solidFill>
                <a:latin typeface="Arial"/>
                <a:ea typeface="Arial"/>
                <a:cs typeface="Arial"/>
                <a:sym typeface="Arial"/>
              </a:rPr>
              <a:t>↓  back off</a:t>
            </a:r>
            <a:endParaRPr/>
          </a:p>
        </p:txBody>
      </p:sp>
      <p:sp>
        <p:nvSpPr>
          <p:cNvPr id="185" name="Google Shape;185;p6"/>
          <p:cNvSpPr/>
          <p:nvPr/>
        </p:nvSpPr>
        <p:spPr>
          <a:xfrm>
            <a:off x="4983480" y="4674427"/>
            <a:ext cx="3657600" cy="502800"/>
          </a:xfrm>
          <a:prstGeom prst="roundRect">
            <a:avLst>
              <a:gd fmla="val 16667" name="adj"/>
            </a:avLst>
          </a:prstGeom>
          <a:solidFill>
            <a:srgbClr val="E7EEF7"/>
          </a:solidFill>
          <a:ln cap="flat" cmpd="sng" w="12700">
            <a:solidFill>
              <a:srgbClr val="2E5B9E"/>
            </a:solidFill>
            <a:prstDash val="solid"/>
            <a:round/>
            <a:headEnd len="sm" w="sm" type="none"/>
            <a:tailEnd len="sm" w="sm" type="none"/>
          </a:ln>
        </p:spPr>
        <p:txBody>
          <a:bodyPr anchorCtr="0" anchor="ctr" bIns="18275" lIns="91425" spcFirstLastPara="1" rIns="91425" wrap="square" tIns="18275">
            <a:noAutofit/>
          </a:bodyPr>
          <a:lstStyle/>
          <a:p>
            <a:pPr indent="0" lvl="0" marL="0" marR="0" rtl="0" algn="ctr">
              <a:lnSpc>
                <a:spcPct val="100000"/>
              </a:lnSpc>
              <a:spcBef>
                <a:spcPts val="0"/>
              </a:spcBef>
              <a:spcAft>
                <a:spcPts val="0"/>
              </a:spcAft>
              <a:buNone/>
            </a:pPr>
            <a:r>
              <a:rPr b="0" i="0" lang="en-US" sz="1150" u="none" cap="none" strike="noStrike">
                <a:solidFill>
                  <a:srgbClr val="3A3A3A"/>
                </a:solidFill>
                <a:latin typeface="Arial"/>
                <a:ea typeface="Arial"/>
                <a:cs typeface="Arial"/>
                <a:sym typeface="Arial"/>
              </a:rPr>
              <a:t>order 4: offers z, unseen here → </a:t>
            </a:r>
            <a:r>
              <a:rPr b="1" i="0" lang="en-US" sz="1150" u="none" cap="none" strike="noStrike">
                <a:solidFill>
                  <a:srgbClr val="2E5B9E"/>
                </a:solidFill>
                <a:latin typeface="Arial"/>
                <a:ea typeface="Arial"/>
                <a:cs typeface="Arial"/>
                <a:sym typeface="Arial"/>
              </a:rPr>
              <a:t>insert z</a:t>
            </a:r>
            <a:endParaRPr/>
          </a:p>
        </p:txBody>
      </p:sp>
      <p:sp>
        <p:nvSpPr>
          <p:cNvPr id="186" name="Google Shape;186;p6"/>
          <p:cNvSpPr txBox="1"/>
          <p:nvPr/>
        </p:nvSpPr>
        <p:spPr>
          <a:xfrm>
            <a:off x="4983480" y="5287075"/>
            <a:ext cx="3657600" cy="44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150" u="none" cap="none" strike="noStrike">
                <a:solidFill>
                  <a:srgbClr val="404040"/>
                </a:solidFill>
                <a:latin typeface="Arial"/>
                <a:ea typeface="Arial"/>
                <a:cs typeface="Arial"/>
                <a:sym typeface="Arial"/>
              </a:rPr>
              <a:t>z is novel for order 5, but is valid in a shorter order: </a:t>
            </a:r>
            <a:r>
              <a:rPr b="1" i="0" lang="en-US" sz="1150" u="none" cap="none" strike="noStrike">
                <a:solidFill>
                  <a:srgbClr val="2E5B9E"/>
                </a:solidFill>
                <a:latin typeface="Arial"/>
                <a:ea typeface="Arial"/>
                <a:cs typeface="Arial"/>
                <a:sym typeface="Arial"/>
              </a:rPr>
              <a:t>novel and grounded in reality</a:t>
            </a:r>
            <a:endParaRPr b="0" i="0" sz="1150" u="none" cap="none" strike="noStrike">
              <a:solidFill>
                <a:srgbClr val="404040"/>
              </a:solidFill>
              <a:latin typeface="Arial"/>
              <a:ea typeface="Arial"/>
              <a:cs typeface="Arial"/>
              <a:sym typeface="Arial"/>
            </a:endParaRPr>
          </a:p>
        </p:txBody>
      </p:sp>
      <p:sp>
        <p:nvSpPr>
          <p:cNvPr id="187" name="Google Shape;187;p6"/>
          <p:cNvSpPr/>
          <p:nvPr/>
        </p:nvSpPr>
        <p:spPr>
          <a:xfrm>
            <a:off x="4370832" y="4528123"/>
            <a:ext cx="457200" cy="365700"/>
          </a:xfrm>
          <a:prstGeom prst="rightArrow">
            <a:avLst>
              <a:gd fmla="val 50000" name="adj1"/>
              <a:gd fmla="val 50000" name="adj2"/>
            </a:avLst>
          </a:prstGeom>
          <a:solidFill>
            <a:srgbClr val="D8E2DB"/>
          </a:solidFill>
          <a:ln cap="flat" cmpd="sng" w="9525">
            <a:solidFill>
              <a:srgbClr val="BBCCB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88" name="Google Shape;188;p6"/>
          <p:cNvPicPr preferRelativeResize="0"/>
          <p:nvPr/>
        </p:nvPicPr>
        <p:blipFill>
          <a:blip r:embed="rId3">
            <a:alphaModFix/>
          </a:blip>
          <a:stretch>
            <a:fillRect/>
          </a:stretch>
        </p:blipFill>
        <p:spPr>
          <a:xfrm>
            <a:off x="603700" y="1472975"/>
            <a:ext cx="8037387" cy="1577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7"/>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lang="en-US" sz="1800">
                <a:solidFill>
                  <a:srgbClr val="3A3A3A"/>
                </a:solidFill>
              </a:rPr>
              <a:t>How we validate</a:t>
            </a:r>
            <a:endParaRPr/>
          </a:p>
        </p:txBody>
      </p:sp>
      <p:sp>
        <p:nvSpPr>
          <p:cNvPr id="194" name="Google Shape;194;p7"/>
          <p:cNvSpPr/>
          <p:nvPr/>
        </p:nvSpPr>
        <p:spPr>
          <a:xfrm>
            <a:off x="548640" y="1417320"/>
            <a:ext cx="3886200" cy="1737360"/>
          </a:xfrm>
          <a:prstGeom prst="roundRect">
            <a:avLst>
              <a:gd fmla="val 16667" name="adj"/>
            </a:avLst>
          </a:prstGeom>
          <a:solidFill>
            <a:srgbClr val="F2F2F2"/>
          </a:solidFill>
          <a:ln cap="flat" cmpd="sng" w="12700">
            <a:solidFill>
              <a:srgbClr val="CFD4D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5" name="Google Shape;195;p7"/>
          <p:cNvSpPr txBox="1"/>
          <p:nvPr/>
        </p:nvSpPr>
        <p:spPr>
          <a:xfrm>
            <a:off x="777240" y="1618488"/>
            <a:ext cx="34747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F497D"/>
                </a:solidFill>
                <a:latin typeface="Calibri"/>
                <a:ea typeface="Calibri"/>
                <a:cs typeface="Calibri"/>
                <a:sym typeface="Calibri"/>
              </a:rPr>
              <a:t>5 real-life logs</a:t>
            </a:r>
            <a:endParaRPr/>
          </a:p>
        </p:txBody>
      </p:sp>
      <p:sp>
        <p:nvSpPr>
          <p:cNvPr id="196" name="Google Shape;196;p7"/>
          <p:cNvSpPr txBox="1"/>
          <p:nvPr/>
        </p:nvSpPr>
        <p:spPr>
          <a:xfrm>
            <a:off x="777240" y="2075688"/>
            <a:ext cx="3474720" cy="9144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404040"/>
                </a:solidFill>
                <a:latin typeface="Calibri"/>
                <a:ea typeface="Calibri"/>
                <a:cs typeface="Calibri"/>
                <a:sym typeface="Calibri"/>
              </a:rPr>
              <a:t>L1–L5: Sepsis (15k events) to BPI 2018 (2.5M) — scale, depth, representativeness.</a:t>
            </a:r>
            <a:endParaRPr/>
          </a:p>
        </p:txBody>
      </p:sp>
      <p:sp>
        <p:nvSpPr>
          <p:cNvPr id="197" name="Google Shape;197;p7"/>
          <p:cNvSpPr/>
          <p:nvPr/>
        </p:nvSpPr>
        <p:spPr>
          <a:xfrm>
            <a:off x="4709160" y="1417320"/>
            <a:ext cx="3886200" cy="1737360"/>
          </a:xfrm>
          <a:prstGeom prst="roundRect">
            <a:avLst>
              <a:gd fmla="val 16667" name="adj"/>
            </a:avLst>
          </a:prstGeom>
          <a:solidFill>
            <a:srgbClr val="F2F2F2"/>
          </a:solidFill>
          <a:ln cap="flat" cmpd="sng" w="12700">
            <a:solidFill>
              <a:srgbClr val="CFD4D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8" name="Google Shape;198;p7"/>
          <p:cNvSpPr txBox="1"/>
          <p:nvPr/>
        </p:nvSpPr>
        <p:spPr>
          <a:xfrm>
            <a:off x="4937760" y="1618488"/>
            <a:ext cx="34747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F497D"/>
                </a:solidFill>
                <a:latin typeface="Calibri"/>
                <a:ea typeface="Calibri"/>
                <a:cs typeface="Calibri"/>
                <a:sym typeface="Calibri"/>
              </a:rPr>
              <a:t>Ground truth: R1</a:t>
            </a:r>
            <a:endParaRPr/>
          </a:p>
        </p:txBody>
      </p:sp>
      <p:sp>
        <p:nvSpPr>
          <p:cNvPr id="199" name="Google Shape;199;p7"/>
          <p:cNvSpPr txBox="1"/>
          <p:nvPr/>
        </p:nvSpPr>
        <p:spPr>
          <a:xfrm>
            <a:off x="4937760" y="2075688"/>
            <a:ext cx="3474720" cy="9144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404040"/>
                </a:solidFill>
                <a:latin typeface="Calibri"/>
                <a:ea typeface="Calibri"/>
                <a:cs typeface="Calibri"/>
                <a:sym typeface="Calibri"/>
              </a:rPr>
              <a:t>Variant-based k-fold cross-validation: does a re-discovered model accept held-out variants?</a:t>
            </a:r>
            <a:endParaRPr/>
          </a:p>
        </p:txBody>
      </p:sp>
      <p:sp>
        <p:nvSpPr>
          <p:cNvPr id="200" name="Google Shape;200;p7"/>
          <p:cNvSpPr/>
          <p:nvPr/>
        </p:nvSpPr>
        <p:spPr>
          <a:xfrm>
            <a:off x="548640" y="3429000"/>
            <a:ext cx="3886200" cy="1737360"/>
          </a:xfrm>
          <a:prstGeom prst="roundRect">
            <a:avLst>
              <a:gd fmla="val 16667" name="adj"/>
            </a:avLst>
          </a:prstGeom>
          <a:solidFill>
            <a:srgbClr val="F2F2F2"/>
          </a:solidFill>
          <a:ln cap="flat" cmpd="sng" w="12700">
            <a:solidFill>
              <a:srgbClr val="CFD4D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1" name="Google Shape;201;p7"/>
          <p:cNvSpPr txBox="1"/>
          <p:nvPr/>
        </p:nvSpPr>
        <p:spPr>
          <a:xfrm>
            <a:off x="777240" y="3630168"/>
            <a:ext cx="34747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F497D"/>
                </a:solidFill>
                <a:latin typeface="Calibri"/>
                <a:ea typeface="Calibri"/>
                <a:cs typeface="Calibri"/>
                <a:sym typeface="Calibri"/>
              </a:rPr>
              <a:t>Four criteria</a:t>
            </a:r>
            <a:endParaRPr/>
          </a:p>
        </p:txBody>
      </p:sp>
      <p:sp>
        <p:nvSpPr>
          <p:cNvPr id="202" name="Google Shape;202;p7"/>
          <p:cNvSpPr txBox="1"/>
          <p:nvPr/>
        </p:nvSpPr>
        <p:spPr>
          <a:xfrm>
            <a:off x="777240" y="4087368"/>
            <a:ext cx="3474720" cy="9144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404040"/>
                </a:solidFill>
                <a:latin typeface="Calibri"/>
                <a:ea typeface="Calibri"/>
                <a:cs typeface="Calibri"/>
                <a:sym typeface="Calibri"/>
              </a:rPr>
              <a:t>Pearson (calibration), Spearman / Kendall (ordering), MAE, discriminative spread.</a:t>
            </a:r>
            <a:endParaRPr/>
          </a:p>
        </p:txBody>
      </p:sp>
      <p:sp>
        <p:nvSpPr>
          <p:cNvPr id="203" name="Google Shape;203;p7"/>
          <p:cNvSpPr/>
          <p:nvPr/>
        </p:nvSpPr>
        <p:spPr>
          <a:xfrm>
            <a:off x="4709160" y="3429000"/>
            <a:ext cx="3886200" cy="1737360"/>
          </a:xfrm>
          <a:prstGeom prst="roundRect">
            <a:avLst>
              <a:gd fmla="val 16667" name="adj"/>
            </a:avLst>
          </a:prstGeom>
          <a:solidFill>
            <a:srgbClr val="F2F2F2"/>
          </a:solidFill>
          <a:ln cap="flat" cmpd="sng" w="12700">
            <a:solidFill>
              <a:srgbClr val="CFD4D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4" name="Google Shape;204;p7"/>
          <p:cNvSpPr txBox="1"/>
          <p:nvPr/>
        </p:nvSpPr>
        <p:spPr>
          <a:xfrm>
            <a:off x="4937760" y="3630168"/>
            <a:ext cx="347472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1F497D"/>
                </a:solidFill>
                <a:latin typeface="Calibri"/>
                <a:ea typeface="Calibri"/>
                <a:cs typeface="Calibri"/>
                <a:sym typeface="Calibri"/>
              </a:rPr>
              <a:t>One-hour budget</a:t>
            </a:r>
            <a:endParaRPr/>
          </a:p>
        </p:txBody>
      </p:sp>
      <p:sp>
        <p:nvSpPr>
          <p:cNvPr id="205" name="Google Shape;205;p7"/>
          <p:cNvSpPr txBox="1"/>
          <p:nvPr/>
        </p:nvSpPr>
        <p:spPr>
          <a:xfrm>
            <a:off x="4937760" y="4087368"/>
            <a:ext cx="3474720" cy="9144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404040"/>
                </a:solidFill>
                <a:latin typeface="Calibri"/>
                <a:ea typeface="Calibri"/>
                <a:cs typeface="Calibri"/>
                <a:sym typeface="Calibri"/>
              </a:rPr>
              <a:t>Uniform per cell; both poles included. Runtime is a first-class outcome.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8"/>
          <p:cNvSpPr txBox="1"/>
          <p:nvPr>
            <p:ph type="title"/>
          </p:nvPr>
        </p:nvSpPr>
        <p:spPr>
          <a:xfrm>
            <a:off x="2051050" y="207962"/>
            <a:ext cx="3959100" cy="852600"/>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lang="en-US" sz="1800">
                <a:solidFill>
                  <a:srgbClr val="3A3A3A"/>
                </a:solidFill>
              </a:rPr>
              <a:t>ShadowGen tracks the ground truth</a:t>
            </a:r>
            <a:endParaRPr/>
          </a:p>
        </p:txBody>
      </p:sp>
      <p:sp>
        <p:nvSpPr>
          <p:cNvPr id="211" name="Google Shape;211;p8"/>
          <p:cNvSpPr txBox="1"/>
          <p:nvPr/>
        </p:nvSpPr>
        <p:spPr>
          <a:xfrm>
            <a:off x="5212080" y="1554480"/>
            <a:ext cx="34746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404040"/>
                </a:solidFill>
                <a:latin typeface="Calibri"/>
                <a:ea typeface="Calibri"/>
                <a:cs typeface="Calibri"/>
                <a:sym typeface="Calibri"/>
              </a:rPr>
              <a:t>On every one of the five logs:</a:t>
            </a:r>
            <a:endParaRPr/>
          </a:p>
        </p:txBody>
      </p:sp>
      <p:sp>
        <p:nvSpPr>
          <p:cNvPr id="212" name="Google Shape;212;p8"/>
          <p:cNvSpPr txBox="1"/>
          <p:nvPr/>
        </p:nvSpPr>
        <p:spPr>
          <a:xfrm>
            <a:off x="5120640" y="2148840"/>
            <a:ext cx="1783200" cy="914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4400" u="none" cap="none" strike="noStrike">
                <a:solidFill>
                  <a:srgbClr val="1F497D"/>
                </a:solidFill>
                <a:latin typeface="Calibri"/>
                <a:ea typeface="Calibri"/>
                <a:cs typeface="Calibri"/>
                <a:sym typeface="Calibri"/>
              </a:rPr>
              <a:t>0.99+</a:t>
            </a:r>
            <a:endParaRPr/>
          </a:p>
        </p:txBody>
      </p:sp>
      <p:sp>
        <p:nvSpPr>
          <p:cNvPr id="213" name="Google Shape;213;p8"/>
          <p:cNvSpPr txBox="1"/>
          <p:nvPr/>
        </p:nvSpPr>
        <p:spPr>
          <a:xfrm>
            <a:off x="5120640" y="2990088"/>
            <a:ext cx="1783080" cy="64008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US" sz="1150" u="none" cap="none" strike="noStrike">
                <a:solidFill>
                  <a:srgbClr val="808080"/>
                </a:solidFill>
                <a:latin typeface="Calibri"/>
                <a:ea typeface="Calibri"/>
                <a:cs typeface="Calibri"/>
                <a:sym typeface="Calibri"/>
              </a:rPr>
              <a:t>Pearson</a:t>
            </a:r>
            <a:br>
              <a:rPr b="0" i="0" lang="en-US" sz="1150" u="none" cap="none" strike="noStrike">
                <a:solidFill>
                  <a:srgbClr val="808080"/>
                </a:solidFill>
                <a:latin typeface="Calibri"/>
                <a:ea typeface="Calibri"/>
                <a:cs typeface="Calibri"/>
                <a:sym typeface="Calibri"/>
              </a:rPr>
            </a:br>
            <a:r>
              <a:rPr b="0" i="0" lang="en-US" sz="1150" u="none" cap="none" strike="noStrike">
                <a:solidFill>
                  <a:srgbClr val="808080"/>
                </a:solidFill>
                <a:latin typeface="Calibri"/>
                <a:ea typeface="Calibri"/>
                <a:cs typeface="Calibri"/>
                <a:sym typeface="Calibri"/>
              </a:rPr>
              <a:t>(0.986 – 0.999)</a:t>
            </a:r>
            <a:endParaRPr/>
          </a:p>
        </p:txBody>
      </p:sp>
      <p:sp>
        <p:nvSpPr>
          <p:cNvPr id="214" name="Google Shape;214;p8"/>
          <p:cNvSpPr txBox="1"/>
          <p:nvPr/>
        </p:nvSpPr>
        <p:spPr>
          <a:xfrm>
            <a:off x="6949440" y="2148840"/>
            <a:ext cx="1783200" cy="914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4400" u="none" cap="none" strike="noStrike">
                <a:solidFill>
                  <a:srgbClr val="1F497D"/>
                </a:solidFill>
                <a:latin typeface="Calibri"/>
                <a:ea typeface="Calibri"/>
                <a:cs typeface="Calibri"/>
                <a:sym typeface="Calibri"/>
              </a:rPr>
              <a:t>3 s</a:t>
            </a:r>
            <a:endParaRPr/>
          </a:p>
        </p:txBody>
      </p:sp>
      <p:sp>
        <p:nvSpPr>
          <p:cNvPr id="215" name="Google Shape;215;p8"/>
          <p:cNvSpPr txBox="1"/>
          <p:nvPr/>
        </p:nvSpPr>
        <p:spPr>
          <a:xfrm>
            <a:off x="6949440" y="2990088"/>
            <a:ext cx="1783080" cy="64008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US" sz="1150" u="none" cap="none" strike="noStrike">
                <a:solidFill>
                  <a:srgbClr val="808080"/>
                </a:solidFill>
                <a:latin typeface="Calibri"/>
                <a:ea typeface="Calibri"/>
                <a:cs typeface="Calibri"/>
                <a:sym typeface="Calibri"/>
              </a:rPr>
              <a:t>median per model</a:t>
            </a:r>
            <a:br>
              <a:rPr b="0" i="0" lang="en-US" sz="1150" u="none" cap="none" strike="noStrike">
                <a:solidFill>
                  <a:srgbClr val="808080"/>
                </a:solidFill>
                <a:latin typeface="Calibri"/>
                <a:ea typeface="Calibri"/>
                <a:cs typeface="Calibri"/>
                <a:sym typeface="Calibri"/>
              </a:rPr>
            </a:br>
            <a:r>
              <a:rPr b="0" i="0" lang="en-US" sz="1150" u="none" cap="none" strike="noStrike">
                <a:solidFill>
                  <a:srgbClr val="808080"/>
                </a:solidFill>
                <a:latin typeface="Calibri"/>
                <a:ea typeface="Calibri"/>
                <a:cs typeface="Calibri"/>
                <a:sym typeface="Calibri"/>
              </a:rPr>
              <a:t>(single draw, K=1)</a:t>
            </a:r>
            <a:endParaRPr/>
          </a:p>
        </p:txBody>
      </p:sp>
      <p:sp>
        <p:nvSpPr>
          <p:cNvPr id="216" name="Google Shape;216;p8"/>
          <p:cNvSpPr txBox="1"/>
          <p:nvPr/>
        </p:nvSpPr>
        <p:spPr>
          <a:xfrm>
            <a:off x="5212080" y="3794760"/>
            <a:ext cx="3474600" cy="1580400"/>
          </a:xfrm>
          <a:prstGeom prst="rect">
            <a:avLst/>
          </a:prstGeom>
          <a:noFill/>
          <a:ln>
            <a:noFill/>
          </a:ln>
        </p:spPr>
        <p:txBody>
          <a:bodyPr anchorCtr="0" anchor="t" bIns="0" lIns="0" spcFirstLastPara="1" rIns="0" wrap="square" tIns="0">
            <a:spAutoFit/>
          </a:bodyPr>
          <a:lstStyle/>
          <a:p>
            <a:pPr indent="-285750" lvl="0" marL="285750" marR="0" rtl="0" algn="l">
              <a:lnSpc>
                <a:spcPct val="120000"/>
              </a:lnSpc>
              <a:spcBef>
                <a:spcPts val="0"/>
              </a:spcBef>
              <a:spcAft>
                <a:spcPts val="0"/>
              </a:spcAft>
              <a:buClr>
                <a:srgbClr val="000000"/>
              </a:buClr>
              <a:buSzPts val="1300"/>
              <a:buFont typeface="Arial"/>
              <a:buChar char="•"/>
            </a:pPr>
            <a:r>
              <a:rPr b="0" i="0" lang="en-US" sz="1300" u="none" cap="none" strike="noStrike">
                <a:solidFill>
                  <a:schemeClr val="dk1"/>
                </a:solidFill>
                <a:latin typeface="Arial"/>
                <a:ea typeface="Arial"/>
                <a:cs typeface="Arial"/>
                <a:sym typeface="Arial"/>
              </a:rPr>
              <a:t>Mean absolute error: </a:t>
            </a:r>
            <a:r>
              <a:rPr b="1" i="0" lang="en-US" sz="1300" u="none" cap="none" strike="noStrike">
                <a:solidFill>
                  <a:schemeClr val="dk1"/>
                </a:solidFill>
                <a:latin typeface="Arial"/>
                <a:ea typeface="Arial"/>
                <a:cs typeface="Arial"/>
                <a:sym typeface="Arial"/>
              </a:rPr>
              <a:t>0.006 - 0.043</a:t>
            </a:r>
            <a:endParaRPr b="1" i="0" sz="1300" u="none" cap="none" strike="noStrike">
              <a:solidFill>
                <a:schemeClr val="dk1"/>
              </a:solidFill>
              <a:latin typeface="Arial"/>
              <a:ea typeface="Arial"/>
              <a:cs typeface="Arial"/>
              <a:sym typeface="Arial"/>
            </a:endParaRPr>
          </a:p>
          <a:p>
            <a:pPr indent="-285750" lvl="0" marL="285750" marR="0" rtl="0" algn="l">
              <a:lnSpc>
                <a:spcPct val="120000"/>
              </a:lnSpc>
              <a:spcBef>
                <a:spcPts val="700"/>
              </a:spcBef>
              <a:spcAft>
                <a:spcPts val="0"/>
              </a:spcAft>
              <a:buClr>
                <a:srgbClr val="000000"/>
              </a:buClr>
              <a:buSzPts val="1300"/>
              <a:buFont typeface="Arial"/>
              <a:buChar char="•"/>
            </a:pPr>
            <a:r>
              <a:rPr b="0" i="0" lang="en-US" sz="1300" u="none" cap="none" strike="noStrike">
                <a:solidFill>
                  <a:schemeClr val="dk1"/>
                </a:solidFill>
                <a:latin typeface="Arial"/>
                <a:ea typeface="Arial"/>
                <a:cs typeface="Arial"/>
                <a:sym typeface="Arial"/>
              </a:rPr>
              <a:t>Ranking matches the ground truth (up to one near-tie swap, L3/L5)</a:t>
            </a:r>
            <a:endParaRPr b="1" i="0" sz="1300" u="none" cap="none" strike="noStrike">
              <a:solidFill>
                <a:schemeClr val="dk1"/>
              </a:solidFill>
              <a:latin typeface="Arial"/>
              <a:ea typeface="Arial"/>
              <a:cs typeface="Arial"/>
              <a:sym typeface="Arial"/>
            </a:endParaRPr>
          </a:p>
          <a:p>
            <a:pPr indent="-285750" lvl="0" marL="285750" marR="0" rtl="0" algn="l">
              <a:lnSpc>
                <a:spcPct val="120000"/>
              </a:lnSpc>
              <a:spcBef>
                <a:spcPts val="700"/>
              </a:spcBef>
              <a:spcAft>
                <a:spcPts val="0"/>
              </a:spcAft>
              <a:buClr>
                <a:srgbClr val="000000"/>
              </a:buClr>
              <a:buSzPts val="1300"/>
              <a:buFont typeface="Arial"/>
              <a:buChar char="•"/>
            </a:pPr>
            <a:r>
              <a:rPr b="1" i="0" lang="en-US" sz="1300" u="none" cap="none" strike="noStrike">
                <a:solidFill>
                  <a:schemeClr val="dk1"/>
                </a:solidFill>
                <a:latin typeface="Arial"/>
                <a:ea typeface="Arial"/>
                <a:cs typeface="Arial"/>
                <a:sym typeface="Arial"/>
              </a:rPr>
              <a:t>Stable</a:t>
            </a:r>
            <a:r>
              <a:rPr b="0" i="0" lang="en-US" sz="1300" u="none" cap="none" strike="noStrike">
                <a:solidFill>
                  <a:schemeClr val="dk1"/>
                </a:solidFill>
                <a:latin typeface="Arial"/>
                <a:ea typeface="Arial"/>
                <a:cs typeface="Arial"/>
                <a:sym typeface="Arial"/>
              </a:rPr>
              <a:t>: </a:t>
            </a:r>
            <a:r>
              <a:rPr lang="en-US" sz="1300">
                <a:solidFill>
                  <a:schemeClr val="dk1"/>
                </a:solidFill>
              </a:rPr>
              <a:t>One iteration</a:t>
            </a:r>
            <a:r>
              <a:rPr b="0" i="0" lang="en-US" sz="1300" u="none" cap="none" strike="noStrike">
                <a:solidFill>
                  <a:schemeClr val="dk1"/>
                </a:solidFill>
                <a:latin typeface="Arial"/>
                <a:ea typeface="Arial"/>
                <a:cs typeface="Arial"/>
                <a:sym typeface="Arial"/>
              </a:rPr>
              <a:t> holds Pearson 0.98+ and Std ca. 0.001, </a:t>
            </a:r>
            <a:r>
              <a:rPr lang="en-US" sz="1300">
                <a:solidFill>
                  <a:schemeClr val="dk1"/>
                </a:solidFill>
              </a:rPr>
              <a:t>max.</a:t>
            </a:r>
            <a:r>
              <a:rPr b="0" i="0" lang="en-US" sz="1300" u="none" cap="none" strike="noStrike">
                <a:solidFill>
                  <a:schemeClr val="dk1"/>
                </a:solidFill>
                <a:latin typeface="Arial"/>
                <a:ea typeface="Arial"/>
                <a:cs typeface="Arial"/>
                <a:sym typeface="Arial"/>
              </a:rPr>
              <a:t> 0.008. More iterations (i.e. k=5) only add reliability</a:t>
            </a:r>
            <a:endParaRPr b="0" i="0" sz="1300" u="none" cap="none" strike="noStrike">
              <a:solidFill>
                <a:schemeClr val="dk1"/>
              </a:solidFill>
              <a:latin typeface="Arial"/>
              <a:ea typeface="Arial"/>
              <a:cs typeface="Arial"/>
              <a:sym typeface="Arial"/>
            </a:endParaRPr>
          </a:p>
        </p:txBody>
      </p:sp>
      <p:pic>
        <p:nvPicPr>
          <p:cNvPr id="217" name="Google Shape;217;p8"/>
          <p:cNvPicPr preferRelativeResize="0"/>
          <p:nvPr/>
        </p:nvPicPr>
        <p:blipFill>
          <a:blip r:embed="rId3">
            <a:alphaModFix/>
          </a:blip>
          <a:stretch>
            <a:fillRect/>
          </a:stretch>
        </p:blipFill>
        <p:spPr>
          <a:xfrm>
            <a:off x="378500" y="1419725"/>
            <a:ext cx="4696551" cy="461318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9"/>
          <p:cNvSpPr txBox="1"/>
          <p:nvPr>
            <p:ph type="title"/>
          </p:nvPr>
        </p:nvSpPr>
        <p:spPr>
          <a:xfrm>
            <a:off x="2051050" y="207962"/>
            <a:ext cx="3959100" cy="852600"/>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b="1" lang="en-US" sz="1800">
                <a:solidFill>
                  <a:srgbClr val="3A3A3A"/>
                </a:solidFill>
              </a:rPr>
              <a:t>What not tracking looks like</a:t>
            </a:r>
            <a:endParaRPr/>
          </a:p>
        </p:txBody>
      </p:sp>
      <p:sp>
        <p:nvSpPr>
          <p:cNvPr id="223" name="Google Shape;223;p9"/>
          <p:cNvSpPr txBox="1"/>
          <p:nvPr/>
        </p:nvSpPr>
        <p:spPr>
          <a:xfrm>
            <a:off x="1015525" y="5319475"/>
            <a:ext cx="7459500" cy="8892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lang="en-US" sz="1300">
                <a:solidFill>
                  <a:schemeClr val="dk1"/>
                </a:solidFill>
              </a:rPr>
              <a:t>SpeciAL: no stable relation to R1 (r −0.24 to +0.76). Flower 0.76–0.94 (litmus failed)</a:t>
            </a:r>
            <a:endParaRPr sz="1300">
              <a:solidFill>
                <a:schemeClr val="dk1"/>
              </a:solidFill>
            </a:endParaRPr>
          </a:p>
          <a:p>
            <a:pPr indent="-311150" lvl="0" marL="457200" rtl="0" algn="l">
              <a:spcBef>
                <a:spcPts val="0"/>
              </a:spcBef>
              <a:spcAft>
                <a:spcPts val="0"/>
              </a:spcAft>
              <a:buClr>
                <a:schemeClr val="dk1"/>
              </a:buClr>
              <a:buSzPts val="1300"/>
              <a:buChar char="●"/>
            </a:pPr>
            <a:r>
              <a:rPr lang="en-US" sz="1300">
                <a:solidFill>
                  <a:schemeClr val="dk1"/>
                </a:solidFill>
              </a:rPr>
              <a:t>PM4Py:</a:t>
            </a:r>
            <a:r>
              <a:rPr b="1" lang="en-US" sz="1300">
                <a:solidFill>
                  <a:schemeClr val="dk1"/>
                </a:solidFill>
              </a:rPr>
              <a:t> </a:t>
            </a:r>
            <a:r>
              <a:rPr lang="en-US" sz="1300">
                <a:solidFill>
                  <a:schemeClr val="dk1"/>
                </a:solidFill>
              </a:rPr>
              <a:t>anti-correlated on 4 of 5 logs · flower 0.88–0.98 (litmus failed)</a:t>
            </a:r>
            <a:endParaRPr sz="1300">
              <a:solidFill>
                <a:schemeClr val="dk1"/>
              </a:solidFill>
            </a:endParaRPr>
          </a:p>
        </p:txBody>
      </p:sp>
      <p:pic>
        <p:nvPicPr>
          <p:cNvPr id="224" name="Google Shape;224;p9"/>
          <p:cNvPicPr preferRelativeResize="0"/>
          <p:nvPr/>
        </p:nvPicPr>
        <p:blipFill>
          <a:blip r:embed="rId3">
            <a:alphaModFix/>
          </a:blip>
          <a:stretch>
            <a:fillRect/>
          </a:stretch>
        </p:blipFill>
        <p:spPr>
          <a:xfrm>
            <a:off x="532774" y="1382275"/>
            <a:ext cx="8078462" cy="3808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0"/>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b="1" lang="en-US" sz="1800">
                <a:solidFill>
                  <a:srgbClr val="3A3A3A"/>
                </a:solidFill>
              </a:rPr>
              <a:t>The shadow log is real future behavior</a:t>
            </a:r>
            <a:endParaRPr/>
          </a:p>
        </p:txBody>
      </p:sp>
      <p:pic>
        <p:nvPicPr>
          <p:cNvPr descr="genval.png" id="230" name="Google Shape;230;p10"/>
          <p:cNvPicPr preferRelativeResize="0"/>
          <p:nvPr/>
        </p:nvPicPr>
        <p:blipFill rotWithShape="1">
          <a:blip r:embed="rId3">
            <a:alphaModFix/>
          </a:blip>
          <a:srcRect b="0" l="0" r="0" t="0"/>
          <a:stretch/>
        </p:blipFill>
        <p:spPr>
          <a:xfrm>
            <a:off x="320040" y="1417319"/>
            <a:ext cx="5920958" cy="4021885"/>
          </a:xfrm>
          <a:prstGeom prst="rect">
            <a:avLst/>
          </a:prstGeom>
          <a:noFill/>
          <a:ln>
            <a:noFill/>
          </a:ln>
        </p:spPr>
      </p:pic>
      <p:sp>
        <p:nvSpPr>
          <p:cNvPr id="231" name="Google Shape;231;p10"/>
          <p:cNvSpPr txBox="1"/>
          <p:nvPr/>
        </p:nvSpPr>
        <p:spPr>
          <a:xfrm>
            <a:off x="6312310" y="1463040"/>
            <a:ext cx="2511600" cy="12468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250"/>
              <a:buFont typeface="Arial"/>
              <a:buChar char="•"/>
            </a:pPr>
            <a:r>
              <a:rPr b="0" i="0" lang="en-US" sz="1250" u="none" cap="none" strike="noStrike">
                <a:solidFill>
                  <a:schemeClr val="dk1"/>
                </a:solidFill>
                <a:latin typeface="Arial"/>
                <a:ea typeface="Arial"/>
                <a:cs typeface="Arial"/>
                <a:sym typeface="Arial"/>
              </a:rPr>
              <a:t>Train on a part of a log's variants, generate, then count exact matches with the other, unseen part</a:t>
            </a:r>
            <a:endParaRPr b="0" i="0" sz="125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250">
              <a:solidFill>
                <a:schemeClr val="dk1"/>
              </a:solidFill>
            </a:endParaRPr>
          </a:p>
          <a:p>
            <a:pPr indent="-285750" lvl="0" marL="285750" marR="0" rtl="0" algn="l">
              <a:lnSpc>
                <a:spcPct val="100000"/>
              </a:lnSpc>
              <a:spcBef>
                <a:spcPts val="0"/>
              </a:spcBef>
              <a:spcAft>
                <a:spcPts val="0"/>
              </a:spcAft>
              <a:buClr>
                <a:schemeClr val="dk1"/>
              </a:buClr>
              <a:buSzPts val="1250"/>
              <a:buChar char="•"/>
            </a:pPr>
            <a:r>
              <a:rPr lang="en-US" sz="1250">
                <a:solidFill>
                  <a:schemeClr val="dk1"/>
                </a:solidFill>
              </a:rPr>
              <a:t>21 real-life logs</a:t>
            </a:r>
            <a:endParaRPr sz="125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2"/>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lang="en-US" sz="1800">
                <a:solidFill>
                  <a:srgbClr val="3A3A3A"/>
                </a:solidFill>
              </a:rPr>
              <a:t>Accurate and affordable</a:t>
            </a:r>
            <a:endParaRPr/>
          </a:p>
        </p:txBody>
      </p:sp>
      <p:sp>
        <p:nvSpPr>
          <p:cNvPr id="237" name="Google Shape;237;p12"/>
          <p:cNvSpPr txBox="1"/>
          <p:nvPr/>
        </p:nvSpPr>
        <p:spPr>
          <a:xfrm>
            <a:off x="5943600" y="1737360"/>
            <a:ext cx="2743200" cy="34719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3000"/>
              </a:lnSpc>
              <a:spcBef>
                <a:spcPts val="0"/>
              </a:spcBef>
              <a:spcAft>
                <a:spcPts val="0"/>
              </a:spcAft>
              <a:buClr>
                <a:srgbClr val="000000"/>
              </a:buClr>
              <a:buSzPts val="1300"/>
              <a:buFont typeface="Arial"/>
              <a:buChar char="•"/>
            </a:pPr>
            <a:r>
              <a:rPr lang="en-US" sz="1300">
                <a:solidFill>
                  <a:schemeClr val="dk1"/>
                </a:solidFill>
                <a:latin typeface="Calibri"/>
                <a:ea typeface="Calibri"/>
                <a:cs typeface="Calibri"/>
                <a:sym typeface="Calibri"/>
              </a:rPr>
              <a:t>Only </a:t>
            </a:r>
            <a:r>
              <a:rPr b="0" i="0" lang="en-US" sz="1300" u="none" cap="none" strike="noStrike">
                <a:solidFill>
                  <a:schemeClr val="dk1"/>
                </a:solidFill>
                <a:latin typeface="Calibri"/>
                <a:ea typeface="Calibri"/>
                <a:cs typeface="Calibri"/>
                <a:sym typeface="Calibri"/>
              </a:rPr>
              <a:t>ShadowGen and bootstrap (adapted) are decently accurate</a:t>
            </a:r>
            <a:endParaRPr b="0" i="0" sz="1300" u="none" cap="none" strike="noStrike">
              <a:solidFill>
                <a:schemeClr val="dk1"/>
              </a:solidFill>
              <a:latin typeface="Calibri"/>
              <a:ea typeface="Calibri"/>
              <a:cs typeface="Calibri"/>
              <a:sym typeface="Calibri"/>
            </a:endParaRPr>
          </a:p>
          <a:p>
            <a:pPr indent="-285750" lvl="0" marL="285750" marR="0" rtl="0" algn="l">
              <a:lnSpc>
                <a:spcPct val="103000"/>
              </a:lnSpc>
              <a:spcBef>
                <a:spcPts val="1300"/>
              </a:spcBef>
              <a:spcAft>
                <a:spcPts val="0"/>
              </a:spcAft>
              <a:buClr>
                <a:srgbClr val="000000"/>
              </a:buClr>
              <a:buSzPts val="1300"/>
              <a:buFont typeface="Arial"/>
              <a:buChar char="•"/>
            </a:pPr>
            <a:r>
              <a:rPr b="0" i="0" lang="en-US" sz="1300" u="none" cap="none" strike="noStrike">
                <a:solidFill>
                  <a:schemeClr val="dk1"/>
                </a:solidFill>
                <a:latin typeface="Calibri"/>
                <a:ea typeface="Calibri"/>
                <a:cs typeface="Calibri"/>
                <a:sym typeface="Calibri"/>
              </a:rPr>
              <a:t>ShadowGen runs at 3 s per model, 6× faster than PM4Py</a:t>
            </a:r>
            <a:endParaRPr b="0" i="0" sz="1300" u="none" cap="none" strike="noStrike">
              <a:solidFill>
                <a:schemeClr val="dk1"/>
              </a:solidFill>
              <a:latin typeface="Calibri"/>
              <a:ea typeface="Calibri"/>
              <a:cs typeface="Calibri"/>
              <a:sym typeface="Calibri"/>
            </a:endParaRPr>
          </a:p>
          <a:p>
            <a:pPr indent="-285750" lvl="0" marL="285750" marR="0" rtl="0" algn="l">
              <a:lnSpc>
                <a:spcPct val="103000"/>
              </a:lnSpc>
              <a:spcBef>
                <a:spcPts val="1300"/>
              </a:spcBef>
              <a:spcAft>
                <a:spcPts val="0"/>
              </a:spcAft>
              <a:buClr>
                <a:srgbClr val="000000"/>
              </a:buClr>
              <a:buSzPts val="1300"/>
              <a:buFont typeface="Arial"/>
              <a:buChar char="•"/>
            </a:pPr>
            <a:r>
              <a:rPr b="0" i="0" lang="en-US" sz="1300" u="none" cap="none" strike="noStrike">
                <a:solidFill>
                  <a:schemeClr val="dk1"/>
                </a:solidFill>
                <a:latin typeface="Calibri"/>
                <a:ea typeface="Calibri"/>
                <a:cs typeface="Calibri"/>
                <a:sym typeface="Calibri"/>
              </a:rPr>
              <a:t>PM4Py is decently fast but never accurate</a:t>
            </a:r>
            <a:r>
              <a:rPr lang="en-US" sz="1300">
                <a:solidFill>
                  <a:schemeClr val="dk1"/>
                </a:solidFill>
                <a:latin typeface="Calibri"/>
                <a:ea typeface="Calibri"/>
                <a:cs typeface="Calibri"/>
                <a:sym typeface="Calibri"/>
              </a:rPr>
              <a:t>, N</a:t>
            </a:r>
            <a:r>
              <a:rPr b="0" i="0" lang="en-US" sz="1300" u="none" cap="none" strike="noStrike">
                <a:solidFill>
                  <a:schemeClr val="dk1"/>
                </a:solidFill>
                <a:latin typeface="Calibri"/>
                <a:ea typeface="Calibri"/>
                <a:cs typeface="Calibri"/>
                <a:sym typeface="Calibri"/>
              </a:rPr>
              <a:t>egative events tracks nothing useful. SpeciAL is inconsistent and crashes on the 1.6M-event log</a:t>
            </a:r>
            <a:r>
              <a:rPr lang="en-US" sz="1300">
                <a:solidFill>
                  <a:schemeClr val="dk1"/>
                </a:solidFill>
                <a:latin typeface="Calibri"/>
                <a:ea typeface="Calibri"/>
                <a:cs typeface="Calibri"/>
                <a:sym typeface="Calibri"/>
              </a:rPr>
              <a:t>,</a:t>
            </a:r>
            <a:r>
              <a:rPr b="0" i="0" lang="en-US" sz="1300" u="none" cap="none" strike="noStrike">
                <a:solidFill>
                  <a:schemeClr val="dk1"/>
                </a:solidFill>
                <a:latin typeface="Calibri"/>
                <a:ea typeface="Calibri"/>
                <a:cs typeface="Calibri"/>
                <a:sym typeface="Calibri"/>
              </a:rPr>
              <a:t> </a:t>
            </a:r>
            <a:r>
              <a:rPr lang="en-US" sz="1300">
                <a:solidFill>
                  <a:schemeClr val="dk1"/>
                </a:solidFill>
                <a:latin typeface="Calibri"/>
                <a:ea typeface="Calibri"/>
                <a:cs typeface="Calibri"/>
                <a:sym typeface="Calibri"/>
              </a:rPr>
              <a:t>Bootstrap </a:t>
            </a:r>
            <a:r>
              <a:rPr b="0" i="0" lang="en-US" sz="1300" u="none" cap="none" strike="noStrike">
                <a:solidFill>
                  <a:schemeClr val="dk1"/>
                </a:solidFill>
                <a:latin typeface="Calibri"/>
                <a:ea typeface="Calibri"/>
                <a:cs typeface="Calibri"/>
                <a:sym typeface="Calibri"/>
              </a:rPr>
              <a:t>original is the worst calibrated out of all</a:t>
            </a:r>
            <a:endParaRPr/>
          </a:p>
          <a:p>
            <a:pPr indent="-285750" lvl="0" marL="285750" marR="0" rtl="0" algn="l">
              <a:lnSpc>
                <a:spcPct val="103000"/>
              </a:lnSpc>
              <a:spcBef>
                <a:spcPts val="1300"/>
              </a:spcBef>
              <a:spcAft>
                <a:spcPts val="0"/>
              </a:spcAft>
              <a:buClr>
                <a:srgbClr val="000000"/>
              </a:buClr>
              <a:buSzPts val="1300"/>
              <a:buFont typeface="Arial"/>
              <a:buChar char="•"/>
            </a:pPr>
            <a:r>
              <a:rPr b="0" i="0" lang="en-US" sz="1300" u="none" cap="none" strike="noStrike">
                <a:solidFill>
                  <a:schemeClr val="dk1"/>
                </a:solidFill>
                <a:latin typeface="Calibri"/>
                <a:ea typeface="Calibri"/>
                <a:cs typeface="Calibri"/>
                <a:sym typeface="Calibri"/>
              </a:rPr>
              <a:t>AVATAR needs 9–12 h of GPU training per log, M4, M8 never score properly</a:t>
            </a:r>
            <a:endParaRPr/>
          </a:p>
        </p:txBody>
      </p:sp>
      <p:pic>
        <p:nvPicPr>
          <p:cNvPr id="238" name="Google Shape;238;p12"/>
          <p:cNvPicPr preferRelativeResize="0"/>
          <p:nvPr/>
        </p:nvPicPr>
        <p:blipFill>
          <a:blip r:embed="rId3">
            <a:alphaModFix/>
          </a:blip>
          <a:stretch>
            <a:fillRect/>
          </a:stretch>
        </p:blipFill>
        <p:spPr>
          <a:xfrm>
            <a:off x="190450" y="1737338"/>
            <a:ext cx="6041376" cy="3805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3"/>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lang="en-US" sz="1800">
                <a:solidFill>
                  <a:srgbClr val="3A3A3A"/>
                </a:solidFill>
              </a:rPr>
              <a:t>Conclusion</a:t>
            </a:r>
            <a:endParaRPr/>
          </a:p>
        </p:txBody>
      </p:sp>
      <p:sp>
        <p:nvSpPr>
          <p:cNvPr id="244" name="Google Shape;244;p13"/>
          <p:cNvSpPr txBox="1"/>
          <p:nvPr/>
        </p:nvSpPr>
        <p:spPr>
          <a:xfrm>
            <a:off x="548640" y="1600200"/>
            <a:ext cx="8138100" cy="28548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3000"/>
              </a:lnSpc>
              <a:spcBef>
                <a:spcPts val="0"/>
              </a:spcBef>
              <a:spcAft>
                <a:spcPts val="0"/>
              </a:spcAft>
              <a:buClr>
                <a:srgbClr val="000000"/>
              </a:buClr>
              <a:buSzPts val="1500"/>
              <a:buFont typeface="Arial"/>
              <a:buChar char="•"/>
            </a:pPr>
            <a:r>
              <a:rPr b="0" i="0" lang="en-US" sz="1500" u="none" cap="none" strike="noStrike">
                <a:solidFill>
                  <a:srgbClr val="404040"/>
                </a:solidFill>
                <a:latin typeface="Calibri"/>
                <a:ea typeface="Calibri"/>
                <a:cs typeface="Calibri"/>
                <a:sym typeface="Calibri"/>
              </a:rPr>
              <a:t>ShadowGen tracks empirical generalization on </a:t>
            </a:r>
            <a:r>
              <a:rPr b="1" i="0" lang="en-US" sz="1500" u="none" cap="none" strike="noStrike">
                <a:solidFill>
                  <a:schemeClr val="dk1"/>
                </a:solidFill>
                <a:latin typeface="Calibri"/>
                <a:ea typeface="Calibri"/>
                <a:cs typeface="Calibri"/>
                <a:sym typeface="Calibri"/>
              </a:rPr>
              <a:t>all five real-life logs</a:t>
            </a:r>
            <a:r>
              <a:rPr b="0" i="0" lang="en-US" sz="1500" u="none" cap="none" strike="noStrike">
                <a:solidFill>
                  <a:srgbClr val="404040"/>
                </a:solidFill>
                <a:latin typeface="Calibri"/>
                <a:ea typeface="Calibri"/>
                <a:cs typeface="Calibri"/>
                <a:sym typeface="Calibri"/>
              </a:rPr>
              <a:t>, at 3 s per model (1-iteration)</a:t>
            </a:r>
            <a:endParaRPr b="0" i="0" sz="1500" u="none" cap="none" strike="noStrike">
              <a:solidFill>
                <a:srgbClr val="404040"/>
              </a:solidFill>
              <a:latin typeface="Calibri"/>
              <a:ea typeface="Calibri"/>
              <a:cs typeface="Calibri"/>
              <a:sym typeface="Calibri"/>
            </a:endParaRPr>
          </a:p>
          <a:p>
            <a:pPr indent="-285750" lvl="0" marL="285750" marR="0" rtl="0" algn="l">
              <a:lnSpc>
                <a:spcPct val="103000"/>
              </a:lnSpc>
              <a:spcBef>
                <a:spcPts val="1700"/>
              </a:spcBef>
              <a:spcAft>
                <a:spcPts val="0"/>
              </a:spcAft>
              <a:buClr>
                <a:srgbClr val="000000"/>
              </a:buClr>
              <a:buSzPts val="1500"/>
              <a:buFont typeface="Arial"/>
              <a:buChar char="•"/>
            </a:pPr>
            <a:r>
              <a:rPr b="0" i="0" lang="en-US" sz="1500" u="none" cap="none" strike="noStrike">
                <a:solidFill>
                  <a:srgbClr val="404040"/>
                </a:solidFill>
                <a:latin typeface="Calibri"/>
                <a:ea typeface="Calibri"/>
                <a:cs typeface="Calibri"/>
                <a:sym typeface="Calibri"/>
              </a:rPr>
              <a:t>It scores a model similarly to cross validation </a:t>
            </a:r>
            <a:r>
              <a:rPr b="1" i="0" lang="en-US" sz="1500" u="none" cap="none" strike="noStrike">
                <a:solidFill>
                  <a:srgbClr val="404040"/>
                </a:solidFill>
                <a:latin typeface="Calibri"/>
                <a:ea typeface="Calibri"/>
                <a:cs typeface="Calibri"/>
                <a:sym typeface="Calibri"/>
              </a:rPr>
              <a:t>without </a:t>
            </a:r>
            <a:r>
              <a:rPr b="0" i="0" lang="en-US" sz="1500" u="none" cap="none" strike="noStrike">
                <a:solidFill>
                  <a:srgbClr val="404040"/>
                </a:solidFill>
                <a:latin typeface="Calibri"/>
                <a:ea typeface="Calibri"/>
                <a:cs typeface="Calibri"/>
                <a:sym typeface="Calibri"/>
              </a:rPr>
              <a:t>the need to </a:t>
            </a:r>
            <a:r>
              <a:rPr b="1" i="0" lang="en-US" sz="1500" u="none" cap="none" strike="noStrike">
                <a:solidFill>
                  <a:srgbClr val="404040"/>
                </a:solidFill>
                <a:latin typeface="Calibri"/>
                <a:ea typeface="Calibri"/>
                <a:cs typeface="Calibri"/>
                <a:sym typeface="Calibri"/>
              </a:rPr>
              <a:t>rediscover </a:t>
            </a:r>
            <a:r>
              <a:rPr b="0" i="0" lang="en-US" sz="1500" u="none" cap="none" strike="noStrike">
                <a:solidFill>
                  <a:srgbClr val="404040"/>
                </a:solidFill>
                <a:latin typeface="Calibri"/>
                <a:ea typeface="Calibri"/>
                <a:cs typeface="Calibri"/>
                <a:sym typeface="Calibri"/>
              </a:rPr>
              <a:t>it</a:t>
            </a:r>
            <a:endParaRPr b="0" i="0" sz="1500" u="none" cap="none" strike="noStrike">
              <a:solidFill>
                <a:srgbClr val="404040"/>
              </a:solidFill>
              <a:latin typeface="Calibri"/>
              <a:ea typeface="Calibri"/>
              <a:cs typeface="Calibri"/>
              <a:sym typeface="Calibri"/>
            </a:endParaRPr>
          </a:p>
          <a:p>
            <a:pPr indent="-285750" lvl="0" marL="285750" marR="0" rtl="0" algn="l">
              <a:lnSpc>
                <a:spcPct val="103000"/>
              </a:lnSpc>
              <a:spcBef>
                <a:spcPts val="1700"/>
              </a:spcBef>
              <a:spcAft>
                <a:spcPts val="0"/>
              </a:spcAft>
              <a:buClr>
                <a:srgbClr val="000000"/>
              </a:buClr>
              <a:buSzPts val="1400"/>
              <a:buFont typeface="Arial"/>
              <a:buChar char="•"/>
            </a:pPr>
            <a:r>
              <a:rPr b="0" i="0" lang="en-US" sz="1400" u="none" cap="none" strike="noStrike">
                <a:solidFill>
                  <a:srgbClr val="404040"/>
                </a:solidFill>
                <a:latin typeface="Arial"/>
                <a:ea typeface="Arial"/>
                <a:cs typeface="Arial"/>
                <a:sym typeface="Arial"/>
              </a:rPr>
              <a:t>The flower litmus exposes what impure metrics fold in: </a:t>
            </a:r>
            <a:r>
              <a:rPr b="1" i="0" lang="en-US" sz="1400" u="none" cap="none" strike="noStrike">
                <a:solidFill>
                  <a:schemeClr val="dk1"/>
                </a:solidFill>
                <a:latin typeface="Arial"/>
                <a:ea typeface="Arial"/>
                <a:cs typeface="Arial"/>
                <a:sym typeface="Arial"/>
              </a:rPr>
              <a:t>structure</a:t>
            </a:r>
            <a:r>
              <a:rPr b="0" i="0" lang="en-US" sz="1400" u="none" cap="none" strike="noStrike">
                <a:solidFill>
                  <a:srgbClr val="404040"/>
                </a:solidFill>
                <a:latin typeface="Arial"/>
                <a:ea typeface="Arial"/>
                <a:cs typeface="Arial"/>
                <a:sym typeface="Arial"/>
              </a:rPr>
              <a:t> in PM4Py, </a:t>
            </a:r>
            <a:r>
              <a:rPr b="1" i="0" lang="en-US" sz="1400" u="none" cap="none" strike="noStrike">
                <a:solidFill>
                  <a:schemeClr val="dk1"/>
                </a:solidFill>
                <a:latin typeface="Arial"/>
                <a:ea typeface="Arial"/>
                <a:cs typeface="Arial"/>
                <a:sym typeface="Arial"/>
              </a:rPr>
              <a:t>precision</a:t>
            </a:r>
            <a:r>
              <a:rPr b="0" i="0" lang="en-US" sz="1400" u="none" cap="none" strike="noStrike">
                <a:solidFill>
                  <a:srgbClr val="404040"/>
                </a:solidFill>
                <a:latin typeface="Arial"/>
                <a:ea typeface="Arial"/>
                <a:cs typeface="Arial"/>
                <a:sym typeface="Arial"/>
              </a:rPr>
              <a:t> in </a:t>
            </a:r>
            <a:r>
              <a:rPr lang="en-US">
                <a:solidFill>
                  <a:srgbClr val="404040"/>
                </a:solidFill>
              </a:rPr>
              <a:t>Bootstrap</a:t>
            </a:r>
            <a:endParaRPr b="0" i="0" sz="1400" u="none" cap="none" strike="noStrike">
              <a:solidFill>
                <a:srgbClr val="000000"/>
              </a:solidFill>
              <a:latin typeface="Arial"/>
              <a:ea typeface="Arial"/>
              <a:cs typeface="Arial"/>
              <a:sym typeface="Arial"/>
            </a:endParaRPr>
          </a:p>
          <a:p>
            <a:pPr indent="0" lvl="0" marL="0" marR="0" rtl="0" algn="l">
              <a:lnSpc>
                <a:spcPct val="103000"/>
              </a:lnSpc>
              <a:spcBef>
                <a:spcPts val="1700"/>
              </a:spcBef>
              <a:spcAft>
                <a:spcPts val="0"/>
              </a:spcAft>
              <a:buNone/>
            </a:pPr>
            <a:r>
              <a:t/>
            </a:r>
            <a:endParaRPr b="1" i="0" sz="1500" u="none" cap="none" strike="noStrike">
              <a:solidFill>
                <a:srgbClr val="404040"/>
              </a:solidFill>
              <a:latin typeface="Calibri"/>
              <a:ea typeface="Calibri"/>
              <a:cs typeface="Calibri"/>
              <a:sym typeface="Calibri"/>
            </a:endParaRPr>
          </a:p>
          <a:p>
            <a:pPr indent="0" lvl="0" marL="0" marR="0" rtl="0" algn="l">
              <a:lnSpc>
                <a:spcPct val="103000"/>
              </a:lnSpc>
              <a:spcBef>
                <a:spcPts val="1700"/>
              </a:spcBef>
              <a:spcAft>
                <a:spcPts val="0"/>
              </a:spcAft>
              <a:buNone/>
            </a:pPr>
            <a:r>
              <a:t/>
            </a:r>
            <a:endParaRPr b="1" i="0" sz="1500" u="none" cap="none" strike="noStrike">
              <a:solidFill>
                <a:srgbClr val="404040"/>
              </a:solidFill>
              <a:latin typeface="Calibri"/>
              <a:ea typeface="Calibri"/>
              <a:cs typeface="Calibri"/>
              <a:sym typeface="Calibri"/>
            </a:endParaRPr>
          </a:p>
          <a:p>
            <a:pPr indent="0" lvl="0" marL="0" marR="0" rtl="0" algn="ctr">
              <a:lnSpc>
                <a:spcPct val="103000"/>
              </a:lnSpc>
              <a:spcBef>
                <a:spcPts val="1700"/>
              </a:spcBef>
              <a:spcAft>
                <a:spcPts val="0"/>
              </a:spcAft>
              <a:buNone/>
            </a:pPr>
            <a:r>
              <a:rPr b="1" i="0" lang="en-US" sz="1800" u="sng" cap="none" strike="noStrike">
                <a:solidFill>
                  <a:srgbClr val="404040"/>
                </a:solidFill>
                <a:latin typeface="Calibri"/>
                <a:ea typeface="Calibri"/>
                <a:cs typeface="Calibri"/>
                <a:sym typeface="Calibri"/>
              </a:rPr>
              <a:t>A validated, affordable, interpretable method for generalization</a:t>
            </a:r>
            <a:endParaRPr b="1" i="0" sz="1800" u="sng" cap="none" strike="noStrike">
              <a:solidFill>
                <a:srgbClr val="40404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f54b45566f_1_0"/>
          <p:cNvSpPr txBox="1"/>
          <p:nvPr>
            <p:ph type="title"/>
          </p:nvPr>
        </p:nvSpPr>
        <p:spPr>
          <a:xfrm>
            <a:off x="2051050" y="207962"/>
            <a:ext cx="3959100" cy="852600"/>
          </a:xfrm>
          <a:prstGeom prst="rect">
            <a:avLst/>
          </a:prstGeom>
        </p:spPr>
        <p:txBody>
          <a:bodyPr anchorCtr="0" anchor="b" bIns="46800" lIns="90000" spcFirstLastPara="1" rIns="90000" wrap="square" tIns="46800">
            <a:noAutofit/>
          </a:bodyPr>
          <a:lstStyle/>
          <a:p>
            <a:pPr indent="0" lvl="0" marL="0" rtl="0" algn="l">
              <a:spcBef>
                <a:spcPts val="0"/>
              </a:spcBef>
              <a:spcAft>
                <a:spcPts val="0"/>
              </a:spcAft>
              <a:buNone/>
            </a:pPr>
            <a:r>
              <a:rPr lang="en-US"/>
              <a:t>Discriminative </a:t>
            </a:r>
            <a:r>
              <a:rPr lang="en-US"/>
              <a:t>Spread (Synthetic Systems and Real-life Logs)</a:t>
            </a:r>
            <a:endParaRPr/>
          </a:p>
        </p:txBody>
      </p:sp>
      <p:pic>
        <p:nvPicPr>
          <p:cNvPr id="251" name="Google Shape;251;g3f54b45566f_1_0"/>
          <p:cNvPicPr preferRelativeResize="0"/>
          <p:nvPr/>
        </p:nvPicPr>
        <p:blipFill>
          <a:blip r:embed="rId3">
            <a:alphaModFix/>
          </a:blip>
          <a:stretch>
            <a:fillRect/>
          </a:stretch>
        </p:blipFill>
        <p:spPr>
          <a:xfrm>
            <a:off x="1288350" y="1193325"/>
            <a:ext cx="5740774" cy="2676975"/>
          </a:xfrm>
          <a:prstGeom prst="rect">
            <a:avLst/>
          </a:prstGeom>
          <a:noFill/>
          <a:ln>
            <a:noFill/>
          </a:ln>
        </p:spPr>
      </p:pic>
      <p:pic>
        <p:nvPicPr>
          <p:cNvPr id="252" name="Google Shape;252;g3f54b45566f_1_0"/>
          <p:cNvPicPr preferRelativeResize="0"/>
          <p:nvPr/>
        </p:nvPicPr>
        <p:blipFill>
          <a:blip r:embed="rId4">
            <a:alphaModFix/>
          </a:blip>
          <a:stretch>
            <a:fillRect/>
          </a:stretch>
        </p:blipFill>
        <p:spPr>
          <a:xfrm>
            <a:off x="1456150" y="3841575"/>
            <a:ext cx="5475948" cy="25588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4"/>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lang="en-US" sz="1800">
                <a:solidFill>
                  <a:srgbClr val="3A3A3A"/>
                </a:solidFill>
              </a:rPr>
              <a:t>Backup: choosing the context order N</a:t>
            </a:r>
            <a:endParaRPr/>
          </a:p>
        </p:txBody>
      </p:sp>
      <p:pic>
        <p:nvPicPr>
          <p:cNvPr descr="img_nsweep_v6.png" id="258" name="Google Shape;258;p14"/>
          <p:cNvPicPr preferRelativeResize="0"/>
          <p:nvPr/>
        </p:nvPicPr>
        <p:blipFill rotWithShape="1">
          <a:blip r:embed="rId3">
            <a:alphaModFix/>
          </a:blip>
          <a:srcRect b="0" l="0" r="0" t="0"/>
          <a:stretch/>
        </p:blipFill>
        <p:spPr>
          <a:xfrm>
            <a:off x="640080" y="1417320"/>
            <a:ext cx="7863840" cy="3121246"/>
          </a:xfrm>
          <a:prstGeom prst="rect">
            <a:avLst/>
          </a:prstGeom>
          <a:noFill/>
          <a:ln>
            <a:noFill/>
          </a:ln>
        </p:spPr>
      </p:pic>
      <p:sp>
        <p:nvSpPr>
          <p:cNvPr id="259" name="Google Shape;259;p14"/>
          <p:cNvSpPr txBox="1"/>
          <p:nvPr/>
        </p:nvSpPr>
        <p:spPr>
          <a:xfrm>
            <a:off x="640080" y="4892040"/>
            <a:ext cx="7863900" cy="669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250"/>
              <a:buFont typeface="Arial"/>
              <a:buChar char="•"/>
            </a:pPr>
            <a:r>
              <a:rPr b="1" i="0" lang="en-US" sz="1250" u="none" cap="none" strike="noStrike">
                <a:solidFill>
                  <a:srgbClr val="3A3A3A"/>
                </a:solidFill>
                <a:latin typeface="Arial"/>
                <a:ea typeface="Arial"/>
                <a:cs typeface="Arial"/>
                <a:sym typeface="Arial"/>
              </a:rPr>
              <a:t>Picking N: </a:t>
            </a:r>
            <a:r>
              <a:rPr b="0" i="0" lang="en-US" sz="1250" u="none" cap="none" strike="noStrike">
                <a:solidFill>
                  <a:srgbClr val="404040"/>
                </a:solidFill>
                <a:latin typeface="Arial"/>
                <a:ea typeface="Arial"/>
                <a:cs typeface="Arial"/>
                <a:sym typeface="Arial"/>
              </a:rPr>
              <a:t>MAE to R1 is a plateau. N=6 is optimal on L1 and within 0.004 of the optimum on L2–L4 (inside the metric's own noise). </a:t>
            </a:r>
            <a:r>
              <a:rPr lang="en-US" sz="1250">
                <a:solidFill>
                  <a:srgbClr val="404040"/>
                </a:solidFill>
              </a:rPr>
              <a:t>M</a:t>
            </a:r>
            <a:r>
              <a:rPr b="0" i="0" lang="en-US" sz="1250" u="none" cap="none" strike="noStrike">
                <a:solidFill>
                  <a:srgbClr val="404040"/>
                </a:solidFill>
                <a:latin typeface="Arial"/>
                <a:ea typeface="Arial"/>
                <a:cs typeface="Arial"/>
                <a:sym typeface="Arial"/>
              </a:rPr>
              <a:t>utation rate rises continuously with N on every log, higher N order only costs more with minimal improvement on some logs</a:t>
            </a:r>
            <a:endParaRPr b="0" i="0" sz="1250" u="none" cap="none" strike="noStrike">
              <a:solidFill>
                <a:srgbClr val="40404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5"/>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lang="en-US" sz="1800">
                <a:solidFill>
                  <a:srgbClr val="3A3A3A"/>
                </a:solidFill>
              </a:rPr>
              <a:t>Backup: acceptance validation</a:t>
            </a:r>
            <a:endParaRPr/>
          </a:p>
        </p:txBody>
      </p:sp>
      <p:pic>
        <p:nvPicPr>
          <p:cNvPr descr="slide07_1.png" id="265" name="Google Shape;265;p15"/>
          <p:cNvPicPr preferRelativeResize="0"/>
          <p:nvPr/>
        </p:nvPicPr>
        <p:blipFill rotWithShape="1">
          <a:blip r:embed="rId3">
            <a:alphaModFix/>
          </a:blip>
          <a:srcRect b="0" l="0" r="0" t="0"/>
          <a:stretch/>
        </p:blipFill>
        <p:spPr>
          <a:xfrm>
            <a:off x="686839" y="1463040"/>
            <a:ext cx="4021281" cy="4114800"/>
          </a:xfrm>
          <a:prstGeom prst="rect">
            <a:avLst/>
          </a:prstGeom>
          <a:noFill/>
          <a:ln>
            <a:noFill/>
          </a:ln>
        </p:spPr>
      </p:pic>
      <p:sp>
        <p:nvSpPr>
          <p:cNvPr id="266" name="Google Shape;266;p15"/>
          <p:cNvSpPr txBox="1"/>
          <p:nvPr/>
        </p:nvSpPr>
        <p:spPr>
          <a:xfrm>
            <a:off x="5212080" y="1920240"/>
            <a:ext cx="3474720" cy="155606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3000"/>
              </a:lnSpc>
              <a:spcBef>
                <a:spcPts val="0"/>
              </a:spcBef>
              <a:spcAft>
                <a:spcPts val="0"/>
              </a:spcAft>
              <a:buClr>
                <a:srgbClr val="000000"/>
              </a:buClr>
              <a:buSzPts val="1250"/>
              <a:buFont typeface="Arial"/>
              <a:buChar char="•"/>
            </a:pPr>
            <a:r>
              <a:rPr b="0" i="0" lang="en-US" sz="1250" u="none" cap="none" strike="noStrike">
                <a:solidFill>
                  <a:srgbClr val="404040"/>
                </a:solidFill>
                <a:latin typeface="Calibri"/>
                <a:ea typeface="Calibri"/>
                <a:cs typeface="Calibri"/>
                <a:sym typeface="Calibri"/>
              </a:rPr>
              <a:t>Strict reading validated against </a:t>
            </a:r>
            <a:r>
              <a:rPr b="1" i="0" lang="en-US" sz="1250" u="none" cap="none" strike="noStrike">
                <a:solidFill>
                  <a:srgbClr val="404040"/>
                </a:solidFill>
                <a:latin typeface="Calibri"/>
                <a:ea typeface="Calibri"/>
                <a:cs typeface="Calibri"/>
                <a:sym typeface="Calibri"/>
              </a:rPr>
              <a:t>R1-accept</a:t>
            </a:r>
            <a:r>
              <a:rPr b="0" i="0" lang="en-US" sz="1250" u="none" cap="none" strike="noStrike">
                <a:solidFill>
                  <a:srgbClr val="404040"/>
                </a:solidFill>
                <a:latin typeface="Calibri"/>
                <a:ea typeface="Calibri"/>
                <a:cs typeface="Calibri"/>
                <a:sym typeface="Calibri"/>
              </a:rPr>
              <a:t>: the fraction of held-out real traces replayed exactly.</a:t>
            </a:r>
            <a:endParaRPr b="0" i="0" sz="1250" u="none" cap="none" strike="noStrike">
              <a:solidFill>
                <a:srgbClr val="404040"/>
              </a:solidFill>
              <a:latin typeface="Calibri"/>
              <a:ea typeface="Calibri"/>
              <a:cs typeface="Calibri"/>
              <a:sym typeface="Calibri"/>
            </a:endParaRPr>
          </a:p>
          <a:p>
            <a:pPr indent="-285750" lvl="0" marL="285750" marR="0" rtl="0" algn="l">
              <a:lnSpc>
                <a:spcPct val="103000"/>
              </a:lnSpc>
              <a:spcBef>
                <a:spcPts val="1100"/>
              </a:spcBef>
              <a:spcAft>
                <a:spcPts val="0"/>
              </a:spcAft>
              <a:buClr>
                <a:srgbClr val="000000"/>
              </a:buClr>
              <a:buSzPts val="1250"/>
              <a:buFont typeface="Arial"/>
              <a:buChar char="•"/>
            </a:pPr>
            <a:r>
              <a:rPr b="0" i="0" lang="en-US" sz="1250" u="none" cap="none" strike="noStrike">
                <a:solidFill>
                  <a:srgbClr val="404040"/>
                </a:solidFill>
                <a:latin typeface="Calibri"/>
                <a:ea typeface="Calibri"/>
                <a:cs typeface="Calibri"/>
                <a:sym typeface="Calibri"/>
              </a:rPr>
              <a:t>Poles anchor cleanly: flower 1.00, trace ≈ 0.</a:t>
            </a:r>
            <a:endParaRPr b="0" i="0" sz="1250" u="none" cap="none" strike="noStrike">
              <a:solidFill>
                <a:srgbClr val="404040"/>
              </a:solidFill>
              <a:latin typeface="Calibri"/>
              <a:ea typeface="Calibri"/>
              <a:cs typeface="Calibri"/>
              <a:sym typeface="Calibri"/>
            </a:endParaRPr>
          </a:p>
          <a:p>
            <a:pPr indent="-285750" lvl="0" marL="285750" marR="0" rtl="0" algn="l">
              <a:lnSpc>
                <a:spcPct val="103000"/>
              </a:lnSpc>
              <a:spcBef>
                <a:spcPts val="1100"/>
              </a:spcBef>
              <a:spcAft>
                <a:spcPts val="0"/>
              </a:spcAft>
              <a:buClr>
                <a:srgbClr val="000000"/>
              </a:buClr>
              <a:buSzPts val="1250"/>
              <a:buFont typeface="Arial"/>
              <a:buChar char="•"/>
            </a:pPr>
            <a:r>
              <a:rPr b="0" i="0" lang="en-US" sz="1250" u="none" cap="none" strike="noStrike">
                <a:solidFill>
                  <a:schemeClr val="dk1"/>
                </a:solidFill>
                <a:latin typeface="Calibri"/>
                <a:ea typeface="Calibri"/>
                <a:cs typeface="Calibri"/>
                <a:sym typeface="Calibri"/>
              </a:rPr>
              <a:t>In some instances (i.e. 57 events/trace) the generator of ShadowGen struggles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6"/>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b="1" lang="en-US" sz="1800">
                <a:solidFill>
                  <a:srgbClr val="3A3A3A"/>
                </a:solidFill>
              </a:rPr>
              <a:t>Backup: one bootstrap sample, four scorings</a:t>
            </a:r>
            <a:endParaRPr/>
          </a:p>
        </p:txBody>
      </p:sp>
      <p:sp>
        <p:nvSpPr>
          <p:cNvPr id="272" name="Google Shape;272;p16"/>
          <p:cNvSpPr txBox="1"/>
          <p:nvPr/>
        </p:nvSpPr>
        <p:spPr>
          <a:xfrm>
            <a:off x="640080" y="1417320"/>
            <a:ext cx="786384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350" u="none" cap="none" strike="noStrike">
                <a:solidFill>
                  <a:srgbClr val="404040"/>
                </a:solidFill>
                <a:latin typeface="Arial"/>
                <a:ea typeface="Arial"/>
                <a:cs typeface="Arial"/>
                <a:sym typeface="Arial"/>
              </a:rPr>
              <a:t>Hold the bred bsgen sample fixed (L1), vary only the scoring, compare to R1:</a:t>
            </a:r>
            <a:endParaRPr/>
          </a:p>
        </p:txBody>
      </p:sp>
      <p:sp>
        <p:nvSpPr>
          <p:cNvPr id="273" name="Google Shape;273;p16"/>
          <p:cNvSpPr txBox="1"/>
          <p:nvPr/>
        </p:nvSpPr>
        <p:spPr>
          <a:xfrm>
            <a:off x="822960" y="1965960"/>
            <a:ext cx="7589520" cy="21031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3A3A3A"/>
                </a:solidFill>
                <a:latin typeface="Arial"/>
                <a:ea typeface="Arial"/>
                <a:cs typeface="Arial"/>
                <a:sym typeface="Arial"/>
              </a:rPr>
              <a:t>-bgen F1 (precision + recall):  </a:t>
            </a:r>
            <a:r>
              <a:rPr b="0" i="0" lang="en-US" sz="1300" u="none" cap="none" strike="noStrike">
                <a:solidFill>
                  <a:srgbClr val="404040"/>
                </a:solidFill>
                <a:latin typeface="Arial"/>
                <a:ea typeface="Arial"/>
                <a:cs typeface="Arial"/>
                <a:sym typeface="Arial"/>
              </a:rPr>
              <a:t>Pearson 0.87   MAE 0.59   flower 0.18   </a:t>
            </a:r>
            <a:r>
              <a:rPr b="1" i="0" lang="en-US" sz="1300" u="none" cap="none" strike="noStrike">
                <a:solidFill>
                  <a:srgbClr val="B02A2A"/>
                </a:solidFill>
                <a:latin typeface="Arial"/>
                <a:ea typeface="Arial"/>
                <a:cs typeface="Arial"/>
                <a:sym typeface="Arial"/>
              </a:rPr>
              <a:t>fail</a:t>
            </a:r>
            <a:endParaRPr/>
          </a:p>
          <a:p>
            <a:pPr indent="0" lvl="0" marL="0" marR="0" rtl="0" algn="l">
              <a:lnSpc>
                <a:spcPct val="100000"/>
              </a:lnSpc>
              <a:spcBef>
                <a:spcPts val="900"/>
              </a:spcBef>
              <a:spcAft>
                <a:spcPts val="0"/>
              </a:spcAft>
              <a:buNone/>
            </a:pPr>
            <a:r>
              <a:rPr b="1" i="0" lang="en-US" sz="1300" u="none" cap="none" strike="noStrike">
                <a:solidFill>
                  <a:srgbClr val="3A3A3A"/>
                </a:solidFill>
                <a:latin typeface="Arial"/>
                <a:ea typeface="Arial"/>
                <a:cs typeface="Arial"/>
                <a:sym typeface="Arial"/>
              </a:rPr>
              <a:t>its precision component:  </a:t>
            </a:r>
            <a:r>
              <a:rPr b="0" i="0" lang="en-US" sz="1300" u="none" cap="none" strike="noStrike">
                <a:solidFill>
                  <a:srgbClr val="404040"/>
                </a:solidFill>
                <a:latin typeface="Arial"/>
                <a:ea typeface="Arial"/>
                <a:cs typeface="Arial"/>
                <a:sym typeface="Arial"/>
              </a:rPr>
              <a:t>Pearson 0.82   MAE 0.68   flower 0.10   </a:t>
            </a:r>
            <a:r>
              <a:rPr b="1" i="0" lang="en-US" sz="1300" u="none" cap="none" strike="noStrike">
                <a:solidFill>
                  <a:srgbClr val="B02A2A"/>
                </a:solidFill>
                <a:latin typeface="Arial"/>
                <a:ea typeface="Arial"/>
                <a:cs typeface="Arial"/>
                <a:sym typeface="Arial"/>
              </a:rPr>
              <a:t>fail</a:t>
            </a:r>
            <a:endParaRPr/>
          </a:p>
          <a:p>
            <a:pPr indent="0" lvl="0" marL="0" marR="0" rtl="0" algn="l">
              <a:lnSpc>
                <a:spcPct val="100000"/>
              </a:lnSpc>
              <a:spcBef>
                <a:spcPts val="900"/>
              </a:spcBef>
              <a:spcAft>
                <a:spcPts val="0"/>
              </a:spcAft>
              <a:buNone/>
            </a:pPr>
            <a:r>
              <a:rPr b="1" i="0" lang="en-US" sz="1300" u="none" cap="none" strike="noStrike">
                <a:solidFill>
                  <a:srgbClr val="3A3A3A"/>
                </a:solidFill>
                <a:latin typeface="Arial"/>
                <a:ea typeface="Arial"/>
                <a:cs typeface="Arial"/>
                <a:sym typeface="Arial"/>
              </a:rPr>
              <a:t>its recall component:  </a:t>
            </a:r>
            <a:r>
              <a:rPr b="0" i="0" lang="en-US" sz="1300" u="none" cap="none" strike="noStrike">
                <a:solidFill>
                  <a:srgbClr val="404040"/>
                </a:solidFill>
                <a:latin typeface="Arial"/>
                <a:ea typeface="Arial"/>
                <a:cs typeface="Arial"/>
                <a:sym typeface="Arial"/>
              </a:rPr>
              <a:t>Pearson 0.98   MAE 0.11   flower 1.00   </a:t>
            </a:r>
            <a:r>
              <a:rPr b="1" i="0" lang="en-US" sz="1300" u="none" cap="none" strike="noStrike">
                <a:solidFill>
                  <a:srgbClr val="1A7A3A"/>
                </a:solidFill>
                <a:latin typeface="Arial"/>
                <a:ea typeface="Arial"/>
                <a:cs typeface="Arial"/>
                <a:sym typeface="Arial"/>
              </a:rPr>
              <a:t>pass</a:t>
            </a:r>
            <a:endParaRPr/>
          </a:p>
          <a:p>
            <a:pPr indent="0" lvl="0" marL="0" marR="0" rtl="0" algn="l">
              <a:lnSpc>
                <a:spcPct val="100000"/>
              </a:lnSpc>
              <a:spcBef>
                <a:spcPts val="900"/>
              </a:spcBef>
              <a:spcAft>
                <a:spcPts val="0"/>
              </a:spcAft>
              <a:buNone/>
            </a:pPr>
            <a:r>
              <a:rPr b="1" i="0" lang="en-US" sz="1300" u="none" cap="none" strike="noStrike">
                <a:solidFill>
                  <a:srgbClr val="3A3A3A"/>
                </a:solidFill>
                <a:latin typeface="Arial"/>
                <a:ea typeface="Arial"/>
                <a:cs typeface="Arial"/>
                <a:sym typeface="Arial"/>
              </a:rPr>
              <a:t>token-replay recall (M6adapted):  </a:t>
            </a:r>
            <a:r>
              <a:rPr b="0" i="0" lang="en-US" sz="1300" u="none" cap="none" strike="noStrike">
                <a:solidFill>
                  <a:srgbClr val="404040"/>
                </a:solidFill>
                <a:latin typeface="Arial"/>
                <a:ea typeface="Arial"/>
                <a:cs typeface="Arial"/>
                <a:sym typeface="Arial"/>
              </a:rPr>
              <a:t>Pearson 1.00   MAE 0.018   flower 1.00   </a:t>
            </a:r>
            <a:r>
              <a:rPr b="1" i="0" lang="en-US" sz="1300" u="none" cap="none" strike="noStrike">
                <a:solidFill>
                  <a:srgbClr val="1A7A3A"/>
                </a:solidFill>
                <a:latin typeface="Arial"/>
                <a:ea typeface="Arial"/>
                <a:cs typeface="Arial"/>
                <a:sym typeface="Arial"/>
              </a:rPr>
              <a:t>pass</a:t>
            </a:r>
            <a:endParaRPr/>
          </a:p>
        </p:txBody>
      </p:sp>
      <p:sp>
        <p:nvSpPr>
          <p:cNvPr id="274" name="Google Shape;274;p16"/>
          <p:cNvSpPr txBox="1"/>
          <p:nvPr/>
        </p:nvSpPr>
        <p:spPr>
          <a:xfrm>
            <a:off x="640080" y="4480560"/>
            <a:ext cx="7863840" cy="8229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350" u="none" cap="none" strike="noStrike">
                <a:solidFill>
                  <a:srgbClr val="404040"/>
                </a:solidFill>
                <a:latin typeface="Arial"/>
                <a:ea typeface="Arial"/>
                <a:cs typeface="Arial"/>
                <a:sym typeface="Arial"/>
              </a:rPr>
              <a:t>The precision component alone destroys calibration and the litmus: </a:t>
            </a:r>
            <a:r>
              <a:rPr b="1" i="0" lang="en-US" sz="1350" u="none" cap="none" strike="noStrike">
                <a:solidFill>
                  <a:srgbClr val="3A3A3A"/>
                </a:solidFill>
                <a:latin typeface="Arial"/>
                <a:ea typeface="Arial"/>
                <a:cs typeface="Arial"/>
                <a:sym typeface="Arial"/>
              </a:rPr>
              <a:t>construct contamination, shown causally.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7"/>
          <p:cNvSpPr txBox="1"/>
          <p:nvPr>
            <p:ph type="title"/>
          </p:nvPr>
        </p:nvSpPr>
        <p:spPr>
          <a:xfrm>
            <a:off x="2051050" y="207962"/>
            <a:ext cx="3959225" cy="852487"/>
          </a:xfrm>
          <a:prstGeom prst="rect">
            <a:avLst/>
          </a:prstGeom>
          <a:noFill/>
          <a:ln>
            <a:noFill/>
          </a:ln>
        </p:spPr>
        <p:txBody>
          <a:bodyPr anchorCtr="0" anchor="b" bIns="46800" lIns="90000" spcFirstLastPara="1" rIns="90000" wrap="square" tIns="46800">
            <a:noAutofit/>
          </a:bodyPr>
          <a:lstStyle/>
          <a:p>
            <a:pPr indent="0" lvl="0" marL="0" rtl="0" algn="l">
              <a:lnSpc>
                <a:spcPct val="100000"/>
              </a:lnSpc>
              <a:spcBef>
                <a:spcPts val="0"/>
              </a:spcBef>
              <a:spcAft>
                <a:spcPts val="0"/>
              </a:spcAft>
              <a:buSzPts val="1400"/>
              <a:buNone/>
            </a:pPr>
            <a:r>
              <a:rPr b="1" lang="en-US" sz="1800">
                <a:solidFill>
                  <a:srgbClr val="3A3A3A"/>
                </a:solidFill>
              </a:rPr>
              <a:t>Backup: threats, measured</a:t>
            </a:r>
            <a:endParaRPr/>
          </a:p>
        </p:txBody>
      </p:sp>
      <p:sp>
        <p:nvSpPr>
          <p:cNvPr id="280" name="Google Shape;280;p17"/>
          <p:cNvSpPr txBox="1"/>
          <p:nvPr/>
        </p:nvSpPr>
        <p:spPr>
          <a:xfrm>
            <a:off x="640080" y="1737360"/>
            <a:ext cx="7863840" cy="213904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350"/>
              <a:buFont typeface="Arial"/>
              <a:buChar char="•"/>
            </a:pPr>
            <a:r>
              <a:rPr b="0" i="0" lang="en-US" sz="1350" u="none" cap="none" strike="noStrike">
                <a:solidFill>
                  <a:schemeClr val="dk1"/>
                </a:solidFill>
                <a:latin typeface="Arial"/>
                <a:ea typeface="Arial"/>
                <a:cs typeface="Arial"/>
                <a:sym typeface="Arial"/>
              </a:rPr>
              <a:t>Shared “ruler”?: Recomputing R1 with cost-zero alignments instead of token replay keeps the ranking: Spearman 1.0, Pearson 0.96 over the five sound nets. (MAE </a:t>
            </a:r>
            <a:r>
              <a:rPr b="0" i="0" lang="en-US" sz="1400" u="none" cap="none" strike="noStrike">
                <a:solidFill>
                  <a:srgbClr val="000000"/>
                </a:solidFill>
                <a:latin typeface="Arial"/>
                <a:ea typeface="Arial"/>
                <a:cs typeface="Arial"/>
                <a:sym typeface="Arial"/>
              </a:rPr>
              <a:t>0.095</a:t>
            </a:r>
            <a:r>
              <a:rPr b="0" i="0" lang="en-US" sz="1350" u="none" cap="none" strike="noStrike">
                <a:solidFill>
                  <a:schemeClr val="dk1"/>
                </a:solidFill>
                <a:latin typeface="Arial"/>
                <a:ea typeface="Arial"/>
                <a:cs typeface="Arial"/>
                <a:sym typeface="Arial"/>
              </a:rPr>
              <a:t>)</a:t>
            </a:r>
            <a:endParaRPr/>
          </a:p>
          <a:p>
            <a:pPr indent="-285750" lvl="0" marL="285750" marR="0" rtl="0" algn="l">
              <a:lnSpc>
                <a:spcPct val="100000"/>
              </a:lnSpc>
              <a:spcBef>
                <a:spcPts val="1000"/>
              </a:spcBef>
              <a:spcAft>
                <a:spcPts val="0"/>
              </a:spcAft>
              <a:buClr>
                <a:srgbClr val="000000"/>
              </a:buClr>
              <a:buSzPts val="1350"/>
              <a:buFont typeface="Arial"/>
              <a:buChar char="•"/>
            </a:pPr>
            <a:r>
              <a:rPr b="0" i="0" lang="en-US" sz="1350" u="none" cap="none" strike="noStrike">
                <a:solidFill>
                  <a:schemeClr val="dk1"/>
                </a:solidFill>
                <a:latin typeface="Arial"/>
                <a:ea typeface="Arial"/>
                <a:cs typeface="Arial"/>
                <a:sym typeface="Arial"/>
              </a:rPr>
              <a:t>Stochastic stability: per-cell std ≤ 0.008 (median 0.001), every single draw keeps Pearson ≥ 0.982 and the identical ranking</a:t>
            </a:r>
            <a:endParaRPr/>
          </a:p>
          <a:p>
            <a:pPr indent="-285750" lvl="0" marL="285750" marR="0" rtl="0" algn="l">
              <a:lnSpc>
                <a:spcPct val="100000"/>
              </a:lnSpc>
              <a:spcBef>
                <a:spcPts val="1000"/>
              </a:spcBef>
              <a:spcAft>
                <a:spcPts val="0"/>
              </a:spcAft>
              <a:buClr>
                <a:srgbClr val="000000"/>
              </a:buClr>
              <a:buSzPts val="1350"/>
              <a:buFont typeface="Arial"/>
              <a:buChar char="•"/>
            </a:pPr>
            <a:r>
              <a:rPr b="0" i="0" lang="en-US" sz="1350" u="none" cap="none" strike="noStrike">
                <a:solidFill>
                  <a:schemeClr val="dk1"/>
                </a:solidFill>
                <a:latin typeface="Arial"/>
                <a:ea typeface="Arial"/>
                <a:cs typeface="Arial"/>
                <a:sym typeface="Arial"/>
              </a:rPr>
              <a:t>Replay nondeterminism: token replay tie-breaks unseeded on silent and duplicate transitions. Measured drift ≤ 0.024 (trace model), verdicts unaffected (L4 MAE 0.015 → 0.016)</a:t>
            </a:r>
            <a:endParaRPr/>
          </a:p>
          <a:p>
            <a:pPr indent="-285750" lvl="0" marL="285750" marR="0" rtl="0" algn="l">
              <a:lnSpc>
                <a:spcPct val="100000"/>
              </a:lnSpc>
              <a:spcBef>
                <a:spcPts val="1000"/>
              </a:spcBef>
              <a:spcAft>
                <a:spcPts val="0"/>
              </a:spcAft>
              <a:buClr>
                <a:srgbClr val="000000"/>
              </a:buClr>
              <a:buSzPts val="1350"/>
              <a:buFont typeface="Arial"/>
              <a:buChar char="•"/>
            </a:pPr>
            <a:r>
              <a:rPr b="0" i="0" lang="en-US" sz="1350" u="none" cap="none" strike="noStrike">
                <a:solidFill>
                  <a:schemeClr val="dk1"/>
                </a:solidFill>
                <a:latin typeface="Arial"/>
                <a:ea typeface="Arial"/>
                <a:cs typeface="Arial"/>
                <a:sym typeface="Arial"/>
              </a:rPr>
              <a:t>Disclosures: five L4 cells kept despite overrunning the hour (e.g. PM4Py Ind-strict at 3.5 h), SpeciAL version skew on L5, R2 sampled 50 variants</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f51d9b582f_0_0"/>
          <p:cNvSpPr txBox="1"/>
          <p:nvPr>
            <p:ph type="title"/>
          </p:nvPr>
        </p:nvSpPr>
        <p:spPr>
          <a:xfrm>
            <a:off x="2051050" y="207962"/>
            <a:ext cx="3959100" cy="852600"/>
          </a:xfrm>
          <a:prstGeom prst="rect">
            <a:avLst/>
          </a:prstGeom>
        </p:spPr>
        <p:txBody>
          <a:bodyPr anchorCtr="0" anchor="b" bIns="46800" lIns="90000" spcFirstLastPara="1" rIns="90000" wrap="square" tIns="46800">
            <a:noAutofit/>
          </a:bodyPr>
          <a:lstStyle/>
          <a:p>
            <a:pPr indent="0" lvl="0" marL="0" marR="0" rtl="0" algn="l">
              <a:lnSpc>
                <a:spcPct val="100000"/>
              </a:lnSpc>
              <a:spcBef>
                <a:spcPts val="0"/>
              </a:spcBef>
              <a:spcAft>
                <a:spcPts val="0"/>
              </a:spcAft>
              <a:buNone/>
            </a:pPr>
            <a:r>
              <a:rPr lang="en-US">
                <a:solidFill>
                  <a:schemeClr val="dk1"/>
                </a:solidFill>
              </a:rPr>
              <a:t>Backup: Dataset Introduction</a:t>
            </a:r>
            <a:endParaRPr>
              <a:solidFill>
                <a:schemeClr val="dk1"/>
              </a:solidFill>
            </a:endParaRPr>
          </a:p>
        </p:txBody>
      </p:sp>
      <p:graphicFrame>
        <p:nvGraphicFramePr>
          <p:cNvPr id="287" name="Google Shape;287;g3f51d9b582f_0_0"/>
          <p:cNvGraphicFramePr/>
          <p:nvPr/>
        </p:nvGraphicFramePr>
        <p:xfrm>
          <a:off x="123100" y="2278400"/>
          <a:ext cx="3000000" cy="3000000"/>
        </p:xfrm>
        <a:graphic>
          <a:graphicData uri="http://schemas.openxmlformats.org/drawingml/2006/table">
            <a:tbl>
              <a:tblPr>
                <a:noFill/>
                <a:tableStyleId>{5559C6A9-02BC-40DD-852D-CA3B3830EC4A}</a:tableStyleId>
              </a:tblPr>
              <a:tblGrid>
                <a:gridCol w="712750"/>
                <a:gridCol w="2112350"/>
                <a:gridCol w="1770225"/>
                <a:gridCol w="1718400"/>
                <a:gridCol w="889025"/>
                <a:gridCol w="857900"/>
                <a:gridCol w="837150"/>
              </a:tblGrid>
              <a:tr h="381000">
                <a:tc>
                  <a:txBody>
                    <a:bodyPr/>
                    <a:lstStyle/>
                    <a:p>
                      <a:pPr indent="0" lvl="0" marL="0" rtl="0" algn="ctr">
                        <a:spcBef>
                          <a:spcPts val="0"/>
                        </a:spcBef>
                        <a:spcAft>
                          <a:spcPts val="0"/>
                        </a:spcAft>
                        <a:buNone/>
                      </a:pPr>
                      <a:r>
                        <a:rPr lang="en-US"/>
                        <a:t>#</a:t>
                      </a:r>
                      <a:endParaRPr/>
                    </a:p>
                  </a:txBody>
                  <a:tcPr marT="91425" marB="91425" marR="91425" marL="91425"/>
                </a:tc>
                <a:tc>
                  <a:txBody>
                    <a:bodyPr/>
                    <a:lstStyle/>
                    <a:p>
                      <a:pPr indent="0" lvl="0" marL="0" rtl="0" algn="ctr">
                        <a:spcBef>
                          <a:spcPts val="0"/>
                        </a:spcBef>
                        <a:spcAft>
                          <a:spcPts val="0"/>
                        </a:spcAft>
                        <a:buNone/>
                      </a:pPr>
                      <a:r>
                        <a:rPr lang="en-US"/>
                        <a:t>Name</a:t>
                      </a:r>
                      <a:endParaRPr/>
                    </a:p>
                  </a:txBody>
                  <a:tcPr marT="91425" marB="91425" marR="91425" marL="91425"/>
                </a:tc>
                <a:tc>
                  <a:txBody>
                    <a:bodyPr/>
                    <a:lstStyle/>
                    <a:p>
                      <a:pPr indent="0" lvl="0" marL="0" rtl="0" algn="ctr">
                        <a:spcBef>
                          <a:spcPts val="0"/>
                        </a:spcBef>
                        <a:spcAft>
                          <a:spcPts val="0"/>
                        </a:spcAft>
                        <a:buNone/>
                      </a:pPr>
                      <a:r>
                        <a:rPr lang="en-US"/>
                        <a:t>Cases</a:t>
                      </a:r>
                      <a:endParaRPr/>
                    </a:p>
                  </a:txBody>
                  <a:tcPr marT="91425" marB="91425" marR="91425" marL="91425"/>
                </a:tc>
                <a:tc>
                  <a:txBody>
                    <a:bodyPr/>
                    <a:lstStyle/>
                    <a:p>
                      <a:pPr indent="0" lvl="0" marL="0" rtl="0" algn="ctr">
                        <a:spcBef>
                          <a:spcPts val="0"/>
                        </a:spcBef>
                        <a:spcAft>
                          <a:spcPts val="0"/>
                        </a:spcAft>
                        <a:buNone/>
                      </a:pPr>
                      <a:r>
                        <a:rPr lang="en-US"/>
                        <a:t>Events</a:t>
                      </a:r>
                      <a:endParaRPr/>
                    </a:p>
                  </a:txBody>
                  <a:tcPr marT="91425" marB="91425" marR="91425" marL="91425"/>
                </a:tc>
                <a:tc>
                  <a:txBody>
                    <a:bodyPr/>
                    <a:lstStyle/>
                    <a:p>
                      <a:pPr indent="0" lvl="0" marL="0" rtl="0" algn="ctr">
                        <a:spcBef>
                          <a:spcPts val="0"/>
                        </a:spcBef>
                        <a:spcAft>
                          <a:spcPts val="0"/>
                        </a:spcAft>
                        <a:buNone/>
                      </a:pPr>
                      <a:r>
                        <a:rPr lang="en-US"/>
                        <a:t>Variants</a:t>
                      </a:r>
                      <a:endParaRPr/>
                    </a:p>
                  </a:txBody>
                  <a:tcPr marT="91425" marB="91425" marR="91425" marL="91425"/>
                </a:tc>
                <a:tc>
                  <a:txBody>
                    <a:bodyPr/>
                    <a:lstStyle/>
                    <a:p>
                      <a:pPr indent="0" lvl="0" marL="0" rtl="0" algn="ctr">
                        <a:spcBef>
                          <a:spcPts val="0"/>
                        </a:spcBef>
                        <a:spcAft>
                          <a:spcPts val="0"/>
                        </a:spcAft>
                        <a:buNone/>
                      </a:pPr>
                      <a:r>
                        <a:rPr lang="en-US"/>
                        <a:t>Avg Len</a:t>
                      </a:r>
                      <a:endParaRPr/>
                    </a:p>
                  </a:txBody>
                  <a:tcPr marT="91425" marB="91425" marR="91425" marL="91425"/>
                </a:tc>
                <a:tc>
                  <a:txBody>
                    <a:bodyPr/>
                    <a:lstStyle/>
                    <a:p>
                      <a:pPr indent="0" lvl="0" marL="0" rtl="0" algn="ctr">
                        <a:spcBef>
                          <a:spcPts val="0"/>
                        </a:spcBef>
                        <a:spcAft>
                          <a:spcPts val="0"/>
                        </a:spcAft>
                        <a:buNone/>
                      </a:pPr>
                      <a:r>
                        <a:rPr lang="en-US"/>
                        <a:t>TLRA</a:t>
                      </a:r>
                      <a:endParaRPr/>
                    </a:p>
                  </a:txBody>
                  <a:tcPr marT="91425" marB="91425" marR="91425" marL="91425"/>
                </a:tc>
              </a:tr>
              <a:tr h="381000">
                <a:tc>
                  <a:txBody>
                    <a:bodyPr/>
                    <a:lstStyle/>
                    <a:p>
                      <a:pPr indent="0" lvl="0" marL="0" rtl="0" algn="ctr">
                        <a:spcBef>
                          <a:spcPts val="0"/>
                        </a:spcBef>
                        <a:spcAft>
                          <a:spcPts val="0"/>
                        </a:spcAft>
                        <a:buNone/>
                      </a:pPr>
                      <a:r>
                        <a:rPr lang="en-US"/>
                        <a:t>D1</a:t>
                      </a:r>
                      <a:endParaRPr/>
                    </a:p>
                  </a:txBody>
                  <a:tcPr marT="91425" marB="91425" marR="91425" marL="91425"/>
                </a:tc>
                <a:tc>
                  <a:txBody>
                    <a:bodyPr/>
                    <a:lstStyle/>
                    <a:p>
                      <a:pPr indent="0" lvl="0" marL="0" rtl="0" algn="ctr">
                        <a:spcBef>
                          <a:spcPts val="0"/>
                        </a:spcBef>
                        <a:spcAft>
                          <a:spcPts val="0"/>
                        </a:spcAft>
                        <a:buNone/>
                      </a:pPr>
                      <a:r>
                        <a:rPr lang="en-US"/>
                        <a:t>Spesis</a:t>
                      </a:r>
                      <a:endParaRPr/>
                    </a:p>
                  </a:txBody>
                  <a:tcPr marT="91425" marB="91425" marR="91425" marL="91425"/>
                </a:tc>
                <a:tc>
                  <a:txBody>
                    <a:bodyPr/>
                    <a:lstStyle/>
                    <a:p>
                      <a:pPr indent="0" lvl="0" marL="0" rtl="0" algn="ctr">
                        <a:spcBef>
                          <a:spcPts val="0"/>
                        </a:spcBef>
                        <a:spcAft>
                          <a:spcPts val="0"/>
                        </a:spcAft>
                        <a:buNone/>
                      </a:pPr>
                      <a:r>
                        <a:rPr lang="en-US"/>
                        <a:t>1,050</a:t>
                      </a:r>
                      <a:endParaRPr/>
                    </a:p>
                  </a:txBody>
                  <a:tcPr marT="91425" marB="91425" marR="91425" marL="91425"/>
                </a:tc>
                <a:tc>
                  <a:txBody>
                    <a:bodyPr/>
                    <a:lstStyle/>
                    <a:p>
                      <a:pPr indent="0" lvl="0" marL="0" rtl="0" algn="ctr">
                        <a:spcBef>
                          <a:spcPts val="0"/>
                        </a:spcBef>
                        <a:spcAft>
                          <a:spcPts val="0"/>
                        </a:spcAft>
                        <a:buNone/>
                      </a:pPr>
                      <a:r>
                        <a:rPr lang="en-US"/>
                        <a:t>15,214</a:t>
                      </a:r>
                      <a:endParaRPr/>
                    </a:p>
                  </a:txBody>
                  <a:tcPr marT="91425" marB="91425" marR="91425" marL="91425"/>
                </a:tc>
                <a:tc>
                  <a:txBody>
                    <a:bodyPr/>
                    <a:lstStyle/>
                    <a:p>
                      <a:pPr indent="0" lvl="0" marL="0" rtl="0" algn="ctr">
                        <a:spcBef>
                          <a:spcPts val="0"/>
                        </a:spcBef>
                        <a:spcAft>
                          <a:spcPts val="0"/>
                        </a:spcAft>
                        <a:buNone/>
                      </a:pPr>
                      <a:r>
                        <a:rPr lang="en-US"/>
                        <a:t>846</a:t>
                      </a:r>
                      <a:endParaRPr/>
                    </a:p>
                  </a:txBody>
                  <a:tcPr marT="91425" marB="91425" marR="91425" marL="91425"/>
                </a:tc>
                <a:tc>
                  <a:txBody>
                    <a:bodyPr/>
                    <a:lstStyle/>
                    <a:p>
                      <a:pPr indent="0" lvl="0" marL="0" rtl="0" algn="ctr">
                        <a:spcBef>
                          <a:spcPts val="0"/>
                        </a:spcBef>
                        <a:spcAft>
                          <a:spcPts val="0"/>
                        </a:spcAft>
                        <a:buNone/>
                      </a:pPr>
                      <a:r>
                        <a:rPr lang="en-US"/>
                        <a:t>14.5</a:t>
                      </a:r>
                      <a:endParaRPr/>
                    </a:p>
                  </a:txBody>
                  <a:tcPr marT="91425" marB="91425" marR="91425" marL="91425"/>
                </a:tc>
                <a:tc>
                  <a:txBody>
                    <a:bodyPr/>
                    <a:lstStyle/>
                    <a:p>
                      <a:pPr indent="0" lvl="0" marL="0" rtl="0" algn="ctr">
                        <a:spcBef>
                          <a:spcPts val="0"/>
                        </a:spcBef>
                        <a:spcAft>
                          <a:spcPts val="0"/>
                        </a:spcAft>
                        <a:buNone/>
                      </a:pPr>
                      <a:r>
                        <a:rPr lang="en-US"/>
                        <a:t>0.19</a:t>
                      </a:r>
                      <a:endParaRPr/>
                    </a:p>
                  </a:txBody>
                  <a:tcPr marT="91425" marB="91425" marR="91425" marL="91425"/>
                </a:tc>
              </a:tr>
              <a:tr h="381000">
                <a:tc>
                  <a:txBody>
                    <a:bodyPr/>
                    <a:lstStyle/>
                    <a:p>
                      <a:pPr indent="0" lvl="0" marL="0" rtl="0" algn="ctr">
                        <a:spcBef>
                          <a:spcPts val="0"/>
                        </a:spcBef>
                        <a:spcAft>
                          <a:spcPts val="0"/>
                        </a:spcAft>
                        <a:buNone/>
                      </a:pPr>
                      <a:r>
                        <a:rPr lang="en-US"/>
                        <a:t>D2</a:t>
                      </a:r>
                      <a:endParaRPr/>
                    </a:p>
                  </a:txBody>
                  <a:tcPr marT="91425" marB="91425" marR="91425" marL="91425"/>
                </a:tc>
                <a:tc>
                  <a:txBody>
                    <a:bodyPr/>
                    <a:lstStyle/>
                    <a:p>
                      <a:pPr indent="0" lvl="0" marL="0" rtl="0" algn="ctr">
                        <a:spcBef>
                          <a:spcPts val="0"/>
                        </a:spcBef>
                        <a:spcAft>
                          <a:spcPts val="0"/>
                        </a:spcAft>
                        <a:buNone/>
                      </a:pPr>
                      <a:r>
                        <a:rPr lang="en-US"/>
                        <a:t>BPI 2013 I</a:t>
                      </a:r>
                      <a:r>
                        <a:rPr lang="en-US"/>
                        <a:t>ncident</a:t>
                      </a:r>
                      <a:endParaRPr/>
                    </a:p>
                  </a:txBody>
                  <a:tcPr marT="91425" marB="91425" marR="91425" marL="91425"/>
                </a:tc>
                <a:tc>
                  <a:txBody>
                    <a:bodyPr/>
                    <a:lstStyle/>
                    <a:p>
                      <a:pPr indent="0" lvl="0" marL="0" rtl="0" algn="ctr">
                        <a:spcBef>
                          <a:spcPts val="0"/>
                        </a:spcBef>
                        <a:spcAft>
                          <a:spcPts val="0"/>
                        </a:spcAft>
                        <a:buNone/>
                      </a:pPr>
                      <a:r>
                        <a:rPr lang="en-US"/>
                        <a:t>7,554</a:t>
                      </a:r>
                      <a:endParaRPr/>
                    </a:p>
                  </a:txBody>
                  <a:tcPr marT="91425" marB="91425" marR="91425" marL="91425"/>
                </a:tc>
                <a:tc>
                  <a:txBody>
                    <a:bodyPr/>
                    <a:lstStyle/>
                    <a:p>
                      <a:pPr indent="0" lvl="0" marL="0" rtl="0" algn="ctr">
                        <a:spcBef>
                          <a:spcPts val="0"/>
                        </a:spcBef>
                        <a:spcAft>
                          <a:spcPts val="0"/>
                        </a:spcAft>
                        <a:buNone/>
                      </a:pPr>
                      <a:r>
                        <a:rPr lang="en-US"/>
                        <a:t>65,533</a:t>
                      </a:r>
                      <a:endParaRPr/>
                    </a:p>
                  </a:txBody>
                  <a:tcPr marT="91425" marB="91425" marR="91425" marL="91425"/>
                </a:tc>
                <a:tc>
                  <a:txBody>
                    <a:bodyPr/>
                    <a:lstStyle/>
                    <a:p>
                      <a:pPr indent="0" lvl="0" marL="0" rtl="0" algn="ctr">
                        <a:spcBef>
                          <a:spcPts val="0"/>
                        </a:spcBef>
                        <a:spcAft>
                          <a:spcPts val="0"/>
                        </a:spcAft>
                        <a:buNone/>
                      </a:pPr>
                      <a:r>
                        <a:rPr lang="en-US"/>
                        <a:t>1,511</a:t>
                      </a:r>
                      <a:endParaRPr/>
                    </a:p>
                  </a:txBody>
                  <a:tcPr marT="91425" marB="91425" marR="91425" marL="91425"/>
                </a:tc>
                <a:tc>
                  <a:txBody>
                    <a:bodyPr/>
                    <a:lstStyle/>
                    <a:p>
                      <a:pPr indent="0" lvl="0" marL="0" rtl="0" algn="ctr">
                        <a:spcBef>
                          <a:spcPts val="0"/>
                        </a:spcBef>
                        <a:spcAft>
                          <a:spcPts val="0"/>
                        </a:spcAft>
                        <a:buNone/>
                      </a:pPr>
                      <a:r>
                        <a:rPr lang="en-US"/>
                        <a:t>8.7</a:t>
                      </a:r>
                      <a:endParaRPr/>
                    </a:p>
                  </a:txBody>
                  <a:tcPr marT="91425" marB="91425" marR="91425" marL="91425"/>
                </a:tc>
                <a:tc>
                  <a:txBody>
                    <a:bodyPr/>
                    <a:lstStyle/>
                    <a:p>
                      <a:pPr indent="0" lvl="0" marL="0" rtl="0" algn="ctr">
                        <a:spcBef>
                          <a:spcPts val="0"/>
                        </a:spcBef>
                        <a:spcAft>
                          <a:spcPts val="0"/>
                        </a:spcAft>
                        <a:buNone/>
                      </a:pPr>
                      <a:r>
                        <a:rPr lang="en-US"/>
                        <a:t>0.80</a:t>
                      </a:r>
                      <a:endParaRPr/>
                    </a:p>
                  </a:txBody>
                  <a:tcPr marT="91425" marB="91425" marR="91425" marL="91425"/>
                </a:tc>
              </a:tr>
              <a:tr h="381000">
                <a:tc>
                  <a:txBody>
                    <a:bodyPr/>
                    <a:lstStyle/>
                    <a:p>
                      <a:pPr indent="0" lvl="0" marL="0" rtl="0" algn="ctr">
                        <a:spcBef>
                          <a:spcPts val="0"/>
                        </a:spcBef>
                        <a:spcAft>
                          <a:spcPts val="0"/>
                        </a:spcAft>
                        <a:buNone/>
                      </a:pPr>
                      <a:r>
                        <a:rPr lang="en-US"/>
                        <a:t>D3</a:t>
                      </a:r>
                      <a:endParaRPr/>
                    </a:p>
                  </a:txBody>
                  <a:tcPr marT="91425" marB="91425" marR="91425" marL="91425"/>
                </a:tc>
                <a:tc>
                  <a:txBody>
                    <a:bodyPr/>
                    <a:lstStyle/>
                    <a:p>
                      <a:pPr indent="0" lvl="0" marL="0" rtl="0" algn="ctr">
                        <a:spcBef>
                          <a:spcPts val="0"/>
                        </a:spcBef>
                        <a:spcAft>
                          <a:spcPts val="0"/>
                        </a:spcAft>
                        <a:buNone/>
                      </a:pPr>
                      <a:r>
                        <a:rPr lang="en-US"/>
                        <a:t>BPI 2017</a:t>
                      </a:r>
                      <a:endParaRPr/>
                    </a:p>
                  </a:txBody>
                  <a:tcPr marT="91425" marB="91425" marR="91425" marL="91425"/>
                </a:tc>
                <a:tc>
                  <a:txBody>
                    <a:bodyPr/>
                    <a:lstStyle/>
                    <a:p>
                      <a:pPr indent="0" lvl="0" marL="0" rtl="0" algn="ctr">
                        <a:spcBef>
                          <a:spcPts val="0"/>
                        </a:spcBef>
                        <a:spcAft>
                          <a:spcPts val="0"/>
                        </a:spcAft>
                        <a:buNone/>
                      </a:pPr>
                      <a:r>
                        <a:rPr lang="en-US"/>
                        <a:t>31,509</a:t>
                      </a:r>
                      <a:endParaRPr/>
                    </a:p>
                  </a:txBody>
                  <a:tcPr marT="91425" marB="91425" marR="91425" marL="91425"/>
                </a:tc>
                <a:tc>
                  <a:txBody>
                    <a:bodyPr/>
                    <a:lstStyle/>
                    <a:p>
                      <a:pPr indent="0" lvl="0" marL="0" rtl="0" algn="ctr">
                        <a:spcBef>
                          <a:spcPts val="0"/>
                        </a:spcBef>
                        <a:spcAft>
                          <a:spcPts val="0"/>
                        </a:spcAft>
                        <a:buNone/>
                      </a:pPr>
                      <a:r>
                        <a:rPr lang="en-US"/>
                        <a:t>1,202,267</a:t>
                      </a:r>
                      <a:endParaRPr/>
                    </a:p>
                  </a:txBody>
                  <a:tcPr marT="91425" marB="91425" marR="91425" marL="91425"/>
                </a:tc>
                <a:tc>
                  <a:txBody>
                    <a:bodyPr/>
                    <a:lstStyle/>
                    <a:p>
                      <a:pPr indent="0" lvl="0" marL="0" rtl="0" algn="ctr">
                        <a:spcBef>
                          <a:spcPts val="0"/>
                        </a:spcBef>
                        <a:spcAft>
                          <a:spcPts val="0"/>
                        </a:spcAft>
                        <a:buNone/>
                      </a:pPr>
                      <a:r>
                        <a:rPr lang="en-US"/>
                        <a:t>15,930</a:t>
                      </a:r>
                      <a:endParaRPr/>
                    </a:p>
                  </a:txBody>
                  <a:tcPr marT="91425" marB="91425" marR="91425" marL="91425"/>
                </a:tc>
                <a:tc>
                  <a:txBody>
                    <a:bodyPr/>
                    <a:lstStyle/>
                    <a:p>
                      <a:pPr indent="0" lvl="0" marL="0" rtl="0" algn="ctr">
                        <a:spcBef>
                          <a:spcPts val="0"/>
                        </a:spcBef>
                        <a:spcAft>
                          <a:spcPts val="0"/>
                        </a:spcAft>
                        <a:buNone/>
                      </a:pPr>
                      <a:r>
                        <a:rPr lang="en-US"/>
                        <a:t>38.2</a:t>
                      </a:r>
                      <a:endParaRPr/>
                    </a:p>
                  </a:txBody>
                  <a:tcPr marT="91425" marB="91425" marR="91425" marL="91425"/>
                </a:tc>
                <a:tc>
                  <a:txBody>
                    <a:bodyPr/>
                    <a:lstStyle/>
                    <a:p>
                      <a:pPr indent="0" lvl="0" marL="0" rtl="0" algn="ctr">
                        <a:spcBef>
                          <a:spcPts val="0"/>
                        </a:spcBef>
                        <a:spcAft>
                          <a:spcPts val="0"/>
                        </a:spcAft>
                        <a:buNone/>
                      </a:pPr>
                      <a:r>
                        <a:rPr lang="en-US"/>
                        <a:t>0.49</a:t>
                      </a:r>
                      <a:endParaRPr/>
                    </a:p>
                  </a:txBody>
                  <a:tcPr marT="91425" marB="91425" marR="91425" marL="91425"/>
                </a:tc>
              </a:tr>
              <a:tr h="381000">
                <a:tc>
                  <a:txBody>
                    <a:bodyPr/>
                    <a:lstStyle/>
                    <a:p>
                      <a:pPr indent="0" lvl="0" marL="0" rtl="0" algn="ctr">
                        <a:spcBef>
                          <a:spcPts val="0"/>
                        </a:spcBef>
                        <a:spcAft>
                          <a:spcPts val="0"/>
                        </a:spcAft>
                        <a:buNone/>
                      </a:pPr>
                      <a:r>
                        <a:rPr lang="en-US"/>
                        <a:t>D4</a:t>
                      </a:r>
                      <a:endParaRPr/>
                    </a:p>
                  </a:txBody>
                  <a:tcPr marT="91425" marB="91425" marR="91425" marL="91425"/>
                </a:tc>
                <a:tc>
                  <a:txBody>
                    <a:bodyPr/>
                    <a:lstStyle/>
                    <a:p>
                      <a:pPr indent="0" lvl="0" marL="0" rtl="0" algn="ctr">
                        <a:spcBef>
                          <a:spcPts val="0"/>
                        </a:spcBef>
                        <a:spcAft>
                          <a:spcPts val="0"/>
                        </a:spcAft>
                        <a:buNone/>
                      </a:pPr>
                      <a:r>
                        <a:rPr lang="en-US"/>
                        <a:t>BPI 2018</a:t>
                      </a:r>
                      <a:endParaRPr/>
                    </a:p>
                  </a:txBody>
                  <a:tcPr marT="91425" marB="91425" marR="91425" marL="91425"/>
                </a:tc>
                <a:tc>
                  <a:txBody>
                    <a:bodyPr/>
                    <a:lstStyle/>
                    <a:p>
                      <a:pPr indent="0" lvl="0" marL="0" rtl="0" algn="ctr">
                        <a:spcBef>
                          <a:spcPts val="0"/>
                        </a:spcBef>
                        <a:spcAft>
                          <a:spcPts val="0"/>
                        </a:spcAft>
                        <a:buNone/>
                      </a:pPr>
                      <a:r>
                        <a:rPr lang="en-US"/>
                        <a:t>43,809</a:t>
                      </a:r>
                      <a:endParaRPr/>
                    </a:p>
                  </a:txBody>
                  <a:tcPr marT="91425" marB="91425" marR="91425" marL="91425"/>
                </a:tc>
                <a:tc>
                  <a:txBody>
                    <a:bodyPr/>
                    <a:lstStyle/>
                    <a:p>
                      <a:pPr indent="0" lvl="0" marL="0" rtl="0" algn="ctr">
                        <a:spcBef>
                          <a:spcPts val="0"/>
                        </a:spcBef>
                        <a:spcAft>
                          <a:spcPts val="0"/>
                        </a:spcAft>
                        <a:buNone/>
                      </a:pPr>
                      <a:r>
                        <a:rPr lang="en-US"/>
                        <a:t>2,514,266</a:t>
                      </a:r>
                      <a:endParaRPr/>
                    </a:p>
                  </a:txBody>
                  <a:tcPr marT="91425" marB="91425" marR="91425" marL="91425"/>
                </a:tc>
                <a:tc>
                  <a:txBody>
                    <a:bodyPr/>
                    <a:lstStyle/>
                    <a:p>
                      <a:pPr indent="0" lvl="0" marL="0" rtl="0" algn="ctr">
                        <a:spcBef>
                          <a:spcPts val="0"/>
                        </a:spcBef>
                        <a:spcAft>
                          <a:spcPts val="0"/>
                        </a:spcAft>
                        <a:buNone/>
                      </a:pPr>
                      <a:r>
                        <a:rPr lang="en-US"/>
                        <a:t>28,457</a:t>
                      </a:r>
                      <a:endParaRPr/>
                    </a:p>
                  </a:txBody>
                  <a:tcPr marT="91425" marB="91425" marR="91425" marL="91425"/>
                </a:tc>
                <a:tc>
                  <a:txBody>
                    <a:bodyPr/>
                    <a:lstStyle/>
                    <a:p>
                      <a:pPr indent="0" lvl="0" marL="0" rtl="0" algn="ctr">
                        <a:spcBef>
                          <a:spcPts val="0"/>
                        </a:spcBef>
                        <a:spcAft>
                          <a:spcPts val="0"/>
                        </a:spcAft>
                        <a:buNone/>
                      </a:pPr>
                      <a:r>
                        <a:rPr lang="en-US"/>
                        <a:t>57.4</a:t>
                      </a:r>
                      <a:endParaRPr/>
                    </a:p>
                  </a:txBody>
                  <a:tcPr marT="91425" marB="91425" marR="91425" marL="91425"/>
                </a:tc>
                <a:tc>
                  <a:txBody>
                    <a:bodyPr/>
                    <a:lstStyle/>
                    <a:p>
                      <a:pPr indent="0" lvl="0" marL="0" rtl="0" algn="ctr">
                        <a:spcBef>
                          <a:spcPts val="0"/>
                        </a:spcBef>
                        <a:spcAft>
                          <a:spcPts val="0"/>
                        </a:spcAft>
                        <a:buNone/>
                      </a:pPr>
                      <a:r>
                        <a:rPr lang="en-US"/>
                        <a:t>0.35</a:t>
                      </a:r>
                      <a:endParaRPr/>
                    </a:p>
                  </a:txBody>
                  <a:tcPr marT="91425" marB="91425" marR="91425" marL="91425"/>
                </a:tc>
              </a:tr>
              <a:tr h="381000">
                <a:tc>
                  <a:txBody>
                    <a:bodyPr/>
                    <a:lstStyle/>
                    <a:p>
                      <a:pPr indent="0" lvl="0" marL="0" rtl="0" algn="ctr">
                        <a:spcBef>
                          <a:spcPts val="0"/>
                        </a:spcBef>
                        <a:spcAft>
                          <a:spcPts val="0"/>
                        </a:spcAft>
                        <a:buNone/>
                      </a:pPr>
                      <a:r>
                        <a:rPr lang="en-US"/>
                        <a:t>D5</a:t>
                      </a:r>
                      <a:endParaRPr/>
                    </a:p>
                  </a:txBody>
                  <a:tcPr marT="91425" marB="91425" marR="91425" marL="91425"/>
                </a:tc>
                <a:tc>
                  <a:txBody>
                    <a:bodyPr/>
                    <a:lstStyle/>
                    <a:p>
                      <a:pPr indent="0" lvl="0" marL="0" rtl="0" algn="ctr">
                        <a:spcBef>
                          <a:spcPts val="0"/>
                        </a:spcBef>
                        <a:spcAft>
                          <a:spcPts val="0"/>
                        </a:spcAft>
                        <a:buNone/>
                      </a:pPr>
                      <a:r>
                        <a:rPr lang="en-US"/>
                        <a:t>BPI 2019</a:t>
                      </a:r>
                      <a:endParaRPr/>
                    </a:p>
                  </a:txBody>
                  <a:tcPr marT="91425" marB="91425" marR="91425" marL="91425"/>
                </a:tc>
                <a:tc>
                  <a:txBody>
                    <a:bodyPr/>
                    <a:lstStyle/>
                    <a:p>
                      <a:pPr indent="0" lvl="0" marL="0" rtl="0" algn="ctr">
                        <a:spcBef>
                          <a:spcPts val="0"/>
                        </a:spcBef>
                        <a:spcAft>
                          <a:spcPts val="0"/>
                        </a:spcAft>
                        <a:buNone/>
                      </a:pPr>
                      <a:r>
                        <a:rPr lang="en-US"/>
                        <a:t>251,734</a:t>
                      </a:r>
                      <a:endParaRPr/>
                    </a:p>
                  </a:txBody>
                  <a:tcPr marT="91425" marB="91425" marR="91425" marL="91425"/>
                </a:tc>
                <a:tc>
                  <a:txBody>
                    <a:bodyPr/>
                    <a:lstStyle/>
                    <a:p>
                      <a:pPr indent="0" lvl="0" marL="0" rtl="0" algn="ctr">
                        <a:spcBef>
                          <a:spcPts val="0"/>
                        </a:spcBef>
                        <a:spcAft>
                          <a:spcPts val="0"/>
                        </a:spcAft>
                        <a:buNone/>
                      </a:pPr>
                      <a:r>
                        <a:rPr lang="en-US"/>
                        <a:t>1,595,923</a:t>
                      </a:r>
                      <a:endParaRPr/>
                    </a:p>
                  </a:txBody>
                  <a:tcPr marT="91425" marB="91425" marR="91425" marL="91425"/>
                </a:tc>
                <a:tc>
                  <a:txBody>
                    <a:bodyPr/>
                    <a:lstStyle/>
                    <a:p>
                      <a:pPr indent="0" lvl="0" marL="0" rtl="0" algn="ctr">
                        <a:spcBef>
                          <a:spcPts val="0"/>
                        </a:spcBef>
                        <a:spcAft>
                          <a:spcPts val="0"/>
                        </a:spcAft>
                        <a:buNone/>
                      </a:pPr>
                      <a:r>
                        <a:rPr lang="en-US"/>
                        <a:t>11,973</a:t>
                      </a:r>
                      <a:endParaRPr/>
                    </a:p>
                  </a:txBody>
                  <a:tcPr marT="91425" marB="91425" marR="91425" marL="91425"/>
                </a:tc>
                <a:tc>
                  <a:txBody>
                    <a:bodyPr/>
                    <a:lstStyle/>
                    <a:p>
                      <a:pPr indent="0" lvl="0" marL="0" rtl="0" algn="ctr">
                        <a:spcBef>
                          <a:spcPts val="0"/>
                        </a:spcBef>
                        <a:spcAft>
                          <a:spcPts val="0"/>
                        </a:spcAft>
                        <a:buNone/>
                      </a:pPr>
                      <a:r>
                        <a:rPr lang="en-US"/>
                        <a:t>6.3</a:t>
                      </a:r>
                      <a:endParaRPr/>
                    </a:p>
                  </a:txBody>
                  <a:tcPr marT="91425" marB="91425" marR="91425" marL="91425"/>
                </a:tc>
                <a:tc>
                  <a:txBody>
                    <a:bodyPr/>
                    <a:lstStyle/>
                    <a:p>
                      <a:pPr indent="0" lvl="0" marL="0" rtl="0" algn="ctr">
                        <a:spcBef>
                          <a:spcPts val="0"/>
                        </a:spcBef>
                        <a:spcAft>
                          <a:spcPts val="0"/>
                        </a:spcAft>
                        <a:buNone/>
                      </a:pPr>
                      <a:r>
                        <a:rPr lang="en-US"/>
                        <a:t>0.95</a:t>
                      </a:r>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f51d9b582f_0_12"/>
          <p:cNvSpPr txBox="1"/>
          <p:nvPr>
            <p:ph type="title"/>
          </p:nvPr>
        </p:nvSpPr>
        <p:spPr>
          <a:xfrm>
            <a:off x="2051050" y="207962"/>
            <a:ext cx="3959100" cy="852600"/>
          </a:xfrm>
          <a:prstGeom prst="rect">
            <a:avLst/>
          </a:prstGeom>
        </p:spPr>
        <p:txBody>
          <a:bodyPr anchorCtr="0" anchor="b" bIns="46800" lIns="90000" spcFirstLastPara="1" rIns="90000" wrap="square" tIns="46800">
            <a:noAutofit/>
          </a:bodyPr>
          <a:lstStyle/>
          <a:p>
            <a:pPr indent="0" lvl="0" marL="0" marR="0" rtl="0" algn="l">
              <a:lnSpc>
                <a:spcPct val="100000"/>
              </a:lnSpc>
              <a:spcBef>
                <a:spcPts val="0"/>
              </a:spcBef>
              <a:spcAft>
                <a:spcPts val="0"/>
              </a:spcAft>
              <a:buNone/>
            </a:pPr>
            <a:r>
              <a:rPr lang="en-US">
                <a:solidFill>
                  <a:schemeClr val="dk1"/>
                </a:solidFill>
              </a:rPr>
              <a:t>Backup: Metric Introduction</a:t>
            </a:r>
            <a:endParaRPr>
              <a:solidFill>
                <a:schemeClr val="dk1"/>
              </a:solidFill>
            </a:endParaRPr>
          </a:p>
        </p:txBody>
      </p:sp>
      <p:sp>
        <p:nvSpPr>
          <p:cNvPr id="294" name="Google Shape;294;g3f51d9b582f_0_12"/>
          <p:cNvSpPr txBox="1"/>
          <p:nvPr>
            <p:ph idx="1" type="body"/>
          </p:nvPr>
        </p:nvSpPr>
        <p:spPr>
          <a:xfrm>
            <a:off x="457200" y="1600200"/>
            <a:ext cx="8228100" cy="4524300"/>
          </a:xfrm>
          <a:prstGeom prst="rect">
            <a:avLst/>
          </a:prstGeom>
        </p:spPr>
        <p:txBody>
          <a:bodyPr anchorCtr="0" anchor="t" bIns="46800" lIns="90000" spcFirstLastPara="1" rIns="90000" wrap="square" tIns="46800">
            <a:noAutofit/>
          </a:bodyPr>
          <a:lstStyle/>
          <a:p>
            <a:pPr indent="-304800" lvl="0" marL="457200" rtl="0" algn="l">
              <a:spcBef>
                <a:spcPts val="500"/>
              </a:spcBef>
              <a:spcAft>
                <a:spcPts val="0"/>
              </a:spcAft>
              <a:buClr>
                <a:schemeClr val="dk1"/>
              </a:buClr>
              <a:buSzPts val="1200"/>
              <a:buChar char="●"/>
            </a:pPr>
            <a:r>
              <a:rPr lang="en-US" sz="1200">
                <a:solidFill>
                  <a:schemeClr val="dk1"/>
                </a:solidFill>
              </a:rPr>
              <a:t>M2 (PM4Py Built-in) — token-based replay each log trace on the discovered Petri net and </a:t>
            </a:r>
            <a:r>
              <a:rPr b="1" lang="en-US" sz="1200">
                <a:solidFill>
                  <a:schemeClr val="dk1"/>
                </a:solidFill>
              </a:rPr>
              <a:t>counts how many model elements (transitions/places) are rarely or never visited</a:t>
            </a:r>
            <a:r>
              <a:rPr lang="en-US" sz="1200">
                <a:solidFill>
                  <a:schemeClr val="dk1"/>
                </a:solidFill>
              </a:rPr>
              <a:t>, deriving a generalization score from the fraction of under-exercised elements in the reachability graph.</a:t>
            </a:r>
            <a:endParaRPr sz="1200">
              <a:solidFill>
                <a:schemeClr val="dk1"/>
              </a:solidFill>
            </a:endParaRPr>
          </a:p>
          <a:p>
            <a:pPr indent="0" lvl="0" marL="0" rtl="0" algn="l">
              <a:spcBef>
                <a:spcPts val="500"/>
              </a:spcBef>
              <a:spcAft>
                <a:spcPts val="0"/>
              </a:spcAft>
              <a:buNone/>
            </a:pPr>
            <a:r>
              <a:t/>
            </a:r>
            <a:endParaRPr sz="1200">
              <a:solidFill>
                <a:schemeClr val="dk1"/>
              </a:solidFill>
            </a:endParaRPr>
          </a:p>
          <a:p>
            <a:pPr indent="-304800" lvl="0" marL="457200" rtl="0" algn="l">
              <a:spcBef>
                <a:spcPts val="500"/>
              </a:spcBef>
              <a:spcAft>
                <a:spcPts val="0"/>
              </a:spcAft>
              <a:buClr>
                <a:schemeClr val="dk1"/>
              </a:buClr>
              <a:buSzPts val="1200"/>
              <a:buChar char="●"/>
            </a:pPr>
            <a:r>
              <a:rPr lang="en-US" sz="1200">
                <a:solidFill>
                  <a:schemeClr val="dk1"/>
                </a:solidFill>
              </a:rPr>
              <a:t>M3 (Entropic Relevance) — Evaluates the stochastic quality of the discovered model using the Minimum Description Length (MDL) principle, measuring the </a:t>
            </a:r>
            <a:r>
              <a:rPr b="1" lang="en-US" sz="1200">
                <a:solidFill>
                  <a:schemeClr val="dk1"/>
                </a:solidFill>
              </a:rPr>
              <a:t>average bits required to compress the original event log</a:t>
            </a:r>
            <a:r>
              <a:rPr lang="en-US" sz="1200">
                <a:solidFill>
                  <a:schemeClr val="dk1"/>
                </a:solidFill>
              </a:rPr>
              <a:t> using a probabilistic automaton derived from the mined Petri net.</a:t>
            </a:r>
            <a:endParaRPr sz="1200">
              <a:solidFill>
                <a:schemeClr val="dk1"/>
              </a:solidFill>
            </a:endParaRPr>
          </a:p>
          <a:p>
            <a:pPr indent="0" lvl="0" marL="0" rtl="0" algn="l">
              <a:spcBef>
                <a:spcPts val="500"/>
              </a:spcBef>
              <a:spcAft>
                <a:spcPts val="0"/>
              </a:spcAft>
              <a:buNone/>
            </a:pPr>
            <a:r>
              <a:t/>
            </a:r>
            <a:endParaRPr sz="1200">
              <a:solidFill>
                <a:schemeClr val="dk1"/>
              </a:solidFill>
            </a:endParaRPr>
          </a:p>
          <a:p>
            <a:pPr indent="-304800" lvl="0" marL="457200" rtl="0" algn="l">
              <a:spcBef>
                <a:spcPts val="500"/>
              </a:spcBef>
              <a:spcAft>
                <a:spcPts val="0"/>
              </a:spcAft>
              <a:buClr>
                <a:schemeClr val="dk1"/>
              </a:buClr>
              <a:buSzPts val="1200"/>
              <a:buChar char="●"/>
            </a:pPr>
            <a:r>
              <a:rPr lang="en-US" sz="1200">
                <a:solidFill>
                  <a:schemeClr val="dk1"/>
                </a:solidFill>
              </a:rPr>
              <a:t>M4 (Anti-Alignment Generalization) — Quantifies generalization by measuring the </a:t>
            </a:r>
            <a:r>
              <a:rPr b="1" lang="en-US" sz="1200">
                <a:solidFill>
                  <a:schemeClr val="dk1"/>
                </a:solidFill>
              </a:rPr>
              <a:t>shortest sequence</a:t>
            </a:r>
            <a:endParaRPr b="1" sz="1200">
              <a:solidFill>
                <a:schemeClr val="dk1"/>
              </a:solidFill>
            </a:endParaRPr>
          </a:p>
          <a:p>
            <a:pPr indent="-304800" lvl="0" marL="457200" rtl="0" algn="l">
              <a:spcBef>
                <a:spcPts val="0"/>
              </a:spcBef>
              <a:spcAft>
                <a:spcPts val="0"/>
              </a:spcAft>
              <a:buClr>
                <a:schemeClr val="dk1"/>
              </a:buClr>
              <a:buSzPts val="1200"/>
              <a:buChar char="●"/>
            </a:pPr>
            <a:r>
              <a:rPr b="1" lang="en-US" sz="1200">
                <a:solidFill>
                  <a:schemeClr val="dk1"/>
                </a:solidFill>
              </a:rPr>
              <a:t>of activities that the model can accept but the log cannot reproduce</a:t>
            </a:r>
            <a:r>
              <a:rPr lang="en-US" sz="1200">
                <a:solidFill>
                  <a:schemeClr val="dk1"/>
                </a:solidFill>
              </a:rPr>
              <a:t>, though its adversarial state-space search is computationally intractable on real-world datasets.</a:t>
            </a:r>
            <a:endParaRPr sz="1200">
              <a:solidFill>
                <a:schemeClr val="dk1"/>
              </a:solidFill>
            </a:endParaRPr>
          </a:p>
          <a:p>
            <a:pPr indent="0" lvl="0" marL="0" rtl="0" algn="l">
              <a:spcBef>
                <a:spcPts val="500"/>
              </a:spcBef>
              <a:spcAft>
                <a:spcPts val="0"/>
              </a:spcAft>
              <a:buNone/>
            </a:pPr>
            <a:r>
              <a:t/>
            </a:r>
            <a:endParaRPr sz="1200">
              <a:solidFill>
                <a:schemeClr val="dk1"/>
              </a:solidFill>
            </a:endParaRPr>
          </a:p>
          <a:p>
            <a:pPr indent="-304800" lvl="0" marL="457200" rtl="0" algn="l">
              <a:spcBef>
                <a:spcPts val="500"/>
              </a:spcBef>
              <a:spcAft>
                <a:spcPts val="0"/>
              </a:spcAft>
              <a:buClr>
                <a:schemeClr val="dk1"/>
              </a:buClr>
              <a:buSzPts val="1200"/>
              <a:buChar char="●"/>
            </a:pPr>
            <a:r>
              <a:rPr lang="en-US" sz="1200">
                <a:solidFill>
                  <a:schemeClr val="dk1"/>
                </a:solidFill>
              </a:rPr>
              <a:t>M5 (AVATAR) — Quantifies generalization as the model's acceptance rate of novel, synthetic process behaviors </a:t>
            </a:r>
            <a:r>
              <a:rPr b="1" lang="en-US" sz="1200">
                <a:solidFill>
                  <a:schemeClr val="dk1"/>
                </a:solidFill>
              </a:rPr>
              <a:t>generated by GAN</a:t>
            </a:r>
            <a:r>
              <a:rPr lang="en-US" sz="1200">
                <a:solidFill>
                  <a:schemeClr val="dk1"/>
                </a:solidFill>
              </a:rPr>
              <a:t> trained on a subset of the empirical log.</a:t>
            </a:r>
            <a:endParaRPr sz="12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f51d9b582f_0_6"/>
          <p:cNvSpPr txBox="1"/>
          <p:nvPr>
            <p:ph type="title"/>
          </p:nvPr>
        </p:nvSpPr>
        <p:spPr>
          <a:xfrm>
            <a:off x="2051050" y="207962"/>
            <a:ext cx="3959100" cy="852600"/>
          </a:xfrm>
          <a:prstGeom prst="rect">
            <a:avLst/>
          </a:prstGeom>
        </p:spPr>
        <p:txBody>
          <a:bodyPr anchorCtr="0" anchor="b" bIns="46800" lIns="90000" spcFirstLastPara="1" rIns="90000" wrap="square" tIns="46800">
            <a:noAutofit/>
          </a:bodyPr>
          <a:lstStyle/>
          <a:p>
            <a:pPr indent="0" lvl="0" marL="0" marR="0" rtl="0" algn="l">
              <a:lnSpc>
                <a:spcPct val="100000"/>
              </a:lnSpc>
              <a:spcBef>
                <a:spcPts val="0"/>
              </a:spcBef>
              <a:spcAft>
                <a:spcPts val="0"/>
              </a:spcAft>
              <a:buNone/>
            </a:pPr>
            <a:r>
              <a:rPr lang="en-US">
                <a:solidFill>
                  <a:schemeClr val="dk1"/>
                </a:solidFill>
              </a:rPr>
              <a:t>Backup: Metric Introduction</a:t>
            </a:r>
            <a:endParaRPr>
              <a:solidFill>
                <a:schemeClr val="dk1"/>
              </a:solidFill>
            </a:endParaRPr>
          </a:p>
        </p:txBody>
      </p:sp>
      <p:sp>
        <p:nvSpPr>
          <p:cNvPr id="301" name="Google Shape;301;g3f51d9b582f_0_6"/>
          <p:cNvSpPr txBox="1"/>
          <p:nvPr>
            <p:ph idx="1" type="body"/>
          </p:nvPr>
        </p:nvSpPr>
        <p:spPr>
          <a:xfrm>
            <a:off x="457200" y="1600200"/>
            <a:ext cx="8228100" cy="4524300"/>
          </a:xfrm>
          <a:prstGeom prst="rect">
            <a:avLst/>
          </a:prstGeom>
        </p:spPr>
        <p:txBody>
          <a:bodyPr anchorCtr="0" anchor="t" bIns="46800" lIns="90000" spcFirstLastPara="1" rIns="90000" wrap="square" tIns="46800">
            <a:noAutofit/>
          </a:bodyPr>
          <a:lstStyle/>
          <a:p>
            <a:pPr indent="-304800" lvl="0" marL="457200" rtl="0" algn="l">
              <a:spcBef>
                <a:spcPts val="500"/>
              </a:spcBef>
              <a:spcAft>
                <a:spcPts val="0"/>
              </a:spcAft>
              <a:buClr>
                <a:schemeClr val="dk1"/>
              </a:buClr>
              <a:buSzPts val="1200"/>
              <a:buChar char="●"/>
            </a:pPr>
            <a:r>
              <a:rPr lang="en-US" sz="1200">
                <a:solidFill>
                  <a:schemeClr val="dk1"/>
                </a:solidFill>
              </a:rPr>
              <a:t>M6 (Bootstrap Generalization) — Evaluates generalization based on the model's fitness against synthetic out-of-sample traces, which are bred through the recursive structural recombination of homologous k-gram segments from the historical log.</a:t>
            </a:r>
            <a:endParaRPr sz="1200">
              <a:solidFill>
                <a:schemeClr val="dk1"/>
              </a:solidFill>
            </a:endParaRPr>
          </a:p>
          <a:p>
            <a:pPr indent="0" lvl="0" marL="0" rtl="0" algn="l">
              <a:spcBef>
                <a:spcPts val="500"/>
              </a:spcBef>
              <a:spcAft>
                <a:spcPts val="0"/>
              </a:spcAft>
              <a:buNone/>
            </a:pPr>
            <a:r>
              <a:t/>
            </a:r>
            <a:endParaRPr sz="1200">
              <a:solidFill>
                <a:schemeClr val="dk1"/>
              </a:solidFill>
            </a:endParaRPr>
          </a:p>
          <a:p>
            <a:pPr indent="-304800" lvl="0" marL="457200" rtl="0" algn="l">
              <a:spcBef>
                <a:spcPts val="500"/>
              </a:spcBef>
              <a:spcAft>
                <a:spcPts val="0"/>
              </a:spcAft>
              <a:buClr>
                <a:schemeClr val="dk1"/>
              </a:buClr>
              <a:buSzPts val="1200"/>
              <a:buChar char="●"/>
            </a:pPr>
            <a:r>
              <a:rPr lang="en-US" sz="1200">
                <a:solidFill>
                  <a:schemeClr val="dk1"/>
                </a:solidFill>
              </a:rPr>
              <a:t>M7 (SpeciAL4PM) — Adapts ecological unseen-species estimators to quantify generalization, comparing the incidence rate of strictly rare behavioral patterns (singleton traces and k-grams) generated by the model against the empirical baseline.</a:t>
            </a:r>
            <a:endParaRPr sz="1200">
              <a:solidFill>
                <a:schemeClr val="dk1"/>
              </a:solidFill>
            </a:endParaRPr>
          </a:p>
          <a:p>
            <a:pPr indent="0" lvl="0" marL="0" rtl="0" algn="l">
              <a:spcBef>
                <a:spcPts val="500"/>
              </a:spcBef>
              <a:spcAft>
                <a:spcPts val="0"/>
              </a:spcAft>
              <a:buNone/>
            </a:pPr>
            <a:r>
              <a:t/>
            </a:r>
            <a:endParaRPr sz="1200">
              <a:solidFill>
                <a:schemeClr val="dk1"/>
              </a:solidFill>
            </a:endParaRPr>
          </a:p>
          <a:p>
            <a:pPr indent="-304800" lvl="0" marL="457200" rtl="0" algn="l">
              <a:spcBef>
                <a:spcPts val="500"/>
              </a:spcBef>
              <a:spcAft>
                <a:spcPts val="0"/>
              </a:spcAft>
              <a:buClr>
                <a:schemeClr val="dk1"/>
              </a:buClr>
              <a:buSzPts val="1200"/>
              <a:buChar char="●"/>
            </a:pPr>
            <a:r>
              <a:rPr lang="en-US" sz="1200">
                <a:solidFill>
                  <a:schemeClr val="dk1"/>
                </a:solidFill>
              </a:rPr>
              <a:t>M8 (Pattern-based Generalization) — Assesses generalization by measuring the proportion of abstract behavioral patterns successfully realized within the model's valid alignments, though its underlying state-space resolution is computationally intractable on real-world datasets.</a:t>
            </a:r>
            <a:endParaRPr sz="1200">
              <a:solidFill>
                <a:schemeClr val="dk1"/>
              </a:solidFill>
            </a:endParaRPr>
          </a:p>
          <a:p>
            <a:pPr indent="0" lvl="0" marL="0" rtl="0" algn="l">
              <a:spcBef>
                <a:spcPts val="500"/>
              </a:spcBef>
              <a:spcAft>
                <a:spcPts val="0"/>
              </a:spcAft>
              <a:buNone/>
            </a:pPr>
            <a:r>
              <a:t/>
            </a:r>
            <a:endParaRPr sz="1200">
              <a:solidFill>
                <a:schemeClr val="dk1"/>
              </a:solidFill>
            </a:endParaRPr>
          </a:p>
          <a:p>
            <a:pPr indent="-304800" lvl="0" marL="457200" rtl="0" algn="l">
              <a:spcBef>
                <a:spcPts val="500"/>
              </a:spcBef>
              <a:spcAft>
                <a:spcPts val="0"/>
              </a:spcAft>
              <a:buClr>
                <a:schemeClr val="dk1"/>
              </a:buClr>
              <a:buSzPts val="1200"/>
              <a:buChar char="●"/>
            </a:pPr>
            <a:r>
              <a:rPr lang="en-US" sz="1200">
                <a:solidFill>
                  <a:schemeClr val="dk1"/>
                </a:solidFill>
              </a:rPr>
              <a:t>M9 (Negative-Event Generalization) — Estimates generalization via the ratio of permitted versus rejected artificially induced negative events, though empirical validation reveals severe construct drift that structurally conflates the metric with precision rather than true unseen fitness.</a:t>
            </a:r>
            <a:endParaRPr sz="12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a:themeElements>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